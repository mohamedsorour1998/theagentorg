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SECURITY GATES FOR</a:t>
            </a:r>
          </a:p>
          <a:p>
            <a:pPr algn="l">
              <a:lnSpc>
                <a:spcPct val="104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AGENT-WRITTEN 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91840"/>
            <a:ext cx="23774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>
                <a:solidFill>
                  <a:srgbClr val="8B97AB"/>
                </a:solidFill>
                <a:latin typeface="Helvetica Neue"/>
              </a:rPr>
              <a:t>Five agents take a ticket to a pull request. Three human gates and one deterministic rule decide whether it ships.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12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Menlo"/>
              </a:rPr>
              <a:t>THE AGENT ORG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6235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8B97AB"/>
                </a:solidFill>
                <a:latin typeface="Helvetica Neue"/>
              </a:rPr>
              <a:t>Mohamed Sorour · Mariam · Habiba · Reem · 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An agent can write the code. Who checks 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Coding agents now open pull requests without a person in the loop. The reviewer of that change is increasingly another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27248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A model can be persuaded, distracted or prompt-injected. It is the wrong thing to place between a committed credential and a default branch.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101498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CF3"/>
                </a:solidFill>
                <a:latin typeface="Helvetica Neue"/>
              </a:rPr>
              <a:t>Measured on this project's own baseline: with no checks in the loop, a poisoned change reached the branch every time it was tried.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949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22D3EE"/>
                </a:solidFill>
                <a:latin typeface="Helvetica Neue"/>
              </a:rPr>
              <a:t>The question is not whether an agent can write the change. It is what stands between that change and production.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Nine stages. Three of them are people.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233629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228600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236372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228600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259689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0632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filled dot is an agent stage. A ring is a gate — the pipeline stops there until a named reviewer approves it in GitHub.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5840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Five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planner, developer, reviewer, security, SRE — each an isolated runtime, one image, five roles.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8368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51248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Three human 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51248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GitHub Environments with required reviewers. A gate pauses a JOB, which is why the pipeline is cut into seven.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30896" y="3886200"/>
            <a:ext cx="3224784" cy="182880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13776" y="403250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One rule that is not a 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13776" y="4562856"/>
            <a:ext cx="285902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a fixed severity threshold. Same input, same answer, every time.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0" fill="hold">
                      <p:stCondLst>
                        <p:cond delay="indefinite"/>
                      </p:stCondLst>
                      <p:childTnLst>
                        <p:par>
                          <p:cTn id="211" fill="hold">
                            <p:stCondLst>
                              <p:cond delay="0"/>
                            </p:stCondLst>
                            <p:childTnLst>
                              <p:par>
                                <p:cTn id="2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0" fill="hold">
                      <p:stCondLst>
                        <p:cond delay="indefinite"/>
                      </p:stCondLst>
                      <p:childTnLst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3" dur="1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0" fill="hold">
                      <p:stCondLst>
                        <p:cond delay="indefinite"/>
                      </p:stCondLst>
                      <p:childTnLst>
                        <p:par>
                          <p:cTn id="231" fill="hold">
                            <p:stCondLst>
                              <p:cond delay="0"/>
                            </p:stCondLst>
                            <p:childTnLst>
                              <p:par>
                                <p:cTn id="2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0" fill="hold">
                      <p:stCondLst>
                        <p:cond delay="indefinite"/>
                      </p:stCondLst>
                      <p:childTnLst>
                        <p:par>
                          <p:cTn id="241" fill="hold">
                            <p:stCondLst>
                              <p:cond delay="0"/>
                            </p:stCondLst>
                            <p:childTnLst>
                              <p:par>
                                <p:cTn id="2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0" fill="hold">
                      <p:stCondLst>
                        <p:cond delay="indefinite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0" fill="hold">
                      <p:stCondLst>
                        <p:cond delay="indefinite"/>
                      </p:stCondLst>
                      <p:childTnLst>
                        <p:par>
                          <p:cTn id="261" fill="hold">
                            <p:stCondLst>
                              <p:cond delay="0"/>
                            </p:stCondLst>
                            <p:childTnLst>
                              <p:par>
                                <p:cTn id="2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3" dur="1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0" fill="hold">
                      <p:stCondLst>
                        <p:cond delay="indefinite"/>
                      </p:stCondLst>
                      <p:childTnLst>
                        <p:par>
                          <p:cTn id="271" fill="hold">
                            <p:stCondLst>
                              <p:cond delay="0"/>
                            </p:stCondLst>
                            <p:childTnLst>
                              <p:par>
                                <p:cTn id="2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Non-deterministic models. A deterministic gate.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Every agent here is a language model, and every one of them can be wrong. The component that stops a change is not one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69748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REVIEWER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697480"/>
            <a:ext cx="4023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THE SECURITY STAGE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30266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1546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 model reading the diff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1546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three scanners and a fixed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catches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6118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intent, logic, plan mismatch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6118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credentials, CVEs, injectable 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069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authority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0690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ADVISORY — it loops, it cannot stop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0690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BINDING — it ends the 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26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same input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45262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may differ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5262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identical, always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983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can be argued with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9834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yes, it is a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983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no model is involved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5321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The block is a dependency edge, not a status check: the develop stage exits 3 and the next gate declares that it needs it. There is no condition to misconfigure and no required check to forget.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4650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TRIGGER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GitHub issue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8606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8606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Lambda · HMAC-SHA256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99732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9732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EventBridge bus + rule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50858" y="1627632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50858" y="1737360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DLQ (SQS)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688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ORCHESTRATION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GitHub Actions · 7 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65648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65648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3 Environments = the gates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3816" y="2350008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3816" y="2459736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OIDC → IAM · no static keys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1912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AGENTS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Bedrock AgentCore · 5 runtimes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65648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5648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Amazon Nova 2 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33816" y="3072384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3816" y="3182112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ECR · one arm64 image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1363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THE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97480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gitleaks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8606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8606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Trivy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99732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9732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Semgrep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50858" y="3794760"/>
            <a:ext cx="2004822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50858" y="3904488"/>
            <a:ext cx="200482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FB7185"/>
                </a:solidFill>
                <a:latin typeface="Menlo"/>
              </a:rPr>
              <a:t>fixed threshold — no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63600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STATE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7480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DynamoDB · runs + tenancy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65648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65648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Secrets Manager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33816" y="4517136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3816" y="4626864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CloudWatch Logs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35838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B97AB"/>
                </a:solidFill>
                <a:latin typeface="Menlo"/>
              </a:rPr>
              <a:t>THE PRODUCT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7480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97480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Cognito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65648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65648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Amplify SSR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33816" y="5239512"/>
            <a:ext cx="2721864" cy="475488"/>
          </a:xfrm>
          <a:prstGeom prst="rect">
            <a:avLst/>
          </a:prstGeom>
          <a:solidFill>
            <a:srgbClr val="131A25"/>
          </a:solidFill>
          <a:ln w="127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33816" y="5349240"/>
            <a:ext cx="27218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Next.js 16 · React 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605332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Fourteen AWS services, read off the Terraform and the call sites. Every AWS step assumes a role through OIDC — no static keys.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it costs, and what it buys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$0.013–0.017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model cost per change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three measured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5.39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median ticket to merge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8 merges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01168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0 of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9806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merged changes carrying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 credential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Infrastructure is 99.9% of nothing beside the model: Lambda, EventBridge and DynamoDB together came to twelve millionths of a dollar per change. Any cost work that is not prompt caching is noise.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0060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The value is not the cents. It is that a credential cannot reach the default branch by being approved quickly — refusing that is the one thing the pipeline does without a model in the path.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Stated honestly: 8 merges of 37 runs, so the median is over the ones that finished. And the zero has a positive control — the same scan finds 3 in unmerged PR #50, so it is a measurement and not a broken grep.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2800" b="1">
                <a:solidFill>
                  <a:srgbClr val="E8ECF3"/>
                </a:solidFill>
                <a:latin typeface="Helvetica Neue"/>
              </a:rPr>
              <a:t>Every vendor's AI review is advisory. They say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5740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57400"/>
            <a:ext cx="7132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FROM THEIR OWN DOCUMENTATION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3865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GitHub Copilot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514600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“will not block merging changes”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53512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Anthropic Code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953512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“always completes with a neutral conclusion so it never blocks”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9242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OpenAI Codex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392424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“don't replace tests, branch protections, or required approvals”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31336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ECF3"/>
                </a:solidFill>
                <a:latin typeface="Helvetica Neue"/>
              </a:rPr>
              <a:t>Cursor Bugbot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831336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B97AB"/>
                </a:solidFill>
                <a:latin typeface="Menlo"/>
              </a:rPr>
              <a:t>findings “default to neutral” — requiring the status does not block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270248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Helvetica Neue"/>
              </a:rPr>
              <a:t>Snyk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4270248"/>
            <a:ext cx="7132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2D3EE"/>
                </a:solidFill>
                <a:latin typeface="Menlo"/>
              </a:rPr>
              <a:t>“The generator cannot be the validator.”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So the distinction is not that we are deterministic and they are not — Claude Code's permission rules are enforced by the harness rather than the model, and Factory blocks a commit outright. The distinction is the SEAM: every gate they ship guards a tool call inside one agent's session. Ours guards a pipeline stage between agents, with a named human reviewer, and the block is a dependency 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7185"/>
                </a:solidFill>
                <a:latin typeface="Helvetica Neue"/>
              </a:rPr>
              <a:t>DIFFERENTIATION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Three shipped products fail open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Cursor 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denies. “Other exit codes — hook failed, action proceeds (fail-open by default).”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8368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1248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Claude Code 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1248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exit 2 blocks and cannot be overridden. Exit 1 does not block, and “a mistyped path silently disables the gate”.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30896" y="2194560"/>
            <a:ext cx="3224784" cy="1920240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3776" y="23408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Semgrep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3776" y="2871216"/>
            <a:ext cx="285902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 an internal crash it “sends an anonymous crash report… and returns exit code 0”.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check that did not run, reading as a check that passed. That is the single defect shape this project is built to refuse — which is why a missing scanner raises here rather than returning an empty list, and why an empty list of findings can never be produced by a failure.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2171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automated tests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93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6EE7B7"/>
                </a:solidFill>
                <a:latin typeface="Helvetica Neue"/>
              </a:rPr>
              <a:t>311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more for the web app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across 24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1920240"/>
            <a:ext cx="31089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2D3EE"/>
                </a:solidFill>
                <a:latin typeface="Helvetica Neue"/>
              </a:rPr>
              <a:t>v52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06624"/>
            <a:ext cx="31089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five agent runtimes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all READY, one 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Running in the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An issue triggers a Lambda, an event bus dispatches the pipeline, five runtimes answer, three gates pause for a person.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68368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1248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A product, not a 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1248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Sign in with GitHub, pick a repository, start a run, watch the stages move, approve a gate, read the cost.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0896" y="3794760"/>
            <a:ext cx="3224784" cy="1874519"/>
          </a:xfrm>
          <a:prstGeom prst="rect">
            <a:avLst/>
          </a:prstGeom>
          <a:solidFill>
            <a:srgbClr val="131A25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3776" y="3941064"/>
            <a:ext cx="285902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Multi-tenant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3776" y="4471416"/>
            <a:ext cx="2859024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One DynamoDB table, isolation enforced by the credential rather than by application code — AWS refuses another tenant's partition.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Your ten notes from the pre-final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YOU ASKED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783080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WHAT EXISTS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1226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Evaluation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4028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measured arms — a reviewer's miss rate moved 6/8 → 8/8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62432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Time and cost vs a coding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2432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$0.013–0.017 per change, priced from the AWS Pricing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0837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External dependency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00837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1 of 50 modules import a vendor at module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39242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Self-hosted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39242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one compose file: database, API and web, verified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7647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Competitive advantage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77647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commissioned research; five of our own claims disproved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1605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Scanner scoring → go / no-go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160520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D3EE"/>
                </a:solidFill>
                <a:latin typeface="Menlo"/>
              </a:rPr>
              <a:t>one policy table for three scanners — BUILT BECAUSE OF THIS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54456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Generated tests + Selenium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544568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tests generated per run; Selenium now runs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2861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RAG / knowledge lake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928616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three curated corpora, wired into four agent prompts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53126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A real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312664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sign-in, live run view, gate approval, cost — finished this week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69671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8ECF3"/>
                </a:solidFill>
                <a:latin typeface="Helvetica Neue"/>
              </a:rPr>
              <a:t>Restructure as SaaS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5696712"/>
            <a:ext cx="6492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7AB"/>
                </a:solidFill>
                <a:latin typeface="Menlo"/>
              </a:rPr>
              <a:t>tenancy, control-plane API, per-tenant isolation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EE7B7"/>
                </a:solidFill>
                <a:latin typeface="Helvetica Neue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0312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Apply the change, not just carry it   [NEXT]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1031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A merged pull request currently carries the reviewed diff as an artifact. Applying it to the source is the next step, and it is what would let a generated test run against the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27248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Join the two test layers   [NEXT]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127248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Tests are generated from the ticket each run; Selenium runs in CI against the app. Neither verifies the other yet.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513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51376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Prompt caching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151376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Cache hit rate is a measured zero — five agents re-send the same repository snapshot at four times the cached rate. The only cost work worth doing.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7550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6EE7B7"/>
                </a:solidFill>
                <a:latin typeface="Menlo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175504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8ECF3"/>
                </a:solidFill>
                <a:latin typeface="Helvetica Neue"/>
              </a:rPr>
              <a:t>More languages, more scanners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175504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B97AB"/>
                </a:solidFill>
                <a:latin typeface="Helvetica Neue"/>
              </a:rPr>
              <a:t>Three scanners and one Python target today. The gate is a table; adding a scanner is a row.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E8ECF3"/>
                </a:solidFill>
                <a:latin typeface="Helvetica Neue"/>
              </a:rPr>
              <a:t>The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3464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1028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2915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plan</a:t>
            </a:r>
          </a:p>
        </p:txBody>
      </p:sp>
      <p:sp>
        <p:nvSpPr>
          <p:cNvPr id="9" name="Oval 8"/>
          <p:cNvSpPr/>
          <p:nvPr/>
        </p:nvSpPr>
        <p:spPr>
          <a:xfrm>
            <a:off x="261061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4348" y="3461004"/>
            <a:ext cx="954024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336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D3EE"/>
                </a:solidFill>
                <a:latin typeface="Menlo"/>
              </a:rPr>
              <a:t>gate1</a:t>
            </a:r>
          </a:p>
        </p:txBody>
      </p:sp>
      <p:sp>
        <p:nvSpPr>
          <p:cNvPr id="12" name="Oval 11"/>
          <p:cNvSpPr/>
          <p:nvPr/>
        </p:nvSpPr>
        <p:spPr>
          <a:xfrm>
            <a:off x="376580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8467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13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develop</a:t>
            </a:r>
          </a:p>
        </p:txBody>
      </p:sp>
      <p:sp>
        <p:nvSpPr>
          <p:cNvPr id="15" name="Oval 14"/>
          <p:cNvSpPr/>
          <p:nvPr/>
        </p:nvSpPr>
        <p:spPr>
          <a:xfrm>
            <a:off x="4893564" y="3383280"/>
            <a:ext cx="118872" cy="118872"/>
          </a:xfrm>
          <a:prstGeom prst="ellipse">
            <a:avLst/>
          </a:prstGeom>
          <a:solidFill>
            <a:srgbClr val="6EE7B7"/>
          </a:solidFill>
          <a:ln w="2540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2436" y="3433572"/>
            <a:ext cx="1008888" cy="18288"/>
          </a:xfrm>
          <a:prstGeom prst="rect">
            <a:avLst/>
          </a:prstGeom>
          <a:solidFill>
            <a:srgbClr val="6EE7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review</a:t>
            </a:r>
          </a:p>
        </p:txBody>
      </p:sp>
      <p:sp>
        <p:nvSpPr>
          <p:cNvPr id="18" name="Oval 17"/>
          <p:cNvSpPr/>
          <p:nvPr/>
        </p:nvSpPr>
        <p:spPr>
          <a:xfrm>
            <a:off x="6021324" y="3383280"/>
            <a:ext cx="118872" cy="118872"/>
          </a:xfrm>
          <a:prstGeom prst="ellipse">
            <a:avLst/>
          </a:prstGeom>
          <a:solidFill>
            <a:srgbClr val="FB7185"/>
          </a:solidFill>
          <a:ln w="25400">
            <a:solidFill>
              <a:srgbClr val="FB71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40196" y="3433572"/>
            <a:ext cx="1008888" cy="18288"/>
          </a:xfrm>
          <a:prstGeom prst="rect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1688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E8ECF3"/>
                </a:solidFill>
                <a:latin typeface="Menlo"/>
              </a:rPr>
              <a:t>security</a:t>
            </a:r>
          </a:p>
        </p:txBody>
      </p:sp>
      <p:sp>
        <p:nvSpPr>
          <p:cNvPr id="21" name="Oval 20"/>
          <p:cNvSpPr/>
          <p:nvPr/>
        </p:nvSpPr>
        <p:spPr>
          <a:xfrm>
            <a:off x="712165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9538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464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gate2</a:t>
            </a:r>
          </a:p>
        </p:txBody>
      </p:sp>
      <p:sp>
        <p:nvSpPr>
          <p:cNvPr id="24" name="Oval 23"/>
          <p:cNvSpPr/>
          <p:nvPr/>
        </p:nvSpPr>
        <p:spPr>
          <a:xfrm>
            <a:off x="827684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95716" y="3433572"/>
            <a:ext cx="1008888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sre</a:t>
            </a:r>
          </a:p>
        </p:txBody>
      </p:sp>
      <p:sp>
        <p:nvSpPr>
          <p:cNvPr id="27" name="Oval 26"/>
          <p:cNvSpPr/>
          <p:nvPr/>
        </p:nvSpPr>
        <p:spPr>
          <a:xfrm>
            <a:off x="9377172" y="3383280"/>
            <a:ext cx="173736" cy="173736"/>
          </a:xfrm>
          <a:prstGeom prst="ellipse">
            <a:avLst/>
          </a:prstGeom>
          <a:solidFill>
            <a:srgbClr val="0B0F1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550908" y="3461004"/>
            <a:ext cx="954024" cy="1828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0016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gate3</a:t>
            </a:r>
          </a:p>
        </p:txBody>
      </p:sp>
      <p:sp>
        <p:nvSpPr>
          <p:cNvPr id="30" name="Oval 29"/>
          <p:cNvSpPr/>
          <p:nvPr/>
        </p:nvSpPr>
        <p:spPr>
          <a:xfrm>
            <a:off x="10532364" y="3383280"/>
            <a:ext cx="118872" cy="118872"/>
          </a:xfrm>
          <a:prstGeom prst="ellipse">
            <a:avLst/>
          </a:prstGeom>
          <a:solidFill>
            <a:srgbClr val="1F2937"/>
          </a:solidFill>
          <a:ln w="254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7920" y="3694176"/>
            <a:ext cx="112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8B97AB"/>
                </a:solidFill>
                <a:latin typeface="Menlo"/>
              </a:rPr>
              <a:t>promote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8B97AB"/>
                </a:solidFill>
                <a:latin typeface="Helvetica Neue"/>
              </a:rPr>
              <a:t>A ticket that deliberately carries a credential. The scanners find it, the run stops at the security stage, and nothing after it runs.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120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22D3EE"/>
                </a:solidFill>
                <a:latin typeface="Helvetica Neue"/>
              </a:rPr>
              <a:t>Watch the line numbers: real scanners report 3, 4 and the stand-in fixture reports 4, 5. That pair is the only field that tells the two apart.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0" fill="hold">
                      <p:stCondLst>
                        <p:cond delay="indefinite"/>
                      </p:stCondLst>
                      <p:childTnLst>
                        <p:par>
                          <p:cTn id="181" fill="hold">
                            <p:stCondLst>
                              <p:cond delay="0"/>
                            </p:stCondLst>
                            <p:childTnLst>
                              <p:par>
                                <p:cTn id="1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200" b="1">
                <a:solidFill>
                  <a:srgbClr val="E8ECF3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377440"/>
            <a:ext cx="1463040" cy="1463040"/>
          </a:xfrm>
          <a:prstGeom prst="ellipse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Mohamed Sorour</a:t>
            </a:r>
          </a:p>
        </p:txBody>
      </p:sp>
      <p:pic>
        <p:nvPicPr>
          <p:cNvPr id="8" name="Picture 7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2377440"/>
            <a:ext cx="1463040" cy="1463040"/>
          </a:xfrm>
          <a:prstGeom prst="ellipse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Mariam</a:t>
            </a:r>
          </a:p>
        </p:txBody>
      </p:sp>
      <p:pic>
        <p:nvPicPr>
          <p:cNvPr id="10" name="Picture 9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377440"/>
            <a:ext cx="1463040" cy="1463040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1208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Habiba</a:t>
            </a:r>
          </a:p>
        </p:txBody>
      </p:sp>
      <p:pic>
        <p:nvPicPr>
          <p:cNvPr id="12" name="Picture 11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377440"/>
            <a:ext cx="1463040" cy="1463040"/>
          </a:xfrm>
          <a:prstGeom prst="ellipse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Reem</a:t>
            </a:r>
          </a:p>
        </p:txBody>
      </p:sp>
      <p:pic>
        <p:nvPicPr>
          <p:cNvPr id="14" name="Picture 13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55480" y="2377440"/>
            <a:ext cx="1463040" cy="146304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18320" y="406908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E8ECF3"/>
                </a:solidFill>
                <a:latin typeface="Helvetica Neue"/>
              </a:rPr>
              <a:t>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Five engineers. The work is divided by file rather than by feature, which is how fourteen parallel workstreams landed without collisions.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E8ECF3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201168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22D3EE"/>
                </a:solidFill>
                <a:latin typeface="Helvetica Neue"/>
              </a:rPr>
              <a:t>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theagentorg.rosettacloud.app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8B97AB"/>
                </a:solidFill>
                <a:latin typeface="Helvetica Neue"/>
              </a:rPr>
              <a:t>DevOps Hackathon Finals 2026 · TD63 RosettaTeam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BACKUP ·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How a finding becomes a verdict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Helvetica Neue"/>
              </a:rPr>
              <a:t>HOW ITS SEVERITY IS DECIDED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157984"/>
            <a:ext cx="10149840" cy="127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Semgrep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2860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 — seven keys across two vocabularies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432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E8ECF3"/>
                </a:solidFill>
                <a:latin typeface="Helvetica Neue"/>
              </a:rPr>
              <a:t>Trivy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7432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B97AB"/>
                </a:solidFill>
                <a:latin typeface="Menlo"/>
              </a:rPr>
              <a:t>MAPPED from its own; UNKNOWN is a real answer, not a fall-through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Helvetica Neue"/>
              </a:rPr>
              <a:t>gitleaks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004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22D3EE"/>
                </a:solidFill>
                <a:latin typeface="Menlo"/>
              </a:rPr>
              <a:t>ASSIGNED critical by policy — it reports no severity at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749039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rule is a comparison: block when any finding sits at or above the threshold. No model, no network, no ordering dependence.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07407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An unrecognised severity fails closed AT the block threshold, and that constant is refused at import if it ever drops below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5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The floor is derived from the policy rather than written down twice — two copies of one fact agree until one of them moves.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724143"/>
            <a:ext cx="10149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E8ECF3"/>
                </a:solidFill>
                <a:latin typeface="Helvetica Neue"/>
              </a:rPr>
              <a:t>A threshold outside the vocabulary is REFUSED, never clamped: clamping runs the gate at a setting nobody asked for and reports success.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Helvetica Neue"/>
              </a:rPr>
              <a:t>BACKUP ·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E8ECF3"/>
                </a:solidFill>
                <a:latin typeface="Helvetica Neue"/>
              </a:rPr>
              <a:t>What this does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883664"/>
            <a:ext cx="1463040" cy="3810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repository admin can bypass a gate. It is an operator setting, it is reported by the pre-flight check on every run, and it is not hidden.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If the scanners miss something, the reviewer is the only thing that saw it — and the reviewer is advisory. Three human gates are the last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49040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One language, one target repository, three scanners. Breadth is where every competitor is ahead.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617719"/>
            <a:ext cx="10149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E8ECF3"/>
                </a:solidFill>
                <a:latin typeface="Helvetica Neue"/>
              </a:rPr>
              <a:t>A merged pull request carries the reviewed diff as an artifact; applying it to the source is the next step on the roadmap.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9107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B97AB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