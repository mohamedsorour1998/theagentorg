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Good afternoon. This is The Agent Org: security gates for agent-written code. Five AI agents take a ticket all the way to a pull request, and three human gates and one deterministic rule decide whether it ships. I have twenty minutes including your questions, so the slides are short and five of those minutes are the system running.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are RosettaTeam. I am Mohamed Sorour, a senior DevOps engineer at Vezeeta and a master's student in computer science, AI specialization, at Georgia Tech. Mariam is an associate solution engineer at RENOSYSTEMS. Habiba is a junior DevOps engineer, and Reem and Aya are junior testing engineers, all three Digilians alumni. All five of us are here, and each of us takes questions on our own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the twenty minutes. Three on the overview, then the architecture, the business impact, and how this differs from what vendors ship. Then what is built, your ten notes from the pre-final, and what it does not do. What is next, five minutes live, and the rest of the slot is yours.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Coding agents already open pull requests without a person in the loop. What is new is that the reviewer of that change is increasingly another model. A model can be persuaded, distracted or prompt-injected, which makes it the wrong thing to place between a committed credential and your main branch. We measured our own baseline with no checks in the loop: a poisoned change reached the branch every time. So the question is not whether an agent can write the change. It is what stands between that change and production.</a:t>
            </a:r>
          </a:p>
          <a:p/>
          <a:p>
            <a:r>
              <a:t>IF ASKED — "isn't this what branch protection is for?" Branch protection enforces a status check, and every AI reviewer in our research reports a neutral status: it never fails the check. We come back to that on the differentiation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pipeline, and it is the same shape you will see on screen in a few minutes. The filled dots are agents. The three rings are gates: the run stops there until a named person approves it in GitHub. Five agents: planner, developer, reviewer, security and SRE, each in its own runtime. Three human gates. And one rule that is not a model,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agent here is a language model, and any of them can be wrong. So the component that stops a change is deliberately not one of them. Compare the two columns. The reviewer is a model reading the change. It catches intent, logic and a plan mismatch, and it is advisory: when it objects, the change goes back to the developer, but it cannot stop the run. The security stage is three scanners and a fixed rule. Same input, same answer, every time, and there is no model in it, so there is nothing to argue with.</a:t>
            </a:r>
          </a:p>
          <a:p/>
          <a:p>
            <a:r>
              <a:t>SAY — the line that lands The demo you are about to see would still block with the reviewer removed entirely. It would not block with the scanners removed.</a:t>
            </a:r>
          </a:p>
          <a:p/>
          <a:p>
            <a:r>
              <a:t>IF ASKED — "what if the scanners miss something?" Then the reviewer is the only thing that saw it, the reviewer is advisory, and the change can reach main past three human gates. That is an accepted limit, not a defended one, and it is why each gate needs a named person.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rule that decides, since you asked about it in the pre-final. Semgrep and Trivy report their own severities, and one table translates them. Gitleaks reports no severity at all, so a secret is critical by policy: a committed credential has no lesser grade. Then one comparison: block when any finding is at or above the threshold. Two things keep it honest. A severity the table does not recognise counts as high, the blocking level, so an unknown can never slip through. And a threshold outside the allowed values is rejected, never quietly adjusted.</a:t>
            </a:r>
          </a:p>
          <a:p/>
          <a:p>
            <a:r>
              <a:t>IF ASKED — "why is gitleaks always critical?" It reports no severity at all, only the rule, the file and the line. The severity has to come from somewhere, and ranking credentials would mean deciding which ones we are willing to merge.</a:t>
            </a:r>
          </a:p>
          <a:p/>
          <a:p>
            <a:r>
              <a:t>IF ASKED — "what does Trivy's 'unknown' become?" Low. Trivy uses it for a vulnerability with no published score, which is a real answer, not a missing one. What counts as high is a severity word the table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Follow the numbers. One: an engineer opens an issue, or starts a run from our app. Two: GitHub sends a signed webhook to a Lambda function, which checks the signature before anything else happens and hands the event to EventBridge. Three: a rule matches new issues and starts the pipeline; if that fails, the event waits in an SQS dead-letter queue. The pipeline is seven GitHub Actions jobs. Four: each job takes an AWS role through OIDC, so there is no stored AWS key anywhere, and calls that agent's Bedrock AgentCore runtime. Five: the agents call Amazon Nova 2 Lite. Six: the security stage is three scanners and a fixed threshold, with no model in it. Seven: the gates wait for a named person, in GitHub or in our app. Eight: the app, on Amplify with Cognito sign-in, reads each run from DynamoDB through a role that can only see its own tenant's data.</a:t>
            </a:r>
          </a:p>
          <a:p/>
          <a:p>
            <a:r>
              <a:t>IF ASKED — "why AgentCore and not just Lambda?" Each agent is an isolated runtime with its own identity and logs, and the security image is the only one carrying the three scanners. Isolation is the point.</a:t>
            </a:r>
          </a:p>
          <a:p/>
          <a:p>
            <a:r>
              <a:t>IF ASKED — "where is a run's state kept?" It is passed from job to job by GitHub Actions, and every stage writes a copy to DynamoDB, which is what the app reads.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change costs between one point three and one point seven cents of model time, measured over three clean runs and priced from the AWS Pricing API. The model is 99.9 percent of that. Lambda, EventBridge and DynamoDB together came to twelve millionths of a dollar, which is why the only cost work worth doing is prompt caching. The median time from ticket to merge is five point four minutes, and none of the eight merged changes carried a credential.</a:t>
            </a:r>
          </a:p>
          <a:p/>
          <a:p>
            <a:r>
              <a:t>SAY THE CAVEAT — do not wait to be asked. Eight of thirty-seven runs merged, so the median covers the runs that finished. And the zero is a real result: the same scan finds three credentials in an unmerged pull request, so it is not a scan that finds nothing.</a:t>
            </a:r>
          </a:p>
          <a:p/>
          <a:p>
            <a:r>
              <a:t>IF ASKED — "so it is cheaper than a human reviewer?" I would not make that comparison. The pipeline does not replace the reviewer, it decides what reaches them. The honest measure is minutes of human attention per change, and we have not measured that at scale.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None of this is our wording. GitHub Copilot's review "will not block merging changes". Anthropic's code review "always completes with a neutral conclusion so it never blocks". OpenAI's Codex guidance says it doesn't "replace tests, branch protections, or required approvals". Cursor's findings default to neutral. And Snyk's own page puts our thesis in six words: the generator cannot be the validator.</a:t>
            </a:r>
          </a:p>
          <a:p/>
          <a:p>
            <a:r>
              <a:t>SAY — and concede, because it is stronger We are not the only ones with rules outside the model. Claude Code's permission rules and Factory's commit blocks are enforced outside the model too. The difference is where the check sits: theirs guard one agent's actions; ours guards the hand-off between agents, with a named person approving each stage.</a:t>
            </a:r>
          </a:p>
          <a:p/>
          <a:p>
            <a:r>
              <a:t>IF ASKED — "so what is genuinely new?" No product we found combines all three: several agents, a check with no model in it on each agent's output, and human approval between stages, as one pipeline. Each of the three exists somewhere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argument for the whole design. With Cursor's hooks, if the hook itself fails, the action goes ahead; their documentation calls it fail-open by default. With Claude Code's hooks, only one specific failure blocks; any other lets the action through, and a mistyped path silently disables the gate. And if Semgrep crashes, it reports success. A check that did not run, reading as a check that passed. That is exactly what we refuse: in our pipeline, a missing or crashed scanner blocks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Two thousand one hundred and seventy-two automated tests across ninety-three files, plus three hundred and eleven for the web app. Five agent runtimes, all ready on the same version; a split would mean a half-finished deploy, and we check for it before every demo. It runs in the cloud from a real issue. It is a product, not a script: you sign in, pick a repository, start a run, watch each stage, approve a gate and read what it cost. And it is multi-tenant: each customer's data sits in its own partition, and AWS itself refuses a read of anyone else's, so our code does not have to remember 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gave us ten notes in the pre-final, and every row here is an answer that now exists. One in particular. You asked how the scanners' scores turn into a go or no-go, because you doubted the determinism claim, and you were right to. It held for Trivy and Semgrep, which report their own severities. For gitleaks the word "critical" was simply typed where each finding was created: no table, no policy. There is now one scoring table for all three scanners, and the rule for secrets is written down as a policy. Your note produced a real correction, and I would rather say so than claim we were right all along.</a:t>
            </a:r>
          </a:p>
          <a:p/>
          <a:p>
            <a:r>
              <a:t>IF ASKED about any single row — scoring is slide 7 and the limits are slide 14; ask and I will go back to either.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what it does not do. A repository admin can bypass a gate; it is a setting, and our pre-flight check reports it on every run. If the scanners miss something, only the reviewer saw it, and the reviewer cannot stop the run, so the human gates are the last line. It covers one language and three scanners today, and breadth is where every competitor is ahead. And a merged pull request carries the reviewed change as a file; applying it to the source is next.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Four things. First, apply the change rather than carry it; that is also what lets a generated test run against the change. Second, join the two test layers: tests are generated from each ticket and Selenium runs in CI, but neither checks the other yet. Third, prompt caching: nothing is cached today, so every agent pays full price for the same repository snapshot, and cached input costs a quarter as much. And more languages and more scanners; the scoring is a table, so a new scanner is one 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Let me show you the half that matters: a ticket that deliberately carries a credential. Watch the line numbers when it blocks.</a:t>
            </a:r>
          </a:p>
          <a:p/>
          <a:p>
            <a:r>
              <a:t>IF ASKED — "what are the three cards?" One per scanner, each showing its own worst finding against the threshold. Only gitleaks reached it, so only gitleaks blocks. That comparison is the whole decision, and a run that passes shows it too.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That is The Agent Org. It is live at theagentorg.rosettacloud.app.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17320"/>
            <a:ext cx="10149840" cy="1005840"/>
          </a:xfrm>
          <a:prstGeom prst="rect">
            <a:avLst/>
          </a:prstGeom>
          <a:noFill/>
        </p:spPr>
        <p:txBody>
          <a:bodyPr wrap="square">
            <a:spAutoFit/>
          </a:bodyPr>
          <a:lstStyle/>
          <a:p>
            <a:pPr algn="l">
              <a:lnSpc>
                <a:spcPct val="100000"/>
              </a:lnSpc>
            </a:pPr>
            <a:r>
              <a:rPr sz="6000" b="1">
                <a:solidFill>
                  <a:srgbClr val="E8ECF3"/>
                </a:solidFill>
                <a:latin typeface="Helvetica Neue"/>
              </a:rPr>
              <a:t>The Agent Org</a:t>
            </a:r>
          </a:p>
        </p:txBody>
      </p:sp>
      <p:sp>
        <p:nvSpPr>
          <p:cNvPr id="5" name="deckkit-rule"/>
          <p:cNvSpPr/>
          <p:nvPr/>
        </p:nvSpPr>
        <p:spPr>
          <a:xfrm>
            <a:off x="1005840" y="2606040"/>
            <a:ext cx="23774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880360"/>
            <a:ext cx="10149840" cy="548640"/>
          </a:xfrm>
          <a:prstGeom prst="rect">
            <a:avLst/>
          </a:prstGeom>
          <a:noFill/>
        </p:spPr>
        <p:txBody>
          <a:bodyPr wrap="square">
            <a:spAutoFit/>
          </a:bodyPr>
          <a:lstStyle/>
          <a:p>
            <a:pPr algn="l">
              <a:lnSpc>
                <a:spcPct val="100000"/>
              </a:lnSpc>
            </a:pPr>
            <a:r>
              <a:rPr sz="2800" b="0">
                <a:solidFill>
                  <a:srgbClr val="22D3EE"/>
                </a:solidFill>
                <a:latin typeface="Helvetica Neue"/>
              </a:rPr>
              <a:t>Security gates for agent-written code</a:t>
            </a:r>
          </a:p>
        </p:txBody>
      </p:sp>
      <p:sp>
        <p:nvSpPr>
          <p:cNvPr id="7" name="TextBox 6"/>
          <p:cNvSpPr txBox="1"/>
          <p:nvPr/>
        </p:nvSpPr>
        <p:spPr>
          <a:xfrm>
            <a:off x="1005840" y="3703320"/>
            <a:ext cx="9692640" cy="822960"/>
          </a:xfrm>
          <a:prstGeom prst="rect">
            <a:avLst/>
          </a:prstGeom>
          <a:noFill/>
        </p:spPr>
        <p:txBody>
          <a:bodyPr wrap="square">
            <a:spAutoFit/>
          </a:bodyPr>
          <a:lstStyle/>
          <a:p>
            <a:pPr algn="l">
              <a:lnSpc>
                <a:spcPct val="135000"/>
              </a:lnSpc>
            </a:pPr>
            <a:r>
              <a:rPr sz="2000" b="0">
                <a:solidFill>
                  <a:srgbClr val="8B97AB"/>
                </a:solidFill>
                <a:latin typeface="Helvetica Neue"/>
              </a:rPr>
              <a:t>Five agents take a ticket to a pull request. Three human gates and one deterministic rule decide whether it ships.</a:t>
            </a:r>
          </a:p>
        </p:txBody>
      </p:sp>
      <p:sp>
        <p:nvSpPr>
          <p:cNvPr id="8" name="TextBox 7"/>
          <p:cNvSpPr txBox="1"/>
          <p:nvPr/>
        </p:nvSpPr>
        <p:spPr>
          <a:xfrm>
            <a:off x="1005840" y="5440680"/>
            <a:ext cx="10149840" cy="731520"/>
          </a:xfrm>
          <a:prstGeom prst="rect">
            <a:avLst/>
          </a:prstGeom>
          <a:noFill/>
        </p:spPr>
        <p:txBody>
          <a:bodyPr wrap="square">
            <a:spAutoFit/>
          </a:bodyPr>
          <a:lstStyle/>
          <a:p>
            <a:pPr algn="l">
              <a:lnSpc>
                <a:spcPct val="140000"/>
              </a:lnSpc>
            </a:pPr>
            <a:r>
              <a:rPr sz="1400" b="0">
                <a:solidFill>
                  <a:srgbClr val="8B97AB"/>
                </a:solidFill>
                <a:latin typeface="Helvetica Neue"/>
              </a:rPr>
              <a:t>DevOps Hackathon Finals 2026 · TD63 RosettaTeam</a:t>
            </a:r>
          </a:p>
          <a:p>
            <a:pPr algn="l">
              <a:lnSpc>
                <a:spcPct val="140000"/>
              </a:lnSpc>
            </a:pPr>
            <a:r>
              <a:rPr sz="1400" b="0">
                <a:solidFill>
                  <a:srgbClr val="8B97AB"/>
                </a:solidFill>
                <a:latin typeface="Helvetica Neue"/>
              </a:rPr>
              <a:t>Mohamed Sorour · Mariam Abdelkader · Habiba Megahed · Reem Shkeep · Aya Ebrahim</a:t>
            </a:r>
          </a:p>
        </p:txBody>
      </p:sp>
      <p:sp>
        <p:nvSpPr>
          <p:cNvPr id="9" name="TextBox 8"/>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THE TEAM · TD63</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200" b="1">
                <a:solidFill>
                  <a:srgbClr val="E8ECF3"/>
                </a:solidFill>
                <a:latin typeface="Helvetica Neue"/>
              </a:rPr>
              <a:t>RosettaTeam</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orour.jpg"/>
          <p:cNvPicPr>
            <a:picLocks noChangeAspect="1"/>
          </p:cNvPicPr>
          <p:nvPr/>
        </p:nvPicPr>
        <p:blipFill>
          <a:blip r:embed="rId2"/>
          <a:stretch>
            <a:fillRect/>
          </a:stretch>
        </p:blipFill>
        <p:spPr>
          <a:xfrm>
            <a:off x="1248156" y="2148840"/>
            <a:ext cx="1325880" cy="1325880"/>
          </a:xfrm>
          <a:prstGeom prst="ellipse">
            <a:avLst/>
          </a:prstGeom>
        </p:spPr>
      </p:pic>
      <p:sp>
        <p:nvSpPr>
          <p:cNvPr id="7" name="TextBox 6"/>
          <p:cNvSpPr txBox="1"/>
          <p:nvPr/>
        </p:nvSpPr>
        <p:spPr>
          <a:xfrm>
            <a:off x="1005840" y="3611880"/>
            <a:ext cx="1810512" cy="566928"/>
          </a:xfrm>
          <a:prstGeom prst="rect">
            <a:avLst/>
          </a:prstGeom>
          <a:noFill/>
        </p:spPr>
        <p:txBody>
          <a:bodyPr wrap="square" anchor="b">
            <a:spAutoFit/>
          </a:bodyPr>
          <a:lstStyle/>
          <a:p>
            <a:pPr algn="ctr">
              <a:lnSpc>
                <a:spcPct val="100000"/>
              </a:lnSpc>
            </a:pPr>
            <a:r>
              <a:rPr sz="1500" b="1">
                <a:solidFill>
                  <a:srgbClr val="E8ECF3"/>
                </a:solidFill>
                <a:latin typeface="Helvetica Neue"/>
              </a:rPr>
              <a:t>Mohamed Sorour</a:t>
            </a:r>
          </a:p>
        </p:txBody>
      </p:sp>
      <p:sp>
        <p:nvSpPr>
          <p:cNvPr id="8" name="TextBox 7"/>
          <p:cNvSpPr txBox="1"/>
          <p:nvPr/>
        </p:nvSpPr>
        <p:spPr>
          <a:xfrm>
            <a:off x="1005840" y="4224528"/>
            <a:ext cx="1810512" cy="548640"/>
          </a:xfrm>
          <a:prstGeom prst="rect">
            <a:avLst/>
          </a:prstGeom>
          <a:noFill/>
        </p:spPr>
        <p:txBody>
          <a:bodyPr wrap="square">
            <a:spAutoFit/>
          </a:bodyPr>
          <a:lstStyle/>
          <a:p>
            <a:pPr algn="ctr">
              <a:lnSpc>
                <a:spcPct val="110000"/>
              </a:lnSpc>
            </a:pPr>
            <a:r>
              <a:rPr sz="1300" b="0">
                <a:solidFill>
                  <a:srgbClr val="8B97AB"/>
                </a:solidFill>
                <a:latin typeface="Helvetica Neue"/>
              </a:rPr>
              <a:t>Senior DevOps Engineer</a:t>
            </a:r>
          </a:p>
        </p:txBody>
      </p:sp>
      <p:sp>
        <p:nvSpPr>
          <p:cNvPr id="9" name="TextBox 8"/>
          <p:cNvSpPr txBox="1"/>
          <p:nvPr/>
        </p:nvSpPr>
        <p:spPr>
          <a:xfrm>
            <a:off x="1005840" y="4828032"/>
            <a:ext cx="1810512" cy="274320"/>
          </a:xfrm>
          <a:prstGeom prst="rect">
            <a:avLst/>
          </a:prstGeom>
          <a:noFill/>
        </p:spPr>
        <p:txBody>
          <a:bodyPr wrap="square">
            <a:spAutoFit/>
          </a:bodyPr>
          <a:lstStyle/>
          <a:p>
            <a:pPr algn="ctr">
              <a:lnSpc>
                <a:spcPct val="100000"/>
              </a:lnSpc>
            </a:pPr>
            <a:r>
              <a:rPr sz="1100" b="1">
                <a:solidFill>
                  <a:srgbClr val="22D3EE"/>
                </a:solidFill>
                <a:latin typeface="Menlo"/>
              </a:rPr>
              <a:t>VEZEETA</a:t>
            </a:r>
          </a:p>
        </p:txBody>
      </p:sp>
      <p:sp>
        <p:nvSpPr>
          <p:cNvPr id="10" name="TextBox 9"/>
          <p:cNvSpPr txBox="1"/>
          <p:nvPr/>
        </p:nvSpPr>
        <p:spPr>
          <a:xfrm>
            <a:off x="1005840" y="5157216"/>
            <a:ext cx="1810512" cy="731520"/>
          </a:xfrm>
          <a:prstGeom prst="rect">
            <a:avLst/>
          </a:prstGeom>
          <a:noFill/>
        </p:spPr>
        <p:txBody>
          <a:bodyPr wrap="square">
            <a:spAutoFit/>
          </a:bodyPr>
          <a:lstStyle/>
          <a:p>
            <a:pPr algn="ctr">
              <a:lnSpc>
                <a:spcPct val="115000"/>
              </a:lnSpc>
            </a:pPr>
            <a:r>
              <a:rPr sz="1100" b="0">
                <a:solidFill>
                  <a:srgbClr val="8B97AB"/>
                </a:solidFill>
                <a:latin typeface="Helvetica Neue"/>
              </a:rPr>
              <a:t>MSc student</a:t>
            </a:r>
          </a:p>
          <a:p>
            <a:pPr algn="ctr">
              <a:lnSpc>
                <a:spcPct val="115000"/>
              </a:lnSpc>
            </a:pPr>
            <a:r>
              <a:rPr sz="1100" b="0">
                <a:solidFill>
                  <a:srgbClr val="8B97AB"/>
                </a:solidFill>
                <a:latin typeface="Helvetica Neue"/>
              </a:rPr>
              <a:t>Computer Science</a:t>
            </a:r>
          </a:p>
          <a:p>
            <a:pPr algn="ctr">
              <a:lnSpc>
                <a:spcPct val="115000"/>
              </a:lnSpc>
            </a:pPr>
            <a:r>
              <a:rPr sz="1100" b="0">
                <a:solidFill>
                  <a:srgbClr val="8B97AB"/>
                </a:solidFill>
                <a:latin typeface="Helvetica Neue"/>
              </a:rPr>
              <a:t>AI specialization</a:t>
            </a:r>
          </a:p>
          <a:p>
            <a:pPr algn="ctr">
              <a:lnSpc>
                <a:spcPct val="115000"/>
              </a:lnSpc>
            </a:pPr>
            <a:r>
              <a:rPr sz="1100" b="0">
                <a:solidFill>
                  <a:srgbClr val="8B97AB"/>
                </a:solidFill>
                <a:latin typeface="Helvetica Neue"/>
              </a:rPr>
              <a:t>Georgia Tech</a:t>
            </a:r>
          </a:p>
        </p:txBody>
      </p:sp>
      <p:pic>
        <p:nvPicPr>
          <p:cNvPr id="11" name="Picture 10" descr="mariam.jpg"/>
          <p:cNvPicPr>
            <a:picLocks noChangeAspect="1"/>
          </p:cNvPicPr>
          <p:nvPr/>
        </p:nvPicPr>
        <p:blipFill>
          <a:blip r:embed="rId3"/>
          <a:stretch>
            <a:fillRect/>
          </a:stretch>
        </p:blipFill>
        <p:spPr>
          <a:xfrm>
            <a:off x="3332988" y="2148840"/>
            <a:ext cx="1325880" cy="1325880"/>
          </a:xfrm>
          <a:prstGeom prst="ellipse">
            <a:avLst/>
          </a:prstGeom>
        </p:spPr>
      </p:pic>
      <p:sp>
        <p:nvSpPr>
          <p:cNvPr id="12" name="TextBox 11"/>
          <p:cNvSpPr txBox="1"/>
          <p:nvPr/>
        </p:nvSpPr>
        <p:spPr>
          <a:xfrm>
            <a:off x="3090672" y="3611880"/>
            <a:ext cx="1810512" cy="566928"/>
          </a:xfrm>
          <a:prstGeom prst="rect">
            <a:avLst/>
          </a:prstGeom>
          <a:noFill/>
        </p:spPr>
        <p:txBody>
          <a:bodyPr wrap="square" anchor="b">
            <a:spAutoFit/>
          </a:bodyPr>
          <a:lstStyle/>
          <a:p>
            <a:pPr algn="ctr">
              <a:lnSpc>
                <a:spcPct val="100000"/>
              </a:lnSpc>
            </a:pPr>
            <a:r>
              <a:rPr sz="1500" b="1">
                <a:solidFill>
                  <a:srgbClr val="E8ECF3"/>
                </a:solidFill>
                <a:latin typeface="Helvetica Neue"/>
              </a:rPr>
              <a:t>Mariam Abdelkader</a:t>
            </a:r>
          </a:p>
        </p:txBody>
      </p:sp>
      <p:sp>
        <p:nvSpPr>
          <p:cNvPr id="13" name="TextBox 12"/>
          <p:cNvSpPr txBox="1"/>
          <p:nvPr/>
        </p:nvSpPr>
        <p:spPr>
          <a:xfrm>
            <a:off x="3090672" y="4224528"/>
            <a:ext cx="1810512" cy="548640"/>
          </a:xfrm>
          <a:prstGeom prst="rect">
            <a:avLst/>
          </a:prstGeom>
          <a:noFill/>
        </p:spPr>
        <p:txBody>
          <a:bodyPr wrap="square">
            <a:spAutoFit/>
          </a:bodyPr>
          <a:lstStyle/>
          <a:p>
            <a:pPr algn="ctr">
              <a:lnSpc>
                <a:spcPct val="110000"/>
              </a:lnSpc>
            </a:pPr>
            <a:r>
              <a:rPr sz="1300" b="0">
                <a:solidFill>
                  <a:srgbClr val="8B97AB"/>
                </a:solidFill>
                <a:latin typeface="Helvetica Neue"/>
              </a:rPr>
              <a:t>Associate Solution Engineer</a:t>
            </a:r>
          </a:p>
        </p:txBody>
      </p:sp>
      <p:sp>
        <p:nvSpPr>
          <p:cNvPr id="14" name="TextBox 13"/>
          <p:cNvSpPr txBox="1"/>
          <p:nvPr/>
        </p:nvSpPr>
        <p:spPr>
          <a:xfrm>
            <a:off x="3090672" y="4828032"/>
            <a:ext cx="1810512" cy="274320"/>
          </a:xfrm>
          <a:prstGeom prst="rect">
            <a:avLst/>
          </a:prstGeom>
          <a:noFill/>
        </p:spPr>
        <p:txBody>
          <a:bodyPr wrap="square">
            <a:spAutoFit/>
          </a:bodyPr>
          <a:lstStyle/>
          <a:p>
            <a:pPr algn="ctr">
              <a:lnSpc>
                <a:spcPct val="100000"/>
              </a:lnSpc>
            </a:pPr>
            <a:r>
              <a:rPr sz="1100" b="1">
                <a:solidFill>
                  <a:srgbClr val="22D3EE"/>
                </a:solidFill>
                <a:latin typeface="Menlo"/>
              </a:rPr>
              <a:t>RENOSYSTEMS</a:t>
            </a:r>
          </a:p>
        </p:txBody>
      </p:sp>
      <p:pic>
        <p:nvPicPr>
          <p:cNvPr id="15" name="Picture 14" descr="habiba.jpg"/>
          <p:cNvPicPr>
            <a:picLocks noChangeAspect="1"/>
          </p:cNvPicPr>
          <p:nvPr/>
        </p:nvPicPr>
        <p:blipFill>
          <a:blip r:embed="rId4"/>
          <a:stretch>
            <a:fillRect/>
          </a:stretch>
        </p:blipFill>
        <p:spPr>
          <a:xfrm>
            <a:off x="5417820" y="2148840"/>
            <a:ext cx="1325880" cy="1325880"/>
          </a:xfrm>
          <a:prstGeom prst="ellipse">
            <a:avLst/>
          </a:prstGeom>
        </p:spPr>
      </p:pic>
      <p:sp>
        <p:nvSpPr>
          <p:cNvPr id="16" name="TextBox 15"/>
          <p:cNvSpPr txBox="1"/>
          <p:nvPr/>
        </p:nvSpPr>
        <p:spPr>
          <a:xfrm>
            <a:off x="5175504" y="3611880"/>
            <a:ext cx="1810512" cy="566928"/>
          </a:xfrm>
          <a:prstGeom prst="rect">
            <a:avLst/>
          </a:prstGeom>
          <a:noFill/>
        </p:spPr>
        <p:txBody>
          <a:bodyPr wrap="square" anchor="b">
            <a:spAutoFit/>
          </a:bodyPr>
          <a:lstStyle/>
          <a:p>
            <a:pPr algn="ctr">
              <a:lnSpc>
                <a:spcPct val="100000"/>
              </a:lnSpc>
            </a:pPr>
            <a:r>
              <a:rPr sz="1500" b="1">
                <a:solidFill>
                  <a:srgbClr val="E8ECF3"/>
                </a:solidFill>
                <a:latin typeface="Helvetica Neue"/>
              </a:rPr>
              <a:t>Habiba Megahed</a:t>
            </a:r>
          </a:p>
        </p:txBody>
      </p:sp>
      <p:sp>
        <p:nvSpPr>
          <p:cNvPr id="17" name="TextBox 16"/>
          <p:cNvSpPr txBox="1"/>
          <p:nvPr/>
        </p:nvSpPr>
        <p:spPr>
          <a:xfrm>
            <a:off x="5175504" y="4224528"/>
            <a:ext cx="1810512" cy="548640"/>
          </a:xfrm>
          <a:prstGeom prst="rect">
            <a:avLst/>
          </a:prstGeom>
          <a:noFill/>
        </p:spPr>
        <p:txBody>
          <a:bodyPr wrap="square">
            <a:spAutoFit/>
          </a:bodyPr>
          <a:lstStyle/>
          <a:p>
            <a:pPr algn="ctr">
              <a:lnSpc>
                <a:spcPct val="110000"/>
              </a:lnSpc>
            </a:pPr>
            <a:r>
              <a:rPr sz="1300" b="0">
                <a:solidFill>
                  <a:srgbClr val="8B97AB"/>
                </a:solidFill>
                <a:latin typeface="Helvetica Neue"/>
              </a:rPr>
              <a:t>Junior DevOps Engineer</a:t>
            </a:r>
          </a:p>
        </p:txBody>
      </p:sp>
      <p:sp>
        <p:nvSpPr>
          <p:cNvPr id="18" name="TextBox 17"/>
          <p:cNvSpPr txBox="1"/>
          <p:nvPr/>
        </p:nvSpPr>
        <p:spPr>
          <a:xfrm>
            <a:off x="5175504" y="4828032"/>
            <a:ext cx="1810512" cy="274320"/>
          </a:xfrm>
          <a:prstGeom prst="rect">
            <a:avLst/>
          </a:prstGeom>
          <a:noFill/>
        </p:spPr>
        <p:txBody>
          <a:bodyPr wrap="square">
            <a:spAutoFit/>
          </a:bodyPr>
          <a:lstStyle/>
          <a:p>
            <a:pPr algn="ctr">
              <a:lnSpc>
                <a:spcPct val="100000"/>
              </a:lnSpc>
            </a:pPr>
            <a:r>
              <a:rPr sz="1100" b="1">
                <a:solidFill>
                  <a:srgbClr val="22D3EE"/>
                </a:solidFill>
                <a:latin typeface="Menlo"/>
              </a:rPr>
              <a:t>DIGILIANS ALUM</a:t>
            </a:r>
          </a:p>
        </p:txBody>
      </p:sp>
      <p:pic>
        <p:nvPicPr>
          <p:cNvPr id="19" name="Picture 18" descr="reem.jpg"/>
          <p:cNvPicPr>
            <a:picLocks noChangeAspect="1"/>
          </p:cNvPicPr>
          <p:nvPr/>
        </p:nvPicPr>
        <p:blipFill>
          <a:blip r:embed="rId5"/>
          <a:stretch>
            <a:fillRect/>
          </a:stretch>
        </p:blipFill>
        <p:spPr>
          <a:xfrm>
            <a:off x="7502652" y="2148840"/>
            <a:ext cx="1325880" cy="1325880"/>
          </a:xfrm>
          <a:prstGeom prst="ellipse">
            <a:avLst/>
          </a:prstGeom>
        </p:spPr>
      </p:pic>
      <p:sp>
        <p:nvSpPr>
          <p:cNvPr id="20" name="TextBox 19"/>
          <p:cNvSpPr txBox="1"/>
          <p:nvPr/>
        </p:nvSpPr>
        <p:spPr>
          <a:xfrm>
            <a:off x="7260336" y="3611880"/>
            <a:ext cx="1810512" cy="566928"/>
          </a:xfrm>
          <a:prstGeom prst="rect">
            <a:avLst/>
          </a:prstGeom>
          <a:noFill/>
        </p:spPr>
        <p:txBody>
          <a:bodyPr wrap="square" anchor="b">
            <a:spAutoFit/>
          </a:bodyPr>
          <a:lstStyle/>
          <a:p>
            <a:pPr algn="ctr">
              <a:lnSpc>
                <a:spcPct val="100000"/>
              </a:lnSpc>
            </a:pPr>
            <a:r>
              <a:rPr sz="1500" b="1">
                <a:solidFill>
                  <a:srgbClr val="E8ECF3"/>
                </a:solidFill>
                <a:latin typeface="Helvetica Neue"/>
              </a:rPr>
              <a:t>Reem Shkeep</a:t>
            </a:r>
          </a:p>
        </p:txBody>
      </p:sp>
      <p:sp>
        <p:nvSpPr>
          <p:cNvPr id="21" name="TextBox 20"/>
          <p:cNvSpPr txBox="1"/>
          <p:nvPr/>
        </p:nvSpPr>
        <p:spPr>
          <a:xfrm>
            <a:off x="7260336" y="4224528"/>
            <a:ext cx="1810512" cy="548640"/>
          </a:xfrm>
          <a:prstGeom prst="rect">
            <a:avLst/>
          </a:prstGeom>
          <a:noFill/>
        </p:spPr>
        <p:txBody>
          <a:bodyPr wrap="square">
            <a:spAutoFit/>
          </a:bodyPr>
          <a:lstStyle/>
          <a:p>
            <a:pPr algn="ctr">
              <a:lnSpc>
                <a:spcPct val="110000"/>
              </a:lnSpc>
            </a:pPr>
            <a:r>
              <a:rPr sz="1300" b="0">
                <a:solidFill>
                  <a:srgbClr val="8B97AB"/>
                </a:solidFill>
                <a:latin typeface="Helvetica Neue"/>
              </a:rPr>
              <a:t>Junior Testing Engineer</a:t>
            </a:r>
          </a:p>
        </p:txBody>
      </p:sp>
      <p:sp>
        <p:nvSpPr>
          <p:cNvPr id="22" name="TextBox 21"/>
          <p:cNvSpPr txBox="1"/>
          <p:nvPr/>
        </p:nvSpPr>
        <p:spPr>
          <a:xfrm>
            <a:off x="7260336" y="4828032"/>
            <a:ext cx="1810512" cy="274320"/>
          </a:xfrm>
          <a:prstGeom prst="rect">
            <a:avLst/>
          </a:prstGeom>
          <a:noFill/>
        </p:spPr>
        <p:txBody>
          <a:bodyPr wrap="square">
            <a:spAutoFit/>
          </a:bodyPr>
          <a:lstStyle/>
          <a:p>
            <a:pPr algn="ctr">
              <a:lnSpc>
                <a:spcPct val="100000"/>
              </a:lnSpc>
            </a:pPr>
            <a:r>
              <a:rPr sz="1100" b="1">
                <a:solidFill>
                  <a:srgbClr val="22D3EE"/>
                </a:solidFill>
                <a:latin typeface="Menlo"/>
              </a:rPr>
              <a:t>DIGILIANS ALUM</a:t>
            </a:r>
          </a:p>
        </p:txBody>
      </p:sp>
      <p:pic>
        <p:nvPicPr>
          <p:cNvPr id="23" name="Picture 22" descr="aya.jpg"/>
          <p:cNvPicPr>
            <a:picLocks noChangeAspect="1"/>
          </p:cNvPicPr>
          <p:nvPr/>
        </p:nvPicPr>
        <p:blipFill>
          <a:blip r:embed="rId6"/>
          <a:stretch>
            <a:fillRect/>
          </a:stretch>
        </p:blipFill>
        <p:spPr>
          <a:xfrm>
            <a:off x="9587484" y="2148840"/>
            <a:ext cx="1325880" cy="1325880"/>
          </a:xfrm>
          <a:prstGeom prst="ellipse">
            <a:avLst/>
          </a:prstGeom>
        </p:spPr>
      </p:pic>
      <p:sp>
        <p:nvSpPr>
          <p:cNvPr id="24" name="TextBox 23"/>
          <p:cNvSpPr txBox="1"/>
          <p:nvPr/>
        </p:nvSpPr>
        <p:spPr>
          <a:xfrm>
            <a:off x="9345168" y="3611880"/>
            <a:ext cx="1810512" cy="566928"/>
          </a:xfrm>
          <a:prstGeom prst="rect">
            <a:avLst/>
          </a:prstGeom>
          <a:noFill/>
        </p:spPr>
        <p:txBody>
          <a:bodyPr wrap="square" anchor="b">
            <a:spAutoFit/>
          </a:bodyPr>
          <a:lstStyle/>
          <a:p>
            <a:pPr algn="ctr">
              <a:lnSpc>
                <a:spcPct val="100000"/>
              </a:lnSpc>
            </a:pPr>
            <a:r>
              <a:rPr sz="1500" b="1">
                <a:solidFill>
                  <a:srgbClr val="E8ECF3"/>
                </a:solidFill>
                <a:latin typeface="Helvetica Neue"/>
              </a:rPr>
              <a:t>Aya Ebrahim</a:t>
            </a:r>
          </a:p>
        </p:txBody>
      </p:sp>
      <p:sp>
        <p:nvSpPr>
          <p:cNvPr id="25" name="TextBox 24"/>
          <p:cNvSpPr txBox="1"/>
          <p:nvPr/>
        </p:nvSpPr>
        <p:spPr>
          <a:xfrm>
            <a:off x="9345168" y="4224528"/>
            <a:ext cx="1810512" cy="548640"/>
          </a:xfrm>
          <a:prstGeom prst="rect">
            <a:avLst/>
          </a:prstGeom>
          <a:noFill/>
        </p:spPr>
        <p:txBody>
          <a:bodyPr wrap="square">
            <a:spAutoFit/>
          </a:bodyPr>
          <a:lstStyle/>
          <a:p>
            <a:pPr algn="ctr">
              <a:lnSpc>
                <a:spcPct val="110000"/>
              </a:lnSpc>
            </a:pPr>
            <a:r>
              <a:rPr sz="1300" b="0">
                <a:solidFill>
                  <a:srgbClr val="8B97AB"/>
                </a:solidFill>
                <a:latin typeface="Helvetica Neue"/>
              </a:rPr>
              <a:t>Junior Testing Engineer</a:t>
            </a:r>
          </a:p>
        </p:txBody>
      </p:sp>
      <p:sp>
        <p:nvSpPr>
          <p:cNvPr id="26" name="TextBox 25"/>
          <p:cNvSpPr txBox="1"/>
          <p:nvPr/>
        </p:nvSpPr>
        <p:spPr>
          <a:xfrm>
            <a:off x="9345168" y="4828032"/>
            <a:ext cx="1810512" cy="274320"/>
          </a:xfrm>
          <a:prstGeom prst="rect">
            <a:avLst/>
          </a:prstGeom>
          <a:noFill/>
        </p:spPr>
        <p:txBody>
          <a:bodyPr wrap="square">
            <a:spAutoFit/>
          </a:bodyPr>
          <a:lstStyle/>
          <a:p>
            <a:pPr algn="ctr">
              <a:lnSpc>
                <a:spcPct val="100000"/>
              </a:lnSpc>
            </a:pPr>
            <a:r>
              <a:rPr sz="1100" b="1">
                <a:solidFill>
                  <a:srgbClr val="22D3EE"/>
                </a:solidFill>
                <a:latin typeface="Menlo"/>
              </a:rPr>
              <a:t>DIGILIANS ALUM</a:t>
            </a:r>
          </a:p>
        </p:txBody>
      </p:sp>
      <p:sp>
        <p:nvSpPr>
          <p:cNvPr id="55" name="TextBox 5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2</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7"/>
                                        </p:tgtEl>
                                        <p:attrNameLst>
                                          <p:attrName>style.visibility</p:attrName>
                                        </p:attrNameLst>
                                      </p:cBhvr>
                                      <p:to>
                                        <p:strVal val="visible"/>
                                      </p:to>
                                    </p:set>
                                    <p:animEffect transition="in" filter="fade">
                                      <p:cBhvr>
                                        <p:cTn id="14"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12"/>
                                        </p:tgtEl>
                                        <p:attrNameLst>
                                          <p:attrName>style.visibility</p:attrName>
                                        </p:attrNameLst>
                                      </p:cBhvr>
                                      <p:to>
                                        <p:strVal val="visible"/>
                                      </p:to>
                                    </p:set>
                                    <p:animEffect transition="in" filter="fade">
                                      <p:cBhvr>
                                        <p:cTn id="24" dur="45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16"/>
                                        </p:tgtEl>
                                        <p:attrNameLst>
                                          <p:attrName>style.visibility</p:attrName>
                                        </p:attrNameLst>
                                      </p:cBhvr>
                                      <p:to>
                                        <p:strVal val="visible"/>
                                      </p:to>
                                    </p:set>
                                    <p:animEffect transition="in" filter="fade">
                                      <p:cBhvr>
                                        <p:cTn id="34"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24"/>
                                        </p:tgtEl>
                                        <p:attrNameLst>
                                          <p:attrName>style.visibility</p:attrName>
                                        </p:attrNameLst>
                                      </p:cBhvr>
                                      <p:to>
                                        <p:strVal val="visible"/>
                                      </p:to>
                                    </p:set>
                                    <p:animEffect transition="in" filter="fade">
                                      <p:cBhvr>
                                        <p:cTn id="54"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AGENDA</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200" b="1">
                <a:solidFill>
                  <a:srgbClr val="E8ECF3"/>
                </a:solidFill>
                <a:latin typeface="Helvetica Neue"/>
              </a:rPr>
              <a:t>Twenty minutes, in this order</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548640" cy="329184"/>
          </a:xfrm>
          <a:prstGeom prst="rect">
            <a:avLst/>
          </a:prstGeom>
          <a:noFill/>
        </p:spPr>
        <p:txBody>
          <a:bodyPr wrap="square">
            <a:spAutoFit/>
          </a:bodyPr>
          <a:lstStyle/>
          <a:p>
            <a:pPr algn="l">
              <a:lnSpc>
                <a:spcPct val="120000"/>
              </a:lnSpc>
            </a:pPr>
            <a:r>
              <a:rPr sz="1400" b="1">
                <a:solidFill>
                  <a:srgbClr val="22D3EE"/>
                </a:solidFill>
                <a:latin typeface="Menlo"/>
              </a:rPr>
              <a:t>01</a:t>
            </a:r>
          </a:p>
        </p:txBody>
      </p:sp>
      <p:sp>
        <p:nvSpPr>
          <p:cNvPr id="7" name="TextBox 6"/>
          <p:cNvSpPr txBox="1"/>
          <p:nvPr/>
        </p:nvSpPr>
        <p:spPr>
          <a:xfrm>
            <a:off x="1645920" y="2103120"/>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Overview</a:t>
            </a:r>
          </a:p>
        </p:txBody>
      </p:sp>
      <p:sp>
        <p:nvSpPr>
          <p:cNvPr id="8" name="TextBox 7"/>
          <p:cNvSpPr txBox="1"/>
          <p:nvPr/>
        </p:nvSpPr>
        <p:spPr>
          <a:xfrm>
            <a:off x="4480560" y="2121408"/>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the problem, the pipeline, and why the gate is not a model</a:t>
            </a:r>
          </a:p>
        </p:txBody>
      </p:sp>
      <p:sp>
        <p:nvSpPr>
          <p:cNvPr id="9" name="TextBox 8"/>
          <p:cNvSpPr txBox="1"/>
          <p:nvPr/>
        </p:nvSpPr>
        <p:spPr>
          <a:xfrm>
            <a:off x="10058400" y="2121408"/>
            <a:ext cx="1097280" cy="329184"/>
          </a:xfrm>
          <a:prstGeom prst="rect">
            <a:avLst/>
          </a:prstGeom>
          <a:noFill/>
        </p:spPr>
        <p:txBody>
          <a:bodyPr wrap="square">
            <a:spAutoFit/>
          </a:bodyPr>
          <a:lstStyle/>
          <a:p>
            <a:pPr algn="r">
              <a:lnSpc>
                <a:spcPct val="100000"/>
              </a:lnSpc>
            </a:pPr>
            <a:r>
              <a:rPr sz="1300" b="0">
                <a:solidFill>
                  <a:srgbClr val="8B97AB"/>
                </a:solidFill>
                <a:latin typeface="Menlo"/>
              </a:rPr>
              <a:t>3 min</a:t>
            </a:r>
          </a:p>
        </p:txBody>
      </p:sp>
      <p:sp>
        <p:nvSpPr>
          <p:cNvPr id="10" name="TextBox 9"/>
          <p:cNvSpPr txBox="1"/>
          <p:nvPr/>
        </p:nvSpPr>
        <p:spPr>
          <a:xfrm>
            <a:off x="1005840" y="2596896"/>
            <a:ext cx="548640" cy="329184"/>
          </a:xfrm>
          <a:prstGeom prst="rect">
            <a:avLst/>
          </a:prstGeom>
          <a:noFill/>
        </p:spPr>
        <p:txBody>
          <a:bodyPr wrap="square">
            <a:spAutoFit/>
          </a:bodyPr>
          <a:lstStyle/>
          <a:p>
            <a:pPr algn="l">
              <a:lnSpc>
                <a:spcPct val="120000"/>
              </a:lnSpc>
            </a:pPr>
            <a:r>
              <a:rPr sz="1400" b="1">
                <a:solidFill>
                  <a:srgbClr val="22D3EE"/>
                </a:solidFill>
                <a:latin typeface="Menlo"/>
              </a:rPr>
              <a:t>02</a:t>
            </a:r>
          </a:p>
        </p:txBody>
      </p:sp>
      <p:sp>
        <p:nvSpPr>
          <p:cNvPr id="11" name="TextBox 10"/>
          <p:cNvSpPr txBox="1"/>
          <p:nvPr/>
        </p:nvSpPr>
        <p:spPr>
          <a:xfrm>
            <a:off x="1645920" y="2596896"/>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Architecture</a:t>
            </a:r>
          </a:p>
        </p:txBody>
      </p:sp>
      <p:sp>
        <p:nvSpPr>
          <p:cNvPr id="12" name="TextBox 11"/>
          <p:cNvSpPr txBox="1"/>
          <p:nvPr/>
        </p:nvSpPr>
        <p:spPr>
          <a:xfrm>
            <a:off x="4480560" y="2615184"/>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what runs where, on AWS and on GitHub</a:t>
            </a:r>
          </a:p>
        </p:txBody>
      </p:sp>
      <p:sp>
        <p:nvSpPr>
          <p:cNvPr id="13" name="TextBox 12"/>
          <p:cNvSpPr txBox="1"/>
          <p:nvPr/>
        </p:nvSpPr>
        <p:spPr>
          <a:xfrm>
            <a:off x="10058400" y="2615184"/>
            <a:ext cx="1097280" cy="329184"/>
          </a:xfrm>
          <a:prstGeom prst="rect">
            <a:avLst/>
          </a:prstGeom>
          <a:noFill/>
        </p:spPr>
        <p:txBody>
          <a:bodyPr wrap="square">
            <a:spAutoFit/>
          </a:bodyPr>
          <a:lstStyle/>
          <a:p>
            <a:pPr algn="r">
              <a:lnSpc>
                <a:spcPct val="100000"/>
              </a:lnSpc>
            </a:pPr>
            <a:r>
              <a:rPr sz="1300" b="0">
                <a:solidFill>
                  <a:srgbClr val="8B97AB"/>
                </a:solidFill>
                <a:latin typeface="Menlo"/>
              </a:rPr>
              <a:t>1 min</a:t>
            </a:r>
          </a:p>
        </p:txBody>
      </p:sp>
      <p:sp>
        <p:nvSpPr>
          <p:cNvPr id="14" name="TextBox 13"/>
          <p:cNvSpPr txBox="1"/>
          <p:nvPr/>
        </p:nvSpPr>
        <p:spPr>
          <a:xfrm>
            <a:off x="1005840" y="3090672"/>
            <a:ext cx="548640" cy="329184"/>
          </a:xfrm>
          <a:prstGeom prst="rect">
            <a:avLst/>
          </a:prstGeom>
          <a:noFill/>
        </p:spPr>
        <p:txBody>
          <a:bodyPr wrap="square">
            <a:spAutoFit/>
          </a:bodyPr>
          <a:lstStyle/>
          <a:p>
            <a:pPr algn="l">
              <a:lnSpc>
                <a:spcPct val="120000"/>
              </a:lnSpc>
            </a:pPr>
            <a:r>
              <a:rPr sz="1400" b="1">
                <a:solidFill>
                  <a:srgbClr val="22D3EE"/>
                </a:solidFill>
                <a:latin typeface="Menlo"/>
              </a:rPr>
              <a:t>03</a:t>
            </a:r>
          </a:p>
        </p:txBody>
      </p:sp>
      <p:sp>
        <p:nvSpPr>
          <p:cNvPr id="15" name="TextBox 14"/>
          <p:cNvSpPr txBox="1"/>
          <p:nvPr/>
        </p:nvSpPr>
        <p:spPr>
          <a:xfrm>
            <a:off x="1645920" y="3090672"/>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Business impact</a:t>
            </a:r>
          </a:p>
        </p:txBody>
      </p:sp>
      <p:sp>
        <p:nvSpPr>
          <p:cNvPr id="16" name="TextBox 15"/>
          <p:cNvSpPr txBox="1"/>
          <p:nvPr/>
        </p:nvSpPr>
        <p:spPr>
          <a:xfrm>
            <a:off x="4480560" y="3108960"/>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what a change costs, and what it buys</a:t>
            </a:r>
          </a:p>
        </p:txBody>
      </p:sp>
      <p:sp>
        <p:nvSpPr>
          <p:cNvPr id="17" name="TextBox 16"/>
          <p:cNvSpPr txBox="1"/>
          <p:nvPr/>
        </p:nvSpPr>
        <p:spPr>
          <a:xfrm>
            <a:off x="10058400" y="3108960"/>
            <a:ext cx="1097280" cy="329184"/>
          </a:xfrm>
          <a:prstGeom prst="rect">
            <a:avLst/>
          </a:prstGeom>
          <a:noFill/>
        </p:spPr>
        <p:txBody>
          <a:bodyPr wrap="square">
            <a:spAutoFit/>
          </a:bodyPr>
          <a:lstStyle/>
          <a:p>
            <a:pPr algn="r">
              <a:lnSpc>
                <a:spcPct val="100000"/>
              </a:lnSpc>
            </a:pPr>
            <a:r>
              <a:rPr sz="1300" b="0">
                <a:solidFill>
                  <a:srgbClr val="8B97AB"/>
                </a:solidFill>
                <a:latin typeface="Menlo"/>
              </a:rPr>
              <a:t>1 min</a:t>
            </a:r>
          </a:p>
        </p:txBody>
      </p:sp>
      <p:sp>
        <p:nvSpPr>
          <p:cNvPr id="18" name="TextBox 17"/>
          <p:cNvSpPr txBox="1"/>
          <p:nvPr/>
        </p:nvSpPr>
        <p:spPr>
          <a:xfrm>
            <a:off x="1005840" y="3584448"/>
            <a:ext cx="548640" cy="329184"/>
          </a:xfrm>
          <a:prstGeom prst="rect">
            <a:avLst/>
          </a:prstGeom>
          <a:noFill/>
        </p:spPr>
        <p:txBody>
          <a:bodyPr wrap="square">
            <a:spAutoFit/>
          </a:bodyPr>
          <a:lstStyle/>
          <a:p>
            <a:pPr algn="l">
              <a:lnSpc>
                <a:spcPct val="120000"/>
              </a:lnSpc>
            </a:pPr>
            <a:r>
              <a:rPr sz="1400" b="1">
                <a:solidFill>
                  <a:srgbClr val="22D3EE"/>
                </a:solidFill>
                <a:latin typeface="Menlo"/>
              </a:rPr>
              <a:t>04</a:t>
            </a:r>
          </a:p>
        </p:txBody>
      </p:sp>
      <p:sp>
        <p:nvSpPr>
          <p:cNvPr id="19" name="TextBox 18"/>
          <p:cNvSpPr txBox="1"/>
          <p:nvPr/>
        </p:nvSpPr>
        <p:spPr>
          <a:xfrm>
            <a:off x="1645920" y="3584448"/>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Differentiation</a:t>
            </a:r>
          </a:p>
        </p:txBody>
      </p:sp>
      <p:sp>
        <p:nvSpPr>
          <p:cNvPr id="20" name="TextBox 19"/>
          <p:cNvSpPr txBox="1"/>
          <p:nvPr/>
        </p:nvSpPr>
        <p:spPr>
          <a:xfrm>
            <a:off x="4480560" y="3602736"/>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what vendors say about their own AI review</a:t>
            </a:r>
          </a:p>
        </p:txBody>
      </p:sp>
      <p:sp>
        <p:nvSpPr>
          <p:cNvPr id="21" name="TextBox 20"/>
          <p:cNvSpPr txBox="1"/>
          <p:nvPr/>
        </p:nvSpPr>
        <p:spPr>
          <a:xfrm>
            <a:off x="10058400" y="3602736"/>
            <a:ext cx="1097280" cy="329184"/>
          </a:xfrm>
          <a:prstGeom prst="rect">
            <a:avLst/>
          </a:prstGeom>
          <a:noFill/>
        </p:spPr>
        <p:txBody>
          <a:bodyPr wrap="square">
            <a:spAutoFit/>
          </a:bodyPr>
          <a:lstStyle/>
          <a:p>
            <a:pPr algn="r">
              <a:lnSpc>
                <a:spcPct val="100000"/>
              </a:lnSpc>
            </a:pPr>
            <a:r>
              <a:rPr sz="1300" b="0">
                <a:solidFill>
                  <a:srgbClr val="8B97AB"/>
                </a:solidFill>
                <a:latin typeface="Menlo"/>
              </a:rPr>
              <a:t>1 min</a:t>
            </a:r>
          </a:p>
        </p:txBody>
      </p:sp>
      <p:sp>
        <p:nvSpPr>
          <p:cNvPr id="22" name="TextBox 21"/>
          <p:cNvSpPr txBox="1"/>
          <p:nvPr/>
        </p:nvSpPr>
        <p:spPr>
          <a:xfrm>
            <a:off x="1005840" y="4078224"/>
            <a:ext cx="548640" cy="329184"/>
          </a:xfrm>
          <a:prstGeom prst="rect">
            <a:avLst/>
          </a:prstGeom>
          <a:noFill/>
        </p:spPr>
        <p:txBody>
          <a:bodyPr wrap="square">
            <a:spAutoFit/>
          </a:bodyPr>
          <a:lstStyle/>
          <a:p>
            <a:pPr algn="l">
              <a:lnSpc>
                <a:spcPct val="120000"/>
              </a:lnSpc>
            </a:pPr>
            <a:r>
              <a:rPr sz="1400" b="1">
                <a:solidFill>
                  <a:srgbClr val="22D3EE"/>
                </a:solidFill>
                <a:latin typeface="Menlo"/>
              </a:rPr>
              <a:t>05</a:t>
            </a:r>
          </a:p>
        </p:txBody>
      </p:sp>
      <p:sp>
        <p:nvSpPr>
          <p:cNvPr id="23" name="TextBox 22"/>
          <p:cNvSpPr txBox="1"/>
          <p:nvPr/>
        </p:nvSpPr>
        <p:spPr>
          <a:xfrm>
            <a:off x="1645920" y="4078224"/>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Progress</a:t>
            </a:r>
          </a:p>
        </p:txBody>
      </p:sp>
      <p:sp>
        <p:nvSpPr>
          <p:cNvPr id="24" name="TextBox 23"/>
          <p:cNvSpPr txBox="1"/>
          <p:nvPr/>
        </p:nvSpPr>
        <p:spPr>
          <a:xfrm>
            <a:off x="4480560" y="4096512"/>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what is built, your ten notes, and what it does not do</a:t>
            </a:r>
          </a:p>
        </p:txBody>
      </p:sp>
      <p:sp>
        <p:nvSpPr>
          <p:cNvPr id="25" name="TextBox 24"/>
          <p:cNvSpPr txBox="1"/>
          <p:nvPr/>
        </p:nvSpPr>
        <p:spPr>
          <a:xfrm>
            <a:off x="10058400" y="4096512"/>
            <a:ext cx="1097280" cy="329184"/>
          </a:xfrm>
          <a:prstGeom prst="rect">
            <a:avLst/>
          </a:prstGeom>
          <a:noFill/>
        </p:spPr>
        <p:txBody>
          <a:bodyPr wrap="square">
            <a:spAutoFit/>
          </a:bodyPr>
          <a:lstStyle/>
          <a:p>
            <a:pPr algn="r">
              <a:lnSpc>
                <a:spcPct val="100000"/>
              </a:lnSpc>
            </a:pPr>
            <a:r>
              <a:rPr sz="1300" b="0">
                <a:solidFill>
                  <a:srgbClr val="8B97AB"/>
                </a:solidFill>
                <a:latin typeface="Menlo"/>
              </a:rPr>
              <a:t>2 min</a:t>
            </a:r>
          </a:p>
        </p:txBody>
      </p:sp>
      <p:sp>
        <p:nvSpPr>
          <p:cNvPr id="26" name="TextBox 25"/>
          <p:cNvSpPr txBox="1"/>
          <p:nvPr/>
        </p:nvSpPr>
        <p:spPr>
          <a:xfrm>
            <a:off x="1005840" y="4572000"/>
            <a:ext cx="548640" cy="329184"/>
          </a:xfrm>
          <a:prstGeom prst="rect">
            <a:avLst/>
          </a:prstGeom>
          <a:noFill/>
        </p:spPr>
        <p:txBody>
          <a:bodyPr wrap="square">
            <a:spAutoFit/>
          </a:bodyPr>
          <a:lstStyle/>
          <a:p>
            <a:pPr algn="l">
              <a:lnSpc>
                <a:spcPct val="120000"/>
              </a:lnSpc>
            </a:pPr>
            <a:r>
              <a:rPr sz="1400" b="1">
                <a:solidFill>
                  <a:srgbClr val="22D3EE"/>
                </a:solidFill>
                <a:latin typeface="Menlo"/>
              </a:rPr>
              <a:t>06</a:t>
            </a:r>
          </a:p>
        </p:txBody>
      </p:sp>
      <p:sp>
        <p:nvSpPr>
          <p:cNvPr id="27" name="TextBox 26"/>
          <p:cNvSpPr txBox="1"/>
          <p:nvPr/>
        </p:nvSpPr>
        <p:spPr>
          <a:xfrm>
            <a:off x="1645920" y="4572000"/>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Future work</a:t>
            </a:r>
          </a:p>
        </p:txBody>
      </p:sp>
      <p:sp>
        <p:nvSpPr>
          <p:cNvPr id="28" name="TextBox 27"/>
          <p:cNvSpPr txBox="1"/>
          <p:nvPr/>
        </p:nvSpPr>
        <p:spPr>
          <a:xfrm>
            <a:off x="4480560" y="4590288"/>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what is next</a:t>
            </a:r>
          </a:p>
        </p:txBody>
      </p:sp>
      <p:sp>
        <p:nvSpPr>
          <p:cNvPr id="29" name="TextBox 28"/>
          <p:cNvSpPr txBox="1"/>
          <p:nvPr/>
        </p:nvSpPr>
        <p:spPr>
          <a:xfrm>
            <a:off x="10058400" y="4590288"/>
            <a:ext cx="1097280" cy="329184"/>
          </a:xfrm>
          <a:prstGeom prst="rect">
            <a:avLst/>
          </a:prstGeom>
          <a:noFill/>
        </p:spPr>
        <p:txBody>
          <a:bodyPr wrap="square">
            <a:spAutoFit/>
          </a:bodyPr>
          <a:lstStyle/>
          <a:p>
            <a:pPr algn="r">
              <a:lnSpc>
                <a:spcPct val="100000"/>
              </a:lnSpc>
            </a:pPr>
            <a:r>
              <a:rPr sz="1300" b="0">
                <a:solidFill>
                  <a:srgbClr val="8B97AB"/>
                </a:solidFill>
                <a:latin typeface="Menlo"/>
              </a:rPr>
              <a:t>1 min</a:t>
            </a:r>
          </a:p>
        </p:txBody>
      </p:sp>
      <p:sp>
        <p:nvSpPr>
          <p:cNvPr id="30" name="TextBox 29"/>
          <p:cNvSpPr txBox="1"/>
          <p:nvPr/>
        </p:nvSpPr>
        <p:spPr>
          <a:xfrm>
            <a:off x="1005840" y="5065776"/>
            <a:ext cx="548640" cy="329184"/>
          </a:xfrm>
          <a:prstGeom prst="rect">
            <a:avLst/>
          </a:prstGeom>
          <a:noFill/>
        </p:spPr>
        <p:txBody>
          <a:bodyPr wrap="square">
            <a:spAutoFit/>
          </a:bodyPr>
          <a:lstStyle/>
          <a:p>
            <a:pPr algn="l">
              <a:lnSpc>
                <a:spcPct val="120000"/>
              </a:lnSpc>
            </a:pPr>
            <a:r>
              <a:rPr sz="1400" b="1">
                <a:solidFill>
                  <a:srgbClr val="22D3EE"/>
                </a:solidFill>
                <a:latin typeface="Menlo"/>
              </a:rPr>
              <a:t>07</a:t>
            </a:r>
          </a:p>
        </p:txBody>
      </p:sp>
      <p:sp>
        <p:nvSpPr>
          <p:cNvPr id="31" name="TextBox 30"/>
          <p:cNvSpPr txBox="1"/>
          <p:nvPr/>
        </p:nvSpPr>
        <p:spPr>
          <a:xfrm>
            <a:off x="1645920" y="5065776"/>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Live demonstration</a:t>
            </a:r>
          </a:p>
        </p:txBody>
      </p:sp>
      <p:sp>
        <p:nvSpPr>
          <p:cNvPr id="32" name="TextBox 31"/>
          <p:cNvSpPr txBox="1"/>
          <p:nvPr/>
        </p:nvSpPr>
        <p:spPr>
          <a:xfrm>
            <a:off x="4480560" y="5084064"/>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a ticket that carries a credential, refused</a:t>
            </a:r>
          </a:p>
        </p:txBody>
      </p:sp>
      <p:sp>
        <p:nvSpPr>
          <p:cNvPr id="33" name="TextBox 32"/>
          <p:cNvSpPr txBox="1"/>
          <p:nvPr/>
        </p:nvSpPr>
        <p:spPr>
          <a:xfrm>
            <a:off x="10058400" y="5084064"/>
            <a:ext cx="1097280" cy="329184"/>
          </a:xfrm>
          <a:prstGeom prst="rect">
            <a:avLst/>
          </a:prstGeom>
          <a:noFill/>
        </p:spPr>
        <p:txBody>
          <a:bodyPr wrap="square">
            <a:spAutoFit/>
          </a:bodyPr>
          <a:lstStyle/>
          <a:p>
            <a:pPr algn="r">
              <a:lnSpc>
                <a:spcPct val="100000"/>
              </a:lnSpc>
            </a:pPr>
            <a:r>
              <a:rPr sz="1300" b="0">
                <a:solidFill>
                  <a:srgbClr val="8B97AB"/>
                </a:solidFill>
                <a:latin typeface="Menlo"/>
              </a:rPr>
              <a:t>5 min</a:t>
            </a:r>
          </a:p>
        </p:txBody>
      </p:sp>
      <p:sp>
        <p:nvSpPr>
          <p:cNvPr id="34" name="TextBox 33"/>
          <p:cNvSpPr txBox="1"/>
          <p:nvPr/>
        </p:nvSpPr>
        <p:spPr>
          <a:xfrm>
            <a:off x="1005840" y="5559552"/>
            <a:ext cx="548640" cy="329184"/>
          </a:xfrm>
          <a:prstGeom prst="rect">
            <a:avLst/>
          </a:prstGeom>
          <a:noFill/>
        </p:spPr>
        <p:txBody>
          <a:bodyPr wrap="square">
            <a:spAutoFit/>
          </a:bodyPr>
          <a:lstStyle/>
          <a:p>
            <a:pPr algn="l">
              <a:lnSpc>
                <a:spcPct val="120000"/>
              </a:lnSpc>
            </a:pPr>
            <a:r>
              <a:rPr sz="1400" b="1">
                <a:solidFill>
                  <a:srgbClr val="22D3EE"/>
                </a:solidFill>
                <a:latin typeface="Menlo"/>
              </a:rPr>
              <a:t>08</a:t>
            </a:r>
          </a:p>
        </p:txBody>
      </p:sp>
      <p:sp>
        <p:nvSpPr>
          <p:cNvPr id="35" name="TextBox 34"/>
          <p:cNvSpPr txBox="1"/>
          <p:nvPr/>
        </p:nvSpPr>
        <p:spPr>
          <a:xfrm>
            <a:off x="1645920" y="5559552"/>
            <a:ext cx="2743200" cy="329184"/>
          </a:xfrm>
          <a:prstGeom prst="rect">
            <a:avLst/>
          </a:prstGeom>
          <a:noFill/>
        </p:spPr>
        <p:txBody>
          <a:bodyPr wrap="square">
            <a:spAutoFit/>
          </a:bodyPr>
          <a:lstStyle/>
          <a:p>
            <a:pPr algn="l">
              <a:lnSpc>
                <a:spcPct val="100000"/>
              </a:lnSpc>
            </a:pPr>
            <a:r>
              <a:rPr sz="1600" b="1">
                <a:solidFill>
                  <a:srgbClr val="E8ECF3"/>
                </a:solidFill>
                <a:latin typeface="Helvetica Neue"/>
              </a:rPr>
              <a:t>Questions</a:t>
            </a:r>
          </a:p>
        </p:txBody>
      </p:sp>
      <p:sp>
        <p:nvSpPr>
          <p:cNvPr id="36" name="TextBox 35"/>
          <p:cNvSpPr txBox="1"/>
          <p:nvPr/>
        </p:nvSpPr>
        <p:spPr>
          <a:xfrm>
            <a:off x="4480560" y="5577840"/>
            <a:ext cx="5486400" cy="329184"/>
          </a:xfrm>
          <a:prstGeom prst="rect">
            <a:avLst/>
          </a:prstGeom>
          <a:noFill/>
        </p:spPr>
        <p:txBody>
          <a:bodyPr wrap="square">
            <a:spAutoFit/>
          </a:bodyPr>
          <a:lstStyle/>
          <a:p>
            <a:pPr algn="l">
              <a:lnSpc>
                <a:spcPct val="100000"/>
              </a:lnSpc>
            </a:pPr>
            <a:r>
              <a:rPr sz="1400" b="0">
                <a:solidFill>
                  <a:srgbClr val="8B97AB"/>
                </a:solidFill>
                <a:latin typeface="Helvetica Neue"/>
              </a:rPr>
              <a:t>the rest of the slot is yours</a:t>
            </a:r>
          </a:p>
        </p:txBody>
      </p:sp>
      <p:sp>
        <p:nvSpPr>
          <p:cNvPr id="37" name="TextBox 36"/>
          <p:cNvSpPr txBox="1"/>
          <p:nvPr/>
        </p:nvSpPr>
        <p:spPr>
          <a:xfrm>
            <a:off x="10058400" y="5577840"/>
            <a:ext cx="1097280" cy="329184"/>
          </a:xfrm>
          <a:prstGeom prst="rect">
            <a:avLst/>
          </a:prstGeom>
          <a:noFill/>
        </p:spPr>
        <p:txBody>
          <a:bodyPr wrap="square">
            <a:spAutoFit/>
          </a:bodyPr>
          <a:lstStyle/>
          <a:p>
            <a:pPr algn="r">
              <a:lnSpc>
                <a:spcPct val="100000"/>
              </a:lnSpc>
            </a:pPr>
            <a:r>
              <a:rPr sz="1300" b="0">
                <a:solidFill>
                  <a:srgbClr val="8B97AB"/>
                </a:solidFill>
                <a:latin typeface="Menlo"/>
              </a:rPr>
              <a:t>5 min</a:t>
            </a:r>
          </a:p>
        </p:txBody>
      </p:sp>
      <p:sp>
        <p:nvSpPr>
          <p:cNvPr id="38" name="TextBox 37"/>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3</a:t>
            </a:r>
          </a:p>
        </p:txBody>
      </p:sp>
    </p:spTree>
  </p:cSld>
  <p:clrMapOvr>
    <a:masterClrMapping/>
  </p:clrMapOvr>
  <p:transition spd="med">
    <p:wipe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OVERVIEW</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200" b="1">
                <a:solidFill>
                  <a:srgbClr val="E8ECF3"/>
                </a:solidFill>
                <a:latin typeface="Helvetica Neue"/>
              </a:rPr>
              <a:t>An agent can write the code. Who checks it?</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10149840" cy="841248"/>
          </a:xfrm>
          <a:prstGeom prst="rect">
            <a:avLst/>
          </a:prstGeom>
          <a:noFill/>
        </p:spPr>
        <p:txBody>
          <a:bodyPr wrap="square">
            <a:spAutoFit/>
          </a:bodyPr>
          <a:lstStyle/>
          <a:p>
            <a:pPr algn="l">
              <a:lnSpc>
                <a:spcPct val="120000"/>
              </a:lnSpc>
            </a:pPr>
            <a:r>
              <a:rPr sz="1800" b="0">
                <a:solidFill>
                  <a:srgbClr val="E8ECF3"/>
                </a:solidFill>
                <a:latin typeface="Helvetica Neue"/>
              </a:rPr>
              <a:t>Coding agents now open pull requests without a person in the loop. The reviewer of that change is increasingly another model.</a:t>
            </a:r>
          </a:p>
        </p:txBody>
      </p:sp>
      <p:sp>
        <p:nvSpPr>
          <p:cNvPr id="7" name="TextBox 6"/>
          <p:cNvSpPr txBox="1"/>
          <p:nvPr/>
        </p:nvSpPr>
        <p:spPr>
          <a:xfrm>
            <a:off x="1005840" y="3127248"/>
            <a:ext cx="10149840" cy="841248"/>
          </a:xfrm>
          <a:prstGeom prst="rect">
            <a:avLst/>
          </a:prstGeom>
          <a:noFill/>
        </p:spPr>
        <p:txBody>
          <a:bodyPr wrap="square">
            <a:spAutoFit/>
          </a:bodyPr>
          <a:lstStyle/>
          <a:p>
            <a:pPr algn="l">
              <a:lnSpc>
                <a:spcPct val="120000"/>
              </a:lnSpc>
            </a:pPr>
            <a:r>
              <a:rPr sz="1800" b="0">
                <a:solidFill>
                  <a:srgbClr val="E8ECF3"/>
                </a:solidFill>
                <a:latin typeface="Helvetica Neue"/>
              </a:rPr>
              <a:t>A model can be persuaded, distracted or prompt-injected. It is the wrong thing to place between a committed credential and the main branch.</a:t>
            </a:r>
          </a:p>
        </p:txBody>
      </p:sp>
      <p:sp>
        <p:nvSpPr>
          <p:cNvPr id="8" name="TextBox 7"/>
          <p:cNvSpPr txBox="1"/>
          <p:nvPr/>
        </p:nvSpPr>
        <p:spPr>
          <a:xfrm>
            <a:off x="1005840" y="3968496"/>
            <a:ext cx="10149840" cy="841248"/>
          </a:xfrm>
          <a:prstGeom prst="rect">
            <a:avLst/>
          </a:prstGeom>
          <a:noFill/>
        </p:spPr>
        <p:txBody>
          <a:bodyPr wrap="square">
            <a:spAutoFit/>
          </a:bodyPr>
          <a:lstStyle/>
          <a:p>
            <a:pPr algn="l">
              <a:lnSpc>
                <a:spcPct val="120000"/>
              </a:lnSpc>
            </a:pPr>
            <a:r>
              <a:rPr sz="1800" b="0">
                <a:solidFill>
                  <a:srgbClr val="E8ECF3"/>
                </a:solidFill>
                <a:latin typeface="Helvetica Neue"/>
              </a:rPr>
              <a:t>Measured on this project's own baseline: with no checks in the loop, a poisoned change reached the branch every time it was tried.</a:t>
            </a:r>
          </a:p>
        </p:txBody>
      </p:sp>
      <p:sp>
        <p:nvSpPr>
          <p:cNvPr id="9" name="TextBox 8"/>
          <p:cNvSpPr txBox="1"/>
          <p:nvPr/>
        </p:nvSpPr>
        <p:spPr>
          <a:xfrm>
            <a:off x="1005840" y="5394960"/>
            <a:ext cx="10058400" cy="822960"/>
          </a:xfrm>
          <a:prstGeom prst="rect">
            <a:avLst/>
          </a:prstGeom>
          <a:noFill/>
        </p:spPr>
        <p:txBody>
          <a:bodyPr wrap="square">
            <a:spAutoFit/>
          </a:bodyPr>
          <a:lstStyle/>
          <a:p>
            <a:pPr algn="l">
              <a:lnSpc>
                <a:spcPct val="130000"/>
              </a:lnSpc>
            </a:pPr>
            <a:r>
              <a:rPr sz="1800" b="1">
                <a:solidFill>
                  <a:srgbClr val="E8ECF3"/>
                </a:solidFill>
                <a:latin typeface="Helvetica Neue"/>
              </a:rPr>
              <a:t>The question is not whether an agent can write the change. It is what stands between that change and production.</a:t>
            </a:r>
          </a:p>
        </p:txBody>
      </p:sp>
      <p:sp>
        <p:nvSpPr>
          <p:cNvPr id="45" name="TextBox 4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4</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7"/>
                                        </p:tgtEl>
                                        <p:attrNameLst>
                                          <p:attrName>style.visibility</p:attrName>
                                        </p:attrNameLst>
                                      </p:cBhvr>
                                      <p:to>
                                        <p:strVal val="visible"/>
                                      </p:to>
                                    </p:set>
                                    <p:animEffect transition="in" filter="fade">
                                      <p:cBhvr>
                                        <p:cTn id="24" dur="45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8"/>
                                        </p:tgtEl>
                                        <p:attrNameLst>
                                          <p:attrName>style.visibility</p:attrName>
                                        </p:attrNameLst>
                                      </p:cBhvr>
                                      <p:to>
                                        <p:strVal val="visible"/>
                                      </p:to>
                                    </p:set>
                                    <p:animEffect transition="in" filter="fade">
                                      <p:cBhvr>
                                        <p:cTn id="34" dur="45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9"/>
                                        </p:tgtEl>
                                        <p:attrNameLst>
                                          <p:attrName>style.visibility</p:attrName>
                                        </p:attrNameLst>
                                      </p:cBhvr>
                                      <p:to>
                                        <p:strVal val="visible"/>
                                      </p:to>
                                    </p:set>
                                    <p:animEffect transition="in" filter="fade">
                                      <p:cBhvr>
                                        <p:cTn id="44"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OVERVIEW</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200" b="1">
                <a:solidFill>
                  <a:srgbClr val="E8ECF3"/>
                </a:solidFill>
                <a:latin typeface="Helvetica Neue"/>
              </a:rPr>
              <a:t>Nine stages. Three of them are people.</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10284" y="228600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29156" y="233629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plan</a:t>
            </a:r>
          </a:p>
        </p:txBody>
      </p:sp>
      <p:sp>
        <p:nvSpPr>
          <p:cNvPr id="9" name="Oval 8"/>
          <p:cNvSpPr/>
          <p:nvPr/>
        </p:nvSpPr>
        <p:spPr>
          <a:xfrm>
            <a:off x="2610612" y="2286000"/>
            <a:ext cx="173736" cy="173736"/>
          </a:xfrm>
          <a:prstGeom prst="ellipse">
            <a:avLst/>
          </a:prstGeom>
          <a:solidFill>
            <a:srgbClr val="0B0F17"/>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84348" y="2363724"/>
            <a:ext cx="954024"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3360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gate1</a:t>
            </a:r>
          </a:p>
        </p:txBody>
      </p:sp>
      <p:sp>
        <p:nvSpPr>
          <p:cNvPr id="12" name="Oval 11"/>
          <p:cNvSpPr/>
          <p:nvPr/>
        </p:nvSpPr>
        <p:spPr>
          <a:xfrm>
            <a:off x="3765804" y="228600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84676" y="233629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136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develop</a:t>
            </a:r>
          </a:p>
        </p:txBody>
      </p:sp>
      <p:sp>
        <p:nvSpPr>
          <p:cNvPr id="15" name="Oval 14"/>
          <p:cNvSpPr/>
          <p:nvPr/>
        </p:nvSpPr>
        <p:spPr>
          <a:xfrm>
            <a:off x="4893564" y="228600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12436" y="233629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review</a:t>
            </a:r>
          </a:p>
        </p:txBody>
      </p:sp>
      <p:sp>
        <p:nvSpPr>
          <p:cNvPr id="18" name="Oval 17"/>
          <p:cNvSpPr/>
          <p:nvPr/>
        </p:nvSpPr>
        <p:spPr>
          <a:xfrm>
            <a:off x="6021324" y="228600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0196" y="233629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1688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security</a:t>
            </a:r>
          </a:p>
        </p:txBody>
      </p:sp>
      <p:sp>
        <p:nvSpPr>
          <p:cNvPr id="21" name="Oval 20"/>
          <p:cNvSpPr/>
          <p:nvPr/>
        </p:nvSpPr>
        <p:spPr>
          <a:xfrm>
            <a:off x="7121652" y="2286000"/>
            <a:ext cx="173736" cy="173736"/>
          </a:xfrm>
          <a:prstGeom prst="ellipse">
            <a:avLst/>
          </a:prstGeom>
          <a:solidFill>
            <a:srgbClr val="0B0F17"/>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95388" y="2363724"/>
            <a:ext cx="954024"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464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gate2</a:t>
            </a:r>
          </a:p>
        </p:txBody>
      </p:sp>
      <p:sp>
        <p:nvSpPr>
          <p:cNvPr id="24" name="Oval 23"/>
          <p:cNvSpPr/>
          <p:nvPr/>
        </p:nvSpPr>
        <p:spPr>
          <a:xfrm>
            <a:off x="8276844" y="228600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5716" y="233629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sre</a:t>
            </a:r>
          </a:p>
        </p:txBody>
      </p:sp>
      <p:sp>
        <p:nvSpPr>
          <p:cNvPr id="27" name="Oval 26"/>
          <p:cNvSpPr/>
          <p:nvPr/>
        </p:nvSpPr>
        <p:spPr>
          <a:xfrm>
            <a:off x="9377172" y="2286000"/>
            <a:ext cx="173736" cy="173736"/>
          </a:xfrm>
          <a:prstGeom prst="ellipse">
            <a:avLst/>
          </a:prstGeom>
          <a:solidFill>
            <a:srgbClr val="0B0F17"/>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50908" y="2363724"/>
            <a:ext cx="954024"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0016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gate3</a:t>
            </a:r>
          </a:p>
        </p:txBody>
      </p:sp>
      <p:sp>
        <p:nvSpPr>
          <p:cNvPr id="30" name="Oval 29"/>
          <p:cNvSpPr/>
          <p:nvPr/>
        </p:nvSpPr>
        <p:spPr>
          <a:xfrm>
            <a:off x="10532364" y="228600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27920" y="2596896"/>
            <a:ext cx="1127760" cy="274320"/>
          </a:xfrm>
          <a:prstGeom prst="rect">
            <a:avLst/>
          </a:prstGeom>
          <a:noFill/>
        </p:spPr>
        <p:txBody>
          <a:bodyPr wrap="square">
            <a:spAutoFit/>
          </a:bodyPr>
          <a:lstStyle/>
          <a:p>
            <a:pPr algn="ctr">
              <a:lnSpc>
                <a:spcPct val="100000"/>
              </a:lnSpc>
            </a:pPr>
            <a:r>
              <a:rPr sz="1100" b="0">
                <a:solidFill>
                  <a:srgbClr val="E8ECF3"/>
                </a:solidFill>
                <a:latin typeface="Menlo"/>
              </a:rPr>
              <a:t>promote</a:t>
            </a:r>
          </a:p>
        </p:txBody>
      </p:sp>
      <p:sp>
        <p:nvSpPr>
          <p:cNvPr id="32" name="TextBox 31"/>
          <p:cNvSpPr txBox="1"/>
          <p:nvPr/>
        </p:nvSpPr>
        <p:spPr>
          <a:xfrm>
            <a:off x="1005840" y="3063240"/>
            <a:ext cx="10058400" cy="640080"/>
          </a:xfrm>
          <a:prstGeom prst="rect">
            <a:avLst/>
          </a:prstGeom>
          <a:noFill/>
        </p:spPr>
        <p:txBody>
          <a:bodyPr wrap="square">
            <a:spAutoFit/>
          </a:bodyPr>
          <a:lstStyle/>
          <a:p>
            <a:pPr algn="l">
              <a:lnSpc>
                <a:spcPct val="130000"/>
              </a:lnSpc>
            </a:pPr>
            <a:r>
              <a:rPr sz="1500" b="0">
                <a:solidFill>
                  <a:srgbClr val="8B97AB"/>
                </a:solidFill>
                <a:latin typeface="Helvetica Neue"/>
              </a:rPr>
              <a:t>A filled dot is an agent. A ring is a gate: the pipeline stops there until a named person approves it.</a:t>
            </a:r>
          </a:p>
        </p:txBody>
      </p:sp>
      <p:sp>
        <p:nvSpPr>
          <p:cNvPr id="33" name="Rectangle 32"/>
          <p:cNvSpPr/>
          <p:nvPr/>
        </p:nvSpPr>
        <p:spPr>
          <a:xfrm>
            <a:off x="1005840" y="3886200"/>
            <a:ext cx="3224784" cy="1828800"/>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88720" y="4032504"/>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Five agents</a:t>
            </a:r>
          </a:p>
        </p:txBody>
      </p:sp>
      <p:sp>
        <p:nvSpPr>
          <p:cNvPr id="35" name="TextBox 34"/>
          <p:cNvSpPr txBox="1"/>
          <p:nvPr/>
        </p:nvSpPr>
        <p:spPr>
          <a:xfrm>
            <a:off x="1188720" y="4562856"/>
            <a:ext cx="2859024" cy="1005840"/>
          </a:xfrm>
          <a:prstGeom prst="rect">
            <a:avLst/>
          </a:prstGeom>
          <a:noFill/>
        </p:spPr>
        <p:txBody>
          <a:bodyPr wrap="square">
            <a:spAutoFit/>
          </a:bodyPr>
          <a:lstStyle/>
          <a:p>
            <a:pPr algn="l">
              <a:lnSpc>
                <a:spcPct val="130000"/>
              </a:lnSpc>
            </a:pPr>
            <a:r>
              <a:rPr sz="1300" b="0">
                <a:solidFill>
                  <a:srgbClr val="8B97AB"/>
                </a:solidFill>
                <a:latin typeface="Helvetica Neue"/>
              </a:rPr>
              <a:t>planner, developer, reviewer, security and SRE, each in its own isolated runtime on AWS.</a:t>
            </a:r>
          </a:p>
        </p:txBody>
      </p:sp>
      <p:sp>
        <p:nvSpPr>
          <p:cNvPr id="36" name="Rectangle 35"/>
          <p:cNvSpPr/>
          <p:nvPr/>
        </p:nvSpPr>
        <p:spPr>
          <a:xfrm>
            <a:off x="4468368" y="3886200"/>
            <a:ext cx="3224784" cy="1828800"/>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51248" y="4032504"/>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Three human gates</a:t>
            </a:r>
          </a:p>
        </p:txBody>
      </p:sp>
      <p:sp>
        <p:nvSpPr>
          <p:cNvPr id="38" name="TextBox 37"/>
          <p:cNvSpPr txBox="1"/>
          <p:nvPr/>
        </p:nvSpPr>
        <p:spPr>
          <a:xfrm>
            <a:off x="4651248" y="4562856"/>
            <a:ext cx="2859024" cy="1005840"/>
          </a:xfrm>
          <a:prstGeom prst="rect">
            <a:avLst/>
          </a:prstGeom>
          <a:noFill/>
        </p:spPr>
        <p:txBody>
          <a:bodyPr wrap="square">
            <a:spAutoFit/>
          </a:bodyPr>
          <a:lstStyle/>
          <a:p>
            <a:pPr algn="l">
              <a:lnSpc>
                <a:spcPct val="130000"/>
              </a:lnSpc>
            </a:pPr>
            <a:r>
              <a:rPr sz="1300" b="0">
                <a:solidFill>
                  <a:srgbClr val="8B97AB"/>
                </a:solidFill>
                <a:latin typeface="Helvetica Neue"/>
              </a:rPr>
              <a:t>a required reviewer in GitHub. The run waits at each gate until a named person approves it.</a:t>
            </a:r>
          </a:p>
        </p:txBody>
      </p:sp>
      <p:sp>
        <p:nvSpPr>
          <p:cNvPr id="39" name="Rectangle 38"/>
          <p:cNvSpPr/>
          <p:nvPr/>
        </p:nvSpPr>
        <p:spPr>
          <a:xfrm>
            <a:off x="7930896" y="3886200"/>
            <a:ext cx="3224784" cy="1828800"/>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13776" y="4032504"/>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One rule that is not a model</a:t>
            </a:r>
          </a:p>
        </p:txBody>
      </p:sp>
      <p:sp>
        <p:nvSpPr>
          <p:cNvPr id="41" name="TextBox 40"/>
          <p:cNvSpPr txBox="1"/>
          <p:nvPr/>
        </p:nvSpPr>
        <p:spPr>
          <a:xfrm>
            <a:off x="8113776" y="4562856"/>
            <a:ext cx="2859024" cy="1005840"/>
          </a:xfrm>
          <a:prstGeom prst="rect">
            <a:avLst/>
          </a:prstGeom>
          <a:noFill/>
        </p:spPr>
        <p:txBody>
          <a:bodyPr wrap="square">
            <a:spAutoFit/>
          </a:bodyPr>
          <a:lstStyle/>
          <a:p>
            <a:pPr algn="l">
              <a:lnSpc>
                <a:spcPct val="130000"/>
              </a:lnSpc>
            </a:pPr>
            <a:r>
              <a:rPr sz="1300" b="0">
                <a:solidFill>
                  <a:srgbClr val="8B97AB"/>
                </a:solidFill>
                <a:latin typeface="Helvetica Neue"/>
              </a:rPr>
              <a:t>three scanners and a fixed severity threshold. Same input, same answer, every time.</a:t>
            </a:r>
          </a:p>
        </p:txBody>
      </p:sp>
      <p:sp>
        <p:nvSpPr>
          <p:cNvPr id="285" name="TextBox 28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5</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8"/>
                                        </p:tgtEl>
                                        <p:attrNameLst>
                                          <p:attrName>style.visibility</p:attrName>
                                        </p:attrNameLst>
                                      </p:cBhvr>
                                      <p:to>
                                        <p:strVal val="visible"/>
                                      </p:to>
                                    </p:set>
                                    <p:animEffect transition="in" filter="fade">
                                      <p:cBhvr>
                                        <p:cTn id="24"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9"/>
                                        </p:tgtEl>
                                        <p:attrNameLst>
                                          <p:attrName>style.visibility</p:attrName>
                                        </p:attrNameLst>
                                      </p:cBhvr>
                                      <p:to>
                                        <p:strVal val="visible"/>
                                      </p:to>
                                    </p:set>
                                    <p:animEffect transition="in" filter="fade">
                                      <p:cBhvr>
                                        <p:cTn id="34"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11"/>
                                        </p:tgtEl>
                                        <p:attrNameLst>
                                          <p:attrName>style.visibility</p:attrName>
                                        </p:attrNameLst>
                                      </p:cBhvr>
                                      <p:to>
                                        <p:strVal val="visible"/>
                                      </p:to>
                                    </p:set>
                                    <p:animEffect transition="in" filter="fade">
                                      <p:cBhvr>
                                        <p:cTn id="44" dur="45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12"/>
                                        </p:tgtEl>
                                        <p:attrNameLst>
                                          <p:attrName>style.visibility</p:attrName>
                                        </p:attrNameLst>
                                      </p:cBhvr>
                                      <p:to>
                                        <p:strVal val="visible"/>
                                      </p:to>
                                    </p:set>
                                    <p:animEffect transition="in" filter="fade">
                                      <p:cBhvr>
                                        <p:cTn id="54" dur="45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afterEffect">
                                  <p:stCondLst>
                                    <p:cond delay="0"/>
                                  </p:stCondLst>
                                  <p:childTnLst>
                                    <p:set>
                                      <p:cBhvr>
                                        <p:cTn id="63" dur="1" fill="hold"/>
                                        <p:tgtEl>
                                          <p:spTgt spid="14"/>
                                        </p:tgtEl>
                                        <p:attrNameLst>
                                          <p:attrName>style.visibility</p:attrName>
                                        </p:attrNameLst>
                                      </p:cBhvr>
                                      <p:to>
                                        <p:strVal val="visible"/>
                                      </p:to>
                                    </p:set>
                                    <p:animEffect transition="in" filter="fade">
                                      <p:cBhvr>
                                        <p:cTn id="64" dur="450"/>
                                        <p:tgtEl>
                                          <p:spTgt spid="1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afterEffect">
                                  <p:stCondLst>
                                    <p:cond delay="0"/>
                                  </p:stCondLst>
                                  <p:childTnLst>
                                    <p:set>
                                      <p:cBhvr>
                                        <p:cTn id="73" dur="1" fill="hold"/>
                                        <p:tgtEl>
                                          <p:spTgt spid="15"/>
                                        </p:tgtEl>
                                        <p:attrNameLst>
                                          <p:attrName>style.visibility</p:attrName>
                                        </p:attrNameLst>
                                      </p:cBhvr>
                                      <p:to>
                                        <p:strVal val="visible"/>
                                      </p:to>
                                    </p:set>
                                    <p:animEffect transition="in" filter="fade">
                                      <p:cBhvr>
                                        <p:cTn id="74" dur="45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afterEffect">
                                  <p:stCondLst>
                                    <p:cond delay="0"/>
                                  </p:stCondLst>
                                  <p:childTnLst>
                                    <p:set>
                                      <p:cBhvr>
                                        <p:cTn id="83" dur="1" fill="hold"/>
                                        <p:tgtEl>
                                          <p:spTgt spid="17"/>
                                        </p:tgtEl>
                                        <p:attrNameLst>
                                          <p:attrName>style.visibility</p:attrName>
                                        </p:attrNameLst>
                                      </p:cBhvr>
                                      <p:to>
                                        <p:strVal val="visible"/>
                                      </p:to>
                                    </p:set>
                                    <p:animEffect transition="in" filter="fade">
                                      <p:cBhvr>
                                        <p:cTn id="84" dur="450"/>
                                        <p:tgtEl>
                                          <p:spTgt spid="1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afterEffect">
                                  <p:stCondLst>
                                    <p:cond delay="0"/>
                                  </p:stCondLst>
                                  <p:childTnLst>
                                    <p:set>
                                      <p:cBhvr>
                                        <p:cTn id="93" dur="1" fill="hold"/>
                                        <p:tgtEl>
                                          <p:spTgt spid="18"/>
                                        </p:tgtEl>
                                        <p:attrNameLst>
                                          <p:attrName>style.visibility</p:attrName>
                                        </p:attrNameLst>
                                      </p:cBhvr>
                                      <p:to>
                                        <p:strVal val="visible"/>
                                      </p:to>
                                    </p:set>
                                    <p:animEffect transition="in" filter="fade">
                                      <p:cBhvr>
                                        <p:cTn id="94" dur="450"/>
                                        <p:tgtEl>
                                          <p:spTgt spid="18"/>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afterEffect">
                                  <p:stCondLst>
                                    <p:cond delay="0"/>
                                  </p:stCondLst>
                                  <p:childTnLst>
                                    <p:set>
                                      <p:cBhvr>
                                        <p:cTn id="103" dur="1" fill="hold"/>
                                        <p:tgtEl>
                                          <p:spTgt spid="20"/>
                                        </p:tgtEl>
                                        <p:attrNameLst>
                                          <p:attrName>style.visibility</p:attrName>
                                        </p:attrNameLst>
                                      </p:cBhvr>
                                      <p:to>
                                        <p:strVal val="visible"/>
                                      </p:to>
                                    </p:set>
                                    <p:animEffect transition="in" filter="fade">
                                      <p:cBhvr>
                                        <p:cTn id="104" dur="450"/>
                                        <p:tgtEl>
                                          <p:spTgt spid="2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afterEffect">
                                  <p:stCondLst>
                                    <p:cond delay="0"/>
                                  </p:stCondLst>
                                  <p:childTnLst>
                                    <p:set>
                                      <p:cBhvr>
                                        <p:cTn id="113" dur="1" fill="hold"/>
                                        <p:tgtEl>
                                          <p:spTgt spid="21"/>
                                        </p:tgtEl>
                                        <p:attrNameLst>
                                          <p:attrName>style.visibility</p:attrName>
                                        </p:attrNameLst>
                                      </p:cBhvr>
                                      <p:to>
                                        <p:strVal val="visible"/>
                                      </p:to>
                                    </p:set>
                                    <p:animEffect transition="in" filter="fade">
                                      <p:cBhvr>
                                        <p:cTn id="114" dur="450"/>
                                        <p:tgtEl>
                                          <p:spTgt spid="21"/>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afterEffect">
                                  <p:stCondLst>
                                    <p:cond delay="0"/>
                                  </p:stCondLst>
                                  <p:childTnLst>
                                    <p:set>
                                      <p:cBhvr>
                                        <p:cTn id="123" dur="1" fill="hold"/>
                                        <p:tgtEl>
                                          <p:spTgt spid="23"/>
                                        </p:tgtEl>
                                        <p:attrNameLst>
                                          <p:attrName>style.visibility</p:attrName>
                                        </p:attrNameLst>
                                      </p:cBhvr>
                                      <p:to>
                                        <p:strVal val="visible"/>
                                      </p:to>
                                    </p:set>
                                    <p:animEffect transition="in" filter="fade">
                                      <p:cBhvr>
                                        <p:cTn id="124" dur="450"/>
                                        <p:tgtEl>
                                          <p:spTgt spid="23"/>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afterEffect">
                                  <p:stCondLst>
                                    <p:cond delay="0"/>
                                  </p:stCondLst>
                                  <p:childTnLst>
                                    <p:set>
                                      <p:cBhvr>
                                        <p:cTn id="133" dur="1" fill="hold"/>
                                        <p:tgtEl>
                                          <p:spTgt spid="24"/>
                                        </p:tgtEl>
                                        <p:attrNameLst>
                                          <p:attrName>style.visibility</p:attrName>
                                        </p:attrNameLst>
                                      </p:cBhvr>
                                      <p:to>
                                        <p:strVal val="visible"/>
                                      </p:to>
                                    </p:set>
                                    <p:animEffect transition="in" filter="fade">
                                      <p:cBhvr>
                                        <p:cTn id="134" dur="450"/>
                                        <p:tgtEl>
                                          <p:spTgt spid="24"/>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afterEffect">
                                  <p:stCondLst>
                                    <p:cond delay="0"/>
                                  </p:stCondLst>
                                  <p:childTnLst>
                                    <p:set>
                                      <p:cBhvr>
                                        <p:cTn id="143" dur="1" fill="hold"/>
                                        <p:tgtEl>
                                          <p:spTgt spid="26"/>
                                        </p:tgtEl>
                                        <p:attrNameLst>
                                          <p:attrName>style.visibility</p:attrName>
                                        </p:attrNameLst>
                                      </p:cBhvr>
                                      <p:to>
                                        <p:strVal val="visible"/>
                                      </p:to>
                                    </p:set>
                                    <p:animEffect transition="in" filter="fade">
                                      <p:cBhvr>
                                        <p:cTn id="144" dur="450"/>
                                        <p:tgtEl>
                                          <p:spTgt spid="26"/>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afterEffect">
                                  <p:stCondLst>
                                    <p:cond delay="0"/>
                                  </p:stCondLst>
                                  <p:childTnLst>
                                    <p:set>
                                      <p:cBhvr>
                                        <p:cTn id="153" dur="1" fill="hold"/>
                                        <p:tgtEl>
                                          <p:spTgt spid="27"/>
                                        </p:tgtEl>
                                        <p:attrNameLst>
                                          <p:attrName>style.visibility</p:attrName>
                                        </p:attrNameLst>
                                      </p:cBhvr>
                                      <p:to>
                                        <p:strVal val="visible"/>
                                      </p:to>
                                    </p:set>
                                    <p:animEffect transition="in" filter="fade">
                                      <p:cBhvr>
                                        <p:cTn id="154" dur="450"/>
                                        <p:tgtEl>
                                          <p:spTgt spid="27"/>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grpId="0" nodeType="afterEffect">
                                  <p:stCondLst>
                                    <p:cond delay="0"/>
                                  </p:stCondLst>
                                  <p:childTnLst>
                                    <p:set>
                                      <p:cBhvr>
                                        <p:cTn id="163" dur="1" fill="hold"/>
                                        <p:tgtEl>
                                          <p:spTgt spid="29"/>
                                        </p:tgtEl>
                                        <p:attrNameLst>
                                          <p:attrName>style.visibility</p:attrName>
                                        </p:attrNameLst>
                                      </p:cBhvr>
                                      <p:to>
                                        <p:strVal val="visible"/>
                                      </p:to>
                                    </p:set>
                                    <p:animEffect transition="in" filter="fade">
                                      <p:cBhvr>
                                        <p:cTn id="164" dur="450"/>
                                        <p:tgtEl>
                                          <p:spTgt spid="29"/>
                                        </p:tgtEl>
                                      </p:cBhvr>
                                    </p:animEffect>
                                  </p:childTnLst>
                                </p:cTn>
                              </p:par>
                            </p:childTnLst>
                          </p:cTn>
                        </p:par>
                      </p:childTnLst>
                    </p:cTn>
                  </p:par>
                  <p:par>
                    <p:cTn id="170" fill="hold">
                      <p:stCondLst>
                        <p:cond delay="indefinite"/>
                      </p:stCondLst>
                      <p:childTnLst>
                        <p:par>
                          <p:cTn id="171" fill="hold">
                            <p:stCondLst>
                              <p:cond delay="0"/>
                            </p:stCondLst>
                            <p:childTnLst>
                              <p:par>
                                <p:cTn id="172" presetID="10" presetClass="entr" presetSubtype="0" fill="hold" grpId="0" nodeType="afterEffect">
                                  <p:stCondLst>
                                    <p:cond delay="0"/>
                                  </p:stCondLst>
                                  <p:childTnLst>
                                    <p:set>
                                      <p:cBhvr>
                                        <p:cTn id="173" dur="1" fill="hold"/>
                                        <p:tgtEl>
                                          <p:spTgt spid="30"/>
                                        </p:tgtEl>
                                        <p:attrNameLst>
                                          <p:attrName>style.visibility</p:attrName>
                                        </p:attrNameLst>
                                      </p:cBhvr>
                                      <p:to>
                                        <p:strVal val="visible"/>
                                      </p:to>
                                    </p:set>
                                    <p:animEffect transition="in" filter="fade">
                                      <p:cBhvr>
                                        <p:cTn id="174" dur="450"/>
                                        <p:tgtEl>
                                          <p:spTgt spid="30"/>
                                        </p:tgtEl>
                                      </p:cBhvr>
                                    </p:animEffect>
                                  </p:childTnLst>
                                </p:cTn>
                              </p:par>
                            </p:childTnLst>
                          </p:cTn>
                        </p:par>
                      </p:childTnLst>
                    </p:cTn>
                  </p:par>
                  <p:par>
                    <p:cTn id="180" fill="hold">
                      <p:stCondLst>
                        <p:cond delay="indefinite"/>
                      </p:stCondLst>
                      <p:childTnLst>
                        <p:par>
                          <p:cTn id="181" fill="hold">
                            <p:stCondLst>
                              <p:cond delay="0"/>
                            </p:stCondLst>
                            <p:childTnLst>
                              <p:par>
                                <p:cTn id="182" presetID="10" presetClass="entr" presetSubtype="0" fill="hold" grpId="0" nodeType="afterEffect">
                                  <p:stCondLst>
                                    <p:cond delay="0"/>
                                  </p:stCondLst>
                                  <p:childTnLst>
                                    <p:set>
                                      <p:cBhvr>
                                        <p:cTn id="183" dur="1" fill="hold"/>
                                        <p:tgtEl>
                                          <p:spTgt spid="31"/>
                                        </p:tgtEl>
                                        <p:attrNameLst>
                                          <p:attrName>style.visibility</p:attrName>
                                        </p:attrNameLst>
                                      </p:cBhvr>
                                      <p:to>
                                        <p:strVal val="visible"/>
                                      </p:to>
                                    </p:set>
                                    <p:animEffect transition="in" filter="fade">
                                      <p:cBhvr>
                                        <p:cTn id="184" dur="450"/>
                                        <p:tgtEl>
                                          <p:spTgt spid="31"/>
                                        </p:tgtEl>
                                      </p:cBhvr>
                                    </p:animEffect>
                                  </p:childTnLst>
                                </p:cTn>
                              </p:par>
                            </p:childTnLst>
                          </p:cTn>
                        </p:par>
                      </p:childTnLst>
                    </p:cTn>
                  </p:par>
                  <p:par>
                    <p:cTn id="190" fill="hold">
                      <p:stCondLst>
                        <p:cond delay="indefinite"/>
                      </p:stCondLst>
                      <p:childTnLst>
                        <p:par>
                          <p:cTn id="191" fill="hold">
                            <p:stCondLst>
                              <p:cond delay="0"/>
                            </p:stCondLst>
                            <p:childTnLst>
                              <p:par>
                                <p:cTn id="192" presetID="10" presetClass="entr" presetSubtype="0" fill="hold" grpId="0" nodeType="afterEffect">
                                  <p:stCondLst>
                                    <p:cond delay="0"/>
                                  </p:stCondLst>
                                  <p:childTnLst>
                                    <p:set>
                                      <p:cBhvr>
                                        <p:cTn id="193" dur="1" fill="hold"/>
                                        <p:tgtEl>
                                          <p:spTgt spid="32"/>
                                        </p:tgtEl>
                                        <p:attrNameLst>
                                          <p:attrName>style.visibility</p:attrName>
                                        </p:attrNameLst>
                                      </p:cBhvr>
                                      <p:to>
                                        <p:strVal val="visible"/>
                                      </p:to>
                                    </p:set>
                                    <p:animEffect transition="in" filter="fade">
                                      <p:cBhvr>
                                        <p:cTn id="194" dur="450"/>
                                        <p:tgtEl>
                                          <p:spTgt spid="32"/>
                                        </p:tgtEl>
                                      </p:cBhvr>
                                    </p:animEffect>
                                  </p:childTnLst>
                                </p:cTn>
                              </p:par>
                            </p:childTnLst>
                          </p:cTn>
                        </p:par>
                      </p:childTnLst>
                    </p:cTn>
                  </p:par>
                  <p:par>
                    <p:cTn id="200" fill="hold">
                      <p:stCondLst>
                        <p:cond delay="indefinite"/>
                      </p:stCondLst>
                      <p:childTnLst>
                        <p:par>
                          <p:cTn id="201" fill="hold">
                            <p:stCondLst>
                              <p:cond delay="0"/>
                            </p:stCondLst>
                            <p:childTnLst>
                              <p:par>
                                <p:cTn id="202" presetID="10" presetClass="entr" presetSubtype="0" fill="hold" grpId="0" nodeType="afterEffect">
                                  <p:stCondLst>
                                    <p:cond delay="0"/>
                                  </p:stCondLst>
                                  <p:childTnLst>
                                    <p:set>
                                      <p:cBhvr>
                                        <p:cTn id="203" dur="1" fill="hold"/>
                                        <p:tgtEl>
                                          <p:spTgt spid="33"/>
                                        </p:tgtEl>
                                        <p:attrNameLst>
                                          <p:attrName>style.visibility</p:attrName>
                                        </p:attrNameLst>
                                      </p:cBhvr>
                                      <p:to>
                                        <p:strVal val="visible"/>
                                      </p:to>
                                    </p:set>
                                    <p:animEffect transition="in" filter="fade">
                                      <p:cBhvr>
                                        <p:cTn id="204" dur="450"/>
                                        <p:tgtEl>
                                          <p:spTgt spid="33"/>
                                        </p:tgtEl>
                                      </p:cBhvr>
                                    </p:animEffect>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afterEffect">
                                  <p:stCondLst>
                                    <p:cond delay="0"/>
                                  </p:stCondLst>
                                  <p:childTnLst>
                                    <p:set>
                                      <p:cBhvr>
                                        <p:cTn id="213" dur="1" fill="hold"/>
                                        <p:tgtEl>
                                          <p:spTgt spid="34"/>
                                        </p:tgtEl>
                                        <p:attrNameLst>
                                          <p:attrName>style.visibility</p:attrName>
                                        </p:attrNameLst>
                                      </p:cBhvr>
                                      <p:to>
                                        <p:strVal val="visible"/>
                                      </p:to>
                                    </p:set>
                                    <p:animEffect transition="in" filter="fade">
                                      <p:cBhvr>
                                        <p:cTn id="214" dur="450"/>
                                        <p:tgtEl>
                                          <p:spTgt spid="34"/>
                                        </p:tgtEl>
                                      </p:cBhvr>
                                    </p:animEffect>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afterEffect">
                                  <p:stCondLst>
                                    <p:cond delay="0"/>
                                  </p:stCondLst>
                                  <p:childTnLst>
                                    <p:set>
                                      <p:cBhvr>
                                        <p:cTn id="223" dur="1" fill="hold"/>
                                        <p:tgtEl>
                                          <p:spTgt spid="35"/>
                                        </p:tgtEl>
                                        <p:attrNameLst>
                                          <p:attrName>style.visibility</p:attrName>
                                        </p:attrNameLst>
                                      </p:cBhvr>
                                      <p:to>
                                        <p:strVal val="visible"/>
                                      </p:to>
                                    </p:set>
                                    <p:animEffect transition="in" filter="fade">
                                      <p:cBhvr>
                                        <p:cTn id="224" dur="450"/>
                                        <p:tgtEl>
                                          <p:spTgt spid="35"/>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afterEffect">
                                  <p:stCondLst>
                                    <p:cond delay="0"/>
                                  </p:stCondLst>
                                  <p:childTnLst>
                                    <p:set>
                                      <p:cBhvr>
                                        <p:cTn id="233" dur="1" fill="hold"/>
                                        <p:tgtEl>
                                          <p:spTgt spid="36"/>
                                        </p:tgtEl>
                                        <p:attrNameLst>
                                          <p:attrName>style.visibility</p:attrName>
                                        </p:attrNameLst>
                                      </p:cBhvr>
                                      <p:to>
                                        <p:strVal val="visible"/>
                                      </p:to>
                                    </p:set>
                                    <p:animEffect transition="in" filter="fade">
                                      <p:cBhvr>
                                        <p:cTn id="234" dur="450"/>
                                        <p:tgtEl>
                                          <p:spTgt spid="36"/>
                                        </p:tgtEl>
                                      </p:cBhvr>
                                    </p:animEffect>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grpId="0" nodeType="afterEffect">
                                  <p:stCondLst>
                                    <p:cond delay="0"/>
                                  </p:stCondLst>
                                  <p:childTnLst>
                                    <p:set>
                                      <p:cBhvr>
                                        <p:cTn id="243" dur="1" fill="hold"/>
                                        <p:tgtEl>
                                          <p:spTgt spid="37"/>
                                        </p:tgtEl>
                                        <p:attrNameLst>
                                          <p:attrName>style.visibility</p:attrName>
                                        </p:attrNameLst>
                                      </p:cBhvr>
                                      <p:to>
                                        <p:strVal val="visible"/>
                                      </p:to>
                                    </p:set>
                                    <p:animEffect transition="in" filter="fade">
                                      <p:cBhvr>
                                        <p:cTn id="244" dur="450"/>
                                        <p:tgtEl>
                                          <p:spTgt spid="37"/>
                                        </p:tgtEl>
                                      </p:cBhvr>
                                    </p:animEffect>
                                  </p:childTnLst>
                                </p:cTn>
                              </p:par>
                            </p:childTnLst>
                          </p:cTn>
                        </p:par>
                      </p:childTnLst>
                    </p:cTn>
                  </p:par>
                  <p:par>
                    <p:cTn id="250" fill="hold">
                      <p:stCondLst>
                        <p:cond delay="indefinite"/>
                      </p:stCondLst>
                      <p:childTnLst>
                        <p:par>
                          <p:cTn id="251" fill="hold">
                            <p:stCondLst>
                              <p:cond delay="0"/>
                            </p:stCondLst>
                            <p:childTnLst>
                              <p:par>
                                <p:cTn id="252" presetID="10" presetClass="entr" presetSubtype="0" fill="hold" grpId="0" nodeType="afterEffect">
                                  <p:stCondLst>
                                    <p:cond delay="0"/>
                                  </p:stCondLst>
                                  <p:childTnLst>
                                    <p:set>
                                      <p:cBhvr>
                                        <p:cTn id="253" dur="1" fill="hold"/>
                                        <p:tgtEl>
                                          <p:spTgt spid="38"/>
                                        </p:tgtEl>
                                        <p:attrNameLst>
                                          <p:attrName>style.visibility</p:attrName>
                                        </p:attrNameLst>
                                      </p:cBhvr>
                                      <p:to>
                                        <p:strVal val="visible"/>
                                      </p:to>
                                    </p:set>
                                    <p:animEffect transition="in" filter="fade">
                                      <p:cBhvr>
                                        <p:cTn id="254" dur="450"/>
                                        <p:tgtEl>
                                          <p:spTgt spid="38"/>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ntr" presetSubtype="0" fill="hold" grpId="0" nodeType="afterEffect">
                                  <p:stCondLst>
                                    <p:cond delay="0"/>
                                  </p:stCondLst>
                                  <p:childTnLst>
                                    <p:set>
                                      <p:cBhvr>
                                        <p:cTn id="263" dur="1" fill="hold"/>
                                        <p:tgtEl>
                                          <p:spTgt spid="39"/>
                                        </p:tgtEl>
                                        <p:attrNameLst>
                                          <p:attrName>style.visibility</p:attrName>
                                        </p:attrNameLst>
                                      </p:cBhvr>
                                      <p:to>
                                        <p:strVal val="visible"/>
                                      </p:to>
                                    </p:set>
                                    <p:animEffect transition="in" filter="fade">
                                      <p:cBhvr>
                                        <p:cTn id="264" dur="450"/>
                                        <p:tgtEl>
                                          <p:spTgt spid="39"/>
                                        </p:tgtEl>
                                      </p:cBhvr>
                                    </p:animEffect>
                                  </p:childTnLst>
                                </p:cTn>
                              </p:par>
                            </p:childTnLst>
                          </p:cTn>
                        </p:par>
                      </p:childTnLst>
                    </p:cTn>
                  </p:par>
                  <p:par>
                    <p:cTn id="270" fill="hold">
                      <p:stCondLst>
                        <p:cond delay="indefinite"/>
                      </p:stCondLst>
                      <p:childTnLst>
                        <p:par>
                          <p:cTn id="271" fill="hold">
                            <p:stCondLst>
                              <p:cond delay="0"/>
                            </p:stCondLst>
                            <p:childTnLst>
                              <p:par>
                                <p:cTn id="272" presetID="10" presetClass="entr" presetSubtype="0" fill="hold" grpId="0" nodeType="afterEffect">
                                  <p:stCondLst>
                                    <p:cond delay="0"/>
                                  </p:stCondLst>
                                  <p:childTnLst>
                                    <p:set>
                                      <p:cBhvr>
                                        <p:cTn id="273" dur="1" fill="hold"/>
                                        <p:tgtEl>
                                          <p:spTgt spid="40"/>
                                        </p:tgtEl>
                                        <p:attrNameLst>
                                          <p:attrName>style.visibility</p:attrName>
                                        </p:attrNameLst>
                                      </p:cBhvr>
                                      <p:to>
                                        <p:strVal val="visible"/>
                                      </p:to>
                                    </p:set>
                                    <p:animEffect transition="in" filter="fade">
                                      <p:cBhvr>
                                        <p:cTn id="274" dur="450"/>
                                        <p:tgtEl>
                                          <p:spTgt spid="40"/>
                                        </p:tgtEl>
                                      </p:cBhvr>
                                    </p:animEffect>
                                  </p:childTnLst>
                                </p:cTn>
                              </p:par>
                            </p:childTnLst>
                          </p:cTn>
                        </p:par>
                      </p:childTnLst>
                    </p:cTn>
                  </p:par>
                  <p:par>
                    <p:cTn id="280" fill="hold">
                      <p:stCondLst>
                        <p:cond delay="indefinite"/>
                      </p:stCondLst>
                      <p:childTnLst>
                        <p:par>
                          <p:cTn id="281" fill="hold">
                            <p:stCondLst>
                              <p:cond delay="0"/>
                            </p:stCondLst>
                            <p:childTnLst>
                              <p:par>
                                <p:cTn id="282" presetID="10" presetClass="entr" presetSubtype="0" fill="hold" grpId="0" nodeType="afterEffect">
                                  <p:stCondLst>
                                    <p:cond delay="0"/>
                                  </p:stCondLst>
                                  <p:childTnLst>
                                    <p:set>
                                      <p:cBhvr>
                                        <p:cTn id="283" dur="1" fill="hold"/>
                                        <p:tgtEl>
                                          <p:spTgt spid="41"/>
                                        </p:tgtEl>
                                        <p:attrNameLst>
                                          <p:attrName>style.visibility</p:attrName>
                                        </p:attrNameLst>
                                      </p:cBhvr>
                                      <p:to>
                                        <p:strVal val="visible"/>
                                      </p:to>
                                    </p:set>
                                    <p:animEffect transition="in" filter="fade">
                                      <p:cBhvr>
                                        <p:cTn id="284"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OVERVIEW</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000" b="1">
                <a:solidFill>
                  <a:srgbClr val="E8ECF3"/>
                </a:solidFill>
                <a:latin typeface="Helvetica Neue"/>
              </a:rPr>
              <a:t>Non-deterministic models. A deterministic gate.</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10058400" cy="685800"/>
          </a:xfrm>
          <a:prstGeom prst="rect">
            <a:avLst/>
          </a:prstGeom>
          <a:noFill/>
        </p:spPr>
        <p:txBody>
          <a:bodyPr wrap="square">
            <a:spAutoFit/>
          </a:bodyPr>
          <a:lstStyle/>
          <a:p>
            <a:pPr algn="l">
              <a:lnSpc>
                <a:spcPct val="130000"/>
              </a:lnSpc>
            </a:pPr>
            <a:r>
              <a:rPr sz="1700" b="0">
                <a:solidFill>
                  <a:srgbClr val="8B97AB"/>
                </a:solidFill>
                <a:latin typeface="Helvetica Neue"/>
              </a:rPr>
              <a:t>Every agent here is a language model, and any of them can be wrong. The component that stops a change is not one of them.</a:t>
            </a:r>
          </a:p>
        </p:txBody>
      </p:sp>
      <p:sp>
        <p:nvSpPr>
          <p:cNvPr id="7" name="TextBox 6"/>
          <p:cNvSpPr txBox="1"/>
          <p:nvPr/>
        </p:nvSpPr>
        <p:spPr>
          <a:xfrm>
            <a:off x="1005840" y="2926080"/>
            <a:ext cx="2468880" cy="292608"/>
          </a:xfrm>
          <a:prstGeom prst="rect">
            <a:avLst/>
          </a:prstGeom>
          <a:noFill/>
        </p:spPr>
        <p:txBody>
          <a:bodyPr wrap="square">
            <a:spAutoFit/>
          </a:bodyPr>
          <a:lstStyle/>
          <a:p>
            <a:pPr algn="l">
              <a:lnSpc>
                <a:spcPct val="100000"/>
              </a:lnSpc>
            </a:pPr>
            <a:r>
              <a:rPr sz="1100" b="1">
                <a:solidFill>
                  <a:srgbClr val="22D3EE"/>
                </a:solidFill>
                <a:latin typeface="Helvetica Neue"/>
              </a:rPr>
              <a:t/>
            </a:r>
          </a:p>
        </p:txBody>
      </p:sp>
      <p:sp>
        <p:nvSpPr>
          <p:cNvPr id="8" name="TextBox 7"/>
          <p:cNvSpPr txBox="1"/>
          <p:nvPr/>
        </p:nvSpPr>
        <p:spPr>
          <a:xfrm>
            <a:off x="3474720" y="2926080"/>
            <a:ext cx="3840480" cy="292608"/>
          </a:xfrm>
          <a:prstGeom prst="rect">
            <a:avLst/>
          </a:prstGeom>
          <a:noFill/>
        </p:spPr>
        <p:txBody>
          <a:bodyPr wrap="square">
            <a:spAutoFit/>
          </a:bodyPr>
          <a:lstStyle/>
          <a:p>
            <a:pPr algn="l">
              <a:lnSpc>
                <a:spcPct val="100000"/>
              </a:lnSpc>
            </a:pPr>
            <a:r>
              <a:rPr sz="1100" b="1">
                <a:solidFill>
                  <a:srgbClr val="22D3EE"/>
                </a:solidFill>
                <a:latin typeface="Helvetica Neue"/>
              </a:rPr>
              <a:t>THE REVIEWER</a:t>
            </a:r>
          </a:p>
        </p:txBody>
      </p:sp>
      <p:sp>
        <p:nvSpPr>
          <p:cNvPr id="9" name="TextBox 8"/>
          <p:cNvSpPr txBox="1"/>
          <p:nvPr/>
        </p:nvSpPr>
        <p:spPr>
          <a:xfrm>
            <a:off x="7315200" y="2926080"/>
            <a:ext cx="3840480" cy="292608"/>
          </a:xfrm>
          <a:prstGeom prst="rect">
            <a:avLst/>
          </a:prstGeom>
          <a:noFill/>
        </p:spPr>
        <p:txBody>
          <a:bodyPr wrap="square">
            <a:spAutoFit/>
          </a:bodyPr>
          <a:lstStyle/>
          <a:p>
            <a:pPr algn="l">
              <a:lnSpc>
                <a:spcPct val="100000"/>
              </a:lnSpc>
            </a:pPr>
            <a:r>
              <a:rPr sz="1100" b="1">
                <a:solidFill>
                  <a:srgbClr val="22D3EE"/>
                </a:solidFill>
                <a:latin typeface="Helvetica Neue"/>
              </a:rPr>
              <a:t>THE SECURITY STAGE</a:t>
            </a:r>
          </a:p>
        </p:txBody>
      </p:sp>
      <p:sp>
        <p:nvSpPr>
          <p:cNvPr id="10" name="Rectangle 9"/>
          <p:cNvSpPr/>
          <p:nvPr/>
        </p:nvSpPr>
        <p:spPr>
          <a:xfrm>
            <a:off x="1005840" y="3255264"/>
            <a:ext cx="10149840" cy="127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383280"/>
            <a:ext cx="2468880" cy="457200"/>
          </a:xfrm>
          <a:prstGeom prst="rect">
            <a:avLst/>
          </a:prstGeom>
          <a:noFill/>
        </p:spPr>
        <p:txBody>
          <a:bodyPr wrap="square">
            <a:spAutoFit/>
          </a:bodyPr>
          <a:lstStyle/>
          <a:p>
            <a:pPr algn="l">
              <a:lnSpc>
                <a:spcPct val="100000"/>
              </a:lnSpc>
            </a:pPr>
            <a:r>
              <a:rPr sz="1500" b="0">
                <a:solidFill>
                  <a:srgbClr val="E8ECF3"/>
                </a:solidFill>
                <a:latin typeface="Helvetica Neue"/>
              </a:rPr>
              <a:t>what it is</a:t>
            </a:r>
          </a:p>
        </p:txBody>
      </p:sp>
      <p:sp>
        <p:nvSpPr>
          <p:cNvPr id="12" name="TextBox 11"/>
          <p:cNvSpPr txBox="1"/>
          <p:nvPr/>
        </p:nvSpPr>
        <p:spPr>
          <a:xfrm>
            <a:off x="3474720" y="33832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a model reading the change</a:t>
            </a:r>
          </a:p>
        </p:txBody>
      </p:sp>
      <p:sp>
        <p:nvSpPr>
          <p:cNvPr id="13" name="TextBox 12"/>
          <p:cNvSpPr txBox="1"/>
          <p:nvPr/>
        </p:nvSpPr>
        <p:spPr>
          <a:xfrm>
            <a:off x="7315200" y="33832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three scanners and a fixed rule</a:t>
            </a:r>
          </a:p>
        </p:txBody>
      </p:sp>
      <p:sp>
        <p:nvSpPr>
          <p:cNvPr id="14" name="TextBox 13"/>
          <p:cNvSpPr txBox="1"/>
          <p:nvPr/>
        </p:nvSpPr>
        <p:spPr>
          <a:xfrm>
            <a:off x="1005840" y="3840480"/>
            <a:ext cx="2468880" cy="457200"/>
          </a:xfrm>
          <a:prstGeom prst="rect">
            <a:avLst/>
          </a:prstGeom>
          <a:noFill/>
        </p:spPr>
        <p:txBody>
          <a:bodyPr wrap="square">
            <a:spAutoFit/>
          </a:bodyPr>
          <a:lstStyle/>
          <a:p>
            <a:pPr algn="l">
              <a:lnSpc>
                <a:spcPct val="100000"/>
              </a:lnSpc>
            </a:pPr>
            <a:r>
              <a:rPr sz="1500" b="0">
                <a:solidFill>
                  <a:srgbClr val="E8ECF3"/>
                </a:solidFill>
                <a:latin typeface="Helvetica Neue"/>
              </a:rPr>
              <a:t>what it catches</a:t>
            </a:r>
          </a:p>
        </p:txBody>
      </p:sp>
      <p:sp>
        <p:nvSpPr>
          <p:cNvPr id="15" name="TextBox 14"/>
          <p:cNvSpPr txBox="1"/>
          <p:nvPr/>
        </p:nvSpPr>
        <p:spPr>
          <a:xfrm>
            <a:off x="3474720" y="38404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intent, logic, a plan mismatch</a:t>
            </a:r>
          </a:p>
        </p:txBody>
      </p:sp>
      <p:sp>
        <p:nvSpPr>
          <p:cNvPr id="16" name="TextBox 15"/>
          <p:cNvSpPr txBox="1"/>
          <p:nvPr/>
        </p:nvSpPr>
        <p:spPr>
          <a:xfrm>
            <a:off x="7315200" y="38404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credentials, known CVEs, unsafe code</a:t>
            </a:r>
          </a:p>
        </p:txBody>
      </p:sp>
      <p:sp>
        <p:nvSpPr>
          <p:cNvPr id="17" name="TextBox 16"/>
          <p:cNvSpPr txBox="1"/>
          <p:nvPr/>
        </p:nvSpPr>
        <p:spPr>
          <a:xfrm>
            <a:off x="1005840" y="4297680"/>
            <a:ext cx="2468880" cy="457200"/>
          </a:xfrm>
          <a:prstGeom prst="rect">
            <a:avLst/>
          </a:prstGeom>
          <a:noFill/>
        </p:spPr>
        <p:txBody>
          <a:bodyPr wrap="square">
            <a:spAutoFit/>
          </a:bodyPr>
          <a:lstStyle/>
          <a:p>
            <a:pPr algn="l">
              <a:lnSpc>
                <a:spcPct val="100000"/>
              </a:lnSpc>
            </a:pPr>
            <a:r>
              <a:rPr sz="1500" b="0">
                <a:solidFill>
                  <a:srgbClr val="E8ECF3"/>
                </a:solidFill>
                <a:latin typeface="Helvetica Neue"/>
              </a:rPr>
              <a:t>its authority</a:t>
            </a:r>
          </a:p>
        </p:txBody>
      </p:sp>
      <p:sp>
        <p:nvSpPr>
          <p:cNvPr id="18" name="TextBox 17"/>
          <p:cNvSpPr txBox="1"/>
          <p:nvPr/>
        </p:nvSpPr>
        <p:spPr>
          <a:xfrm>
            <a:off x="3474720" y="42976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advisory: it sends the change back</a:t>
            </a:r>
          </a:p>
        </p:txBody>
      </p:sp>
      <p:sp>
        <p:nvSpPr>
          <p:cNvPr id="19" name="TextBox 18"/>
          <p:cNvSpPr txBox="1"/>
          <p:nvPr/>
        </p:nvSpPr>
        <p:spPr>
          <a:xfrm>
            <a:off x="7315200" y="42976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binding: it stops the run</a:t>
            </a:r>
          </a:p>
        </p:txBody>
      </p:sp>
      <p:sp>
        <p:nvSpPr>
          <p:cNvPr id="20" name="TextBox 19"/>
          <p:cNvSpPr txBox="1"/>
          <p:nvPr/>
        </p:nvSpPr>
        <p:spPr>
          <a:xfrm>
            <a:off x="1005840" y="4754880"/>
            <a:ext cx="2468880" cy="457200"/>
          </a:xfrm>
          <a:prstGeom prst="rect">
            <a:avLst/>
          </a:prstGeom>
          <a:noFill/>
        </p:spPr>
        <p:txBody>
          <a:bodyPr wrap="square">
            <a:spAutoFit/>
          </a:bodyPr>
          <a:lstStyle/>
          <a:p>
            <a:pPr algn="l">
              <a:lnSpc>
                <a:spcPct val="100000"/>
              </a:lnSpc>
            </a:pPr>
            <a:r>
              <a:rPr sz="1500" b="0">
                <a:solidFill>
                  <a:srgbClr val="E8ECF3"/>
                </a:solidFill>
                <a:latin typeface="Helvetica Neue"/>
              </a:rPr>
              <a:t>same input twice</a:t>
            </a:r>
          </a:p>
        </p:txBody>
      </p:sp>
      <p:sp>
        <p:nvSpPr>
          <p:cNvPr id="21" name="TextBox 20"/>
          <p:cNvSpPr txBox="1"/>
          <p:nvPr/>
        </p:nvSpPr>
        <p:spPr>
          <a:xfrm>
            <a:off x="3474720" y="47548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may answer differently</a:t>
            </a:r>
          </a:p>
        </p:txBody>
      </p:sp>
      <p:sp>
        <p:nvSpPr>
          <p:cNvPr id="22" name="TextBox 21"/>
          <p:cNvSpPr txBox="1"/>
          <p:nvPr/>
        </p:nvSpPr>
        <p:spPr>
          <a:xfrm>
            <a:off x="7315200" y="47548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the same answer, always</a:t>
            </a:r>
          </a:p>
        </p:txBody>
      </p:sp>
      <p:sp>
        <p:nvSpPr>
          <p:cNvPr id="23" name="TextBox 22"/>
          <p:cNvSpPr txBox="1"/>
          <p:nvPr/>
        </p:nvSpPr>
        <p:spPr>
          <a:xfrm>
            <a:off x="1005840" y="5212080"/>
            <a:ext cx="2468880" cy="457200"/>
          </a:xfrm>
          <a:prstGeom prst="rect">
            <a:avLst/>
          </a:prstGeom>
          <a:noFill/>
        </p:spPr>
        <p:txBody>
          <a:bodyPr wrap="square">
            <a:spAutoFit/>
          </a:bodyPr>
          <a:lstStyle/>
          <a:p>
            <a:pPr algn="l">
              <a:lnSpc>
                <a:spcPct val="100000"/>
              </a:lnSpc>
            </a:pPr>
            <a:r>
              <a:rPr sz="1500" b="0">
                <a:solidFill>
                  <a:srgbClr val="E8ECF3"/>
                </a:solidFill>
                <a:latin typeface="Helvetica Neue"/>
              </a:rPr>
              <a:t>can be talked out of it</a:t>
            </a:r>
          </a:p>
        </p:txBody>
      </p:sp>
      <p:sp>
        <p:nvSpPr>
          <p:cNvPr id="24" name="TextBox 23"/>
          <p:cNvSpPr txBox="1"/>
          <p:nvPr/>
        </p:nvSpPr>
        <p:spPr>
          <a:xfrm>
            <a:off x="3474720" y="52120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yes, it reads a prompt</a:t>
            </a:r>
          </a:p>
        </p:txBody>
      </p:sp>
      <p:sp>
        <p:nvSpPr>
          <p:cNvPr id="25" name="TextBox 24"/>
          <p:cNvSpPr txBox="1"/>
          <p:nvPr/>
        </p:nvSpPr>
        <p:spPr>
          <a:xfrm>
            <a:off x="7315200" y="5212080"/>
            <a:ext cx="3840480" cy="457200"/>
          </a:xfrm>
          <a:prstGeom prst="rect">
            <a:avLst/>
          </a:prstGeom>
          <a:noFill/>
        </p:spPr>
        <p:txBody>
          <a:bodyPr wrap="square">
            <a:spAutoFit/>
          </a:bodyPr>
          <a:lstStyle/>
          <a:p>
            <a:pPr algn="l">
              <a:lnSpc>
                <a:spcPct val="100000"/>
              </a:lnSpc>
            </a:pPr>
            <a:r>
              <a:rPr sz="1500" b="0">
                <a:solidFill>
                  <a:srgbClr val="8B97AB"/>
                </a:solidFill>
                <a:latin typeface="Helvetica Neue"/>
              </a:rPr>
              <a:t>no, there is no model in it</a:t>
            </a:r>
          </a:p>
        </p:txBody>
      </p:sp>
      <p:sp>
        <p:nvSpPr>
          <p:cNvPr id="26" name="TextBox 25"/>
          <p:cNvSpPr txBox="1"/>
          <p:nvPr/>
        </p:nvSpPr>
        <p:spPr>
          <a:xfrm>
            <a:off x="1005840" y="5669280"/>
            <a:ext cx="10058400" cy="640080"/>
          </a:xfrm>
          <a:prstGeom prst="rect">
            <a:avLst/>
          </a:prstGeom>
          <a:noFill/>
        </p:spPr>
        <p:txBody>
          <a:bodyPr wrap="square">
            <a:spAutoFit/>
          </a:bodyPr>
          <a:lstStyle/>
          <a:p>
            <a:pPr algn="l">
              <a:lnSpc>
                <a:spcPct val="130000"/>
              </a:lnSpc>
            </a:pPr>
            <a:r>
              <a:rPr sz="1500" b="0">
                <a:solidFill>
                  <a:srgbClr val="E8ECF3"/>
                </a:solidFill>
                <a:latin typeface="Helvetica Neue"/>
              </a:rPr>
              <a:t>The block is built into the pipeline, not added as a status check: when security refuses, its job fails and the next gate cannot start.</a:t>
            </a:r>
          </a:p>
        </p:txBody>
      </p:sp>
      <p:sp>
        <p:nvSpPr>
          <p:cNvPr id="27" name="TextBox 26"/>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6</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26"/>
                                        </p:tgtEl>
                                        <p:attrNameLst>
                                          <p:attrName>style.visibility</p:attrName>
                                        </p:attrNameLst>
                                      </p:cBhvr>
                                      <p:to>
                                        <p:strVal val="visible"/>
                                      </p:to>
                                    </p:set>
                                    <p:animEffect transition="in" filter="fade">
                                      <p:cBhvr>
                                        <p:cTn id="14"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OVERVIEW · SCORING</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000" b="1">
                <a:solidFill>
                  <a:srgbClr val="E8ECF3"/>
                </a:solidFill>
                <a:latin typeface="Helvetica Neue"/>
              </a:rPr>
              <a:t>How a finding becomes a verdict</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377440" cy="292608"/>
          </a:xfrm>
          <a:prstGeom prst="rect">
            <a:avLst/>
          </a:prstGeom>
          <a:noFill/>
        </p:spPr>
        <p:txBody>
          <a:bodyPr wrap="square">
            <a:spAutoFit/>
          </a:bodyPr>
          <a:lstStyle/>
          <a:p>
            <a:pPr algn="l">
              <a:lnSpc>
                <a:spcPct val="100000"/>
              </a:lnSpc>
            </a:pPr>
            <a:r>
              <a:rPr sz="1100" b="1">
                <a:solidFill>
                  <a:srgbClr val="22D3EE"/>
                </a:solidFill>
                <a:latin typeface="Helvetica Neue"/>
              </a:rPr>
              <a:t>SCANNER</a:t>
            </a:r>
          </a:p>
        </p:txBody>
      </p:sp>
      <p:sp>
        <p:nvSpPr>
          <p:cNvPr id="7" name="TextBox 6"/>
          <p:cNvSpPr txBox="1"/>
          <p:nvPr/>
        </p:nvSpPr>
        <p:spPr>
          <a:xfrm>
            <a:off x="3383280" y="2148840"/>
            <a:ext cx="7772400" cy="292608"/>
          </a:xfrm>
          <a:prstGeom prst="rect">
            <a:avLst/>
          </a:prstGeom>
          <a:noFill/>
        </p:spPr>
        <p:txBody>
          <a:bodyPr wrap="square">
            <a:spAutoFit/>
          </a:bodyPr>
          <a:lstStyle/>
          <a:p>
            <a:pPr algn="l">
              <a:lnSpc>
                <a:spcPct val="100000"/>
              </a:lnSpc>
            </a:pPr>
            <a:r>
              <a:rPr sz="1100" b="1">
                <a:solidFill>
                  <a:srgbClr val="22D3EE"/>
                </a:solidFill>
                <a:latin typeface="Helvetica Neue"/>
              </a:rPr>
              <a:t>HOW ITS SEVERITY IS DECIDED</a:t>
            </a:r>
          </a:p>
        </p:txBody>
      </p:sp>
      <p:sp>
        <p:nvSpPr>
          <p:cNvPr id="8" name="Rectangle 7"/>
          <p:cNvSpPr/>
          <p:nvPr/>
        </p:nvSpPr>
        <p:spPr>
          <a:xfrm>
            <a:off x="1005840" y="2478024"/>
            <a:ext cx="10149840" cy="127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06040"/>
            <a:ext cx="2377440" cy="457200"/>
          </a:xfrm>
          <a:prstGeom prst="rect">
            <a:avLst/>
          </a:prstGeom>
          <a:noFill/>
        </p:spPr>
        <p:txBody>
          <a:bodyPr wrap="square">
            <a:spAutoFit/>
          </a:bodyPr>
          <a:lstStyle/>
          <a:p>
            <a:pPr algn="l">
              <a:lnSpc>
                <a:spcPct val="100000"/>
              </a:lnSpc>
            </a:pPr>
            <a:r>
              <a:rPr sz="1500" b="0">
                <a:solidFill>
                  <a:srgbClr val="E8ECF3"/>
                </a:solidFill>
                <a:latin typeface="Helvetica Neue"/>
              </a:rPr>
              <a:t>Semgrep</a:t>
            </a:r>
          </a:p>
        </p:txBody>
      </p:sp>
      <p:sp>
        <p:nvSpPr>
          <p:cNvPr id="10" name="TextBox 9"/>
          <p:cNvSpPr txBox="1"/>
          <p:nvPr/>
        </p:nvSpPr>
        <p:spPr>
          <a:xfrm>
            <a:off x="3383280" y="2606040"/>
            <a:ext cx="7772400" cy="457200"/>
          </a:xfrm>
          <a:prstGeom prst="rect">
            <a:avLst/>
          </a:prstGeom>
          <a:noFill/>
        </p:spPr>
        <p:txBody>
          <a:bodyPr wrap="square">
            <a:spAutoFit/>
          </a:bodyPr>
          <a:lstStyle/>
          <a:p>
            <a:pPr algn="l">
              <a:lnSpc>
                <a:spcPct val="100000"/>
              </a:lnSpc>
            </a:pPr>
            <a:r>
              <a:rPr sz="1500" b="0">
                <a:solidFill>
                  <a:srgbClr val="8B97AB"/>
                </a:solidFill>
                <a:latin typeface="Helvetica Neue"/>
              </a:rPr>
              <a:t>its own severity, translated through one table</a:t>
            </a:r>
          </a:p>
        </p:txBody>
      </p:sp>
      <p:sp>
        <p:nvSpPr>
          <p:cNvPr id="11" name="TextBox 10"/>
          <p:cNvSpPr txBox="1"/>
          <p:nvPr/>
        </p:nvSpPr>
        <p:spPr>
          <a:xfrm>
            <a:off x="1005840" y="3063240"/>
            <a:ext cx="2377440" cy="457200"/>
          </a:xfrm>
          <a:prstGeom prst="rect">
            <a:avLst/>
          </a:prstGeom>
          <a:noFill/>
        </p:spPr>
        <p:txBody>
          <a:bodyPr wrap="square">
            <a:spAutoFit/>
          </a:bodyPr>
          <a:lstStyle/>
          <a:p>
            <a:pPr algn="l">
              <a:lnSpc>
                <a:spcPct val="100000"/>
              </a:lnSpc>
            </a:pPr>
            <a:r>
              <a:rPr sz="1500" b="0">
                <a:solidFill>
                  <a:srgbClr val="E8ECF3"/>
                </a:solidFill>
                <a:latin typeface="Helvetica Neue"/>
              </a:rPr>
              <a:t>Trivy</a:t>
            </a:r>
          </a:p>
        </p:txBody>
      </p:sp>
      <p:sp>
        <p:nvSpPr>
          <p:cNvPr id="12" name="TextBox 11"/>
          <p:cNvSpPr txBox="1"/>
          <p:nvPr/>
        </p:nvSpPr>
        <p:spPr>
          <a:xfrm>
            <a:off x="3383280" y="3063240"/>
            <a:ext cx="7772400" cy="457200"/>
          </a:xfrm>
          <a:prstGeom prst="rect">
            <a:avLst/>
          </a:prstGeom>
          <a:noFill/>
        </p:spPr>
        <p:txBody>
          <a:bodyPr wrap="square">
            <a:spAutoFit/>
          </a:bodyPr>
          <a:lstStyle/>
          <a:p>
            <a:pPr algn="l">
              <a:lnSpc>
                <a:spcPct val="100000"/>
              </a:lnSpc>
            </a:pPr>
            <a:r>
              <a:rPr sz="1500" b="0">
                <a:solidFill>
                  <a:srgbClr val="8B97AB"/>
                </a:solidFill>
                <a:latin typeface="Helvetica Neue"/>
              </a:rPr>
              <a:t>its own severity, translated through the same table</a:t>
            </a:r>
          </a:p>
        </p:txBody>
      </p:sp>
      <p:sp>
        <p:nvSpPr>
          <p:cNvPr id="13" name="TextBox 12"/>
          <p:cNvSpPr txBox="1"/>
          <p:nvPr/>
        </p:nvSpPr>
        <p:spPr>
          <a:xfrm>
            <a:off x="1005840" y="3520440"/>
            <a:ext cx="2377440" cy="457200"/>
          </a:xfrm>
          <a:prstGeom prst="rect">
            <a:avLst/>
          </a:prstGeom>
          <a:noFill/>
        </p:spPr>
        <p:txBody>
          <a:bodyPr wrap="square">
            <a:spAutoFit/>
          </a:bodyPr>
          <a:lstStyle/>
          <a:p>
            <a:pPr algn="l">
              <a:lnSpc>
                <a:spcPct val="100000"/>
              </a:lnSpc>
            </a:pPr>
            <a:r>
              <a:rPr sz="1500" b="0">
                <a:solidFill>
                  <a:srgbClr val="E8ECF3"/>
                </a:solidFill>
                <a:latin typeface="Helvetica Neue"/>
              </a:rPr>
              <a:t>gitleaks</a:t>
            </a:r>
          </a:p>
        </p:txBody>
      </p:sp>
      <p:sp>
        <p:nvSpPr>
          <p:cNvPr id="14" name="TextBox 13"/>
          <p:cNvSpPr txBox="1"/>
          <p:nvPr/>
        </p:nvSpPr>
        <p:spPr>
          <a:xfrm>
            <a:off x="3383280" y="3520440"/>
            <a:ext cx="7772400" cy="457200"/>
          </a:xfrm>
          <a:prstGeom prst="rect">
            <a:avLst/>
          </a:prstGeom>
          <a:noFill/>
        </p:spPr>
        <p:txBody>
          <a:bodyPr wrap="square">
            <a:spAutoFit/>
          </a:bodyPr>
          <a:lstStyle/>
          <a:p>
            <a:pPr algn="l">
              <a:lnSpc>
                <a:spcPct val="100000"/>
              </a:lnSpc>
            </a:pPr>
            <a:r>
              <a:rPr sz="1500" b="0">
                <a:solidFill>
                  <a:srgbClr val="8B97AB"/>
                </a:solidFill>
                <a:latin typeface="Helvetica Neue"/>
              </a:rPr>
              <a:t>it reports no severity, so every secret is critical, by policy</a:t>
            </a:r>
          </a:p>
        </p:txBody>
      </p:sp>
      <p:sp>
        <p:nvSpPr>
          <p:cNvPr id="15" name="TextBox 14"/>
          <p:cNvSpPr txBox="1"/>
          <p:nvPr/>
        </p:nvSpPr>
        <p:spPr>
          <a:xfrm>
            <a:off x="1005840" y="4160520"/>
            <a:ext cx="10149840" cy="566928"/>
          </a:xfrm>
          <a:prstGeom prst="rect">
            <a:avLst/>
          </a:prstGeom>
          <a:noFill/>
        </p:spPr>
        <p:txBody>
          <a:bodyPr wrap="square">
            <a:spAutoFit/>
          </a:bodyPr>
          <a:lstStyle/>
          <a:p>
            <a:pPr algn="l">
              <a:lnSpc>
                <a:spcPct val="120000"/>
              </a:lnSpc>
            </a:pPr>
            <a:r>
              <a:rPr sz="1600" b="0">
                <a:solidFill>
                  <a:srgbClr val="E8ECF3"/>
                </a:solidFill>
                <a:latin typeface="Helvetica Neue"/>
              </a:rPr>
              <a:t>One comparison decides: block when any finding is at or above the threshold.</a:t>
            </a:r>
          </a:p>
        </p:txBody>
      </p:sp>
      <p:sp>
        <p:nvSpPr>
          <p:cNvPr id="16" name="TextBox 15"/>
          <p:cNvSpPr txBox="1"/>
          <p:nvPr/>
        </p:nvSpPr>
        <p:spPr>
          <a:xfrm>
            <a:off x="1005840" y="4727448"/>
            <a:ext cx="10149840" cy="566928"/>
          </a:xfrm>
          <a:prstGeom prst="rect">
            <a:avLst/>
          </a:prstGeom>
          <a:noFill/>
        </p:spPr>
        <p:txBody>
          <a:bodyPr wrap="square">
            <a:spAutoFit/>
          </a:bodyPr>
          <a:lstStyle/>
          <a:p>
            <a:pPr algn="l">
              <a:lnSpc>
                <a:spcPct val="120000"/>
              </a:lnSpc>
            </a:pPr>
            <a:r>
              <a:rPr sz="1600" b="0">
                <a:solidFill>
                  <a:srgbClr val="E8ECF3"/>
                </a:solidFill>
                <a:latin typeface="Helvetica Neue"/>
              </a:rPr>
              <a:t>A severity the table does not recognise counts as high, the blocking level, so an unknown can never pass.</a:t>
            </a:r>
          </a:p>
        </p:txBody>
      </p:sp>
      <p:sp>
        <p:nvSpPr>
          <p:cNvPr id="17" name="TextBox 16"/>
          <p:cNvSpPr txBox="1"/>
          <p:nvPr/>
        </p:nvSpPr>
        <p:spPr>
          <a:xfrm>
            <a:off x="1005840" y="5294376"/>
            <a:ext cx="10149840" cy="566928"/>
          </a:xfrm>
          <a:prstGeom prst="rect">
            <a:avLst/>
          </a:prstGeom>
          <a:noFill/>
        </p:spPr>
        <p:txBody>
          <a:bodyPr wrap="square">
            <a:spAutoFit/>
          </a:bodyPr>
          <a:lstStyle/>
          <a:p>
            <a:pPr algn="l">
              <a:lnSpc>
                <a:spcPct val="120000"/>
              </a:lnSpc>
            </a:pPr>
            <a:r>
              <a:rPr sz="1600" b="0">
                <a:solidFill>
                  <a:srgbClr val="E8ECF3"/>
                </a:solidFill>
                <a:latin typeface="Helvetica Neue"/>
              </a:rPr>
              <a:t>A secret is always critical, so no threshold setting lets a committed credential through.</a:t>
            </a:r>
          </a:p>
        </p:txBody>
      </p:sp>
      <p:sp>
        <p:nvSpPr>
          <p:cNvPr id="18" name="TextBox 17"/>
          <p:cNvSpPr txBox="1"/>
          <p:nvPr/>
        </p:nvSpPr>
        <p:spPr>
          <a:xfrm>
            <a:off x="1005840" y="5861304"/>
            <a:ext cx="10149840" cy="566928"/>
          </a:xfrm>
          <a:prstGeom prst="rect">
            <a:avLst/>
          </a:prstGeom>
          <a:noFill/>
        </p:spPr>
        <p:txBody>
          <a:bodyPr wrap="square">
            <a:spAutoFit/>
          </a:bodyPr>
          <a:lstStyle/>
          <a:p>
            <a:pPr algn="l">
              <a:lnSpc>
                <a:spcPct val="120000"/>
              </a:lnSpc>
            </a:pPr>
            <a:r>
              <a:rPr sz="1600" b="0">
                <a:solidFill>
                  <a:srgbClr val="E8ECF3"/>
                </a:solidFill>
                <a:latin typeface="Helvetica Neue"/>
              </a:rPr>
              <a:t>A threshold outside the allowed values is rejected, never quietly adjusted.</a:t>
            </a:r>
          </a:p>
        </p:txBody>
      </p:sp>
      <p:sp>
        <p:nvSpPr>
          <p:cNvPr id="45" name="TextBox 4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7</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15"/>
                                        </p:tgtEl>
                                        <p:attrNameLst>
                                          <p:attrName>style.visibility</p:attrName>
                                        </p:attrNameLst>
                                      </p:cBhvr>
                                      <p:to>
                                        <p:strVal val="visible"/>
                                      </p:to>
                                    </p:set>
                                    <p:animEffect transition="in" filter="fade">
                                      <p:cBhvr>
                                        <p:cTn id="14" dur="45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18"/>
                                        </p:tgtEl>
                                        <p:attrNameLst>
                                          <p:attrName>style.visibility</p:attrName>
                                        </p:attrNameLst>
                                      </p:cBhvr>
                                      <p:to>
                                        <p:strVal val="visible"/>
                                      </p:to>
                                    </p:set>
                                    <p:animEffect transition="in" filter="fade">
                                      <p:cBhvr>
                                        <p:cTn id="44"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3657600" cy="274320"/>
          </a:xfrm>
          <a:prstGeom prst="rect">
            <a:avLst/>
          </a:prstGeom>
          <a:noFill/>
        </p:spPr>
        <p:txBody>
          <a:bodyPr wrap="square">
            <a:spAutoFit/>
          </a:bodyPr>
          <a:lstStyle/>
          <a:p>
            <a:pPr algn="l">
              <a:lnSpc>
                <a:spcPct val="100000"/>
              </a:lnSpc>
            </a:pPr>
            <a:r>
              <a:rPr sz="1200" b="1">
                <a:solidFill>
                  <a:srgbClr val="22D3EE"/>
                </a:solidFill>
                <a:latin typeface="Helvetica Neue"/>
              </a:rPr>
              <a:t>ARCHITECTURE</a:t>
            </a:r>
          </a:p>
        </p:txBody>
      </p:sp>
      <p:sp>
        <p:nvSpPr>
          <p:cNvPr id="4" name="TextBox 3"/>
          <p:cNvSpPr txBox="1"/>
          <p:nvPr/>
        </p:nvSpPr>
        <p:spPr>
          <a:xfrm>
            <a:off x="731520" y="566928"/>
            <a:ext cx="10698480" cy="548640"/>
          </a:xfrm>
          <a:prstGeom prst="rect">
            <a:avLst/>
          </a:prstGeom>
          <a:noFill/>
        </p:spPr>
        <p:txBody>
          <a:bodyPr wrap="square">
            <a:spAutoFit/>
          </a:bodyPr>
          <a:lstStyle/>
          <a:p>
            <a:pPr algn="l">
              <a:lnSpc>
                <a:spcPct val="100000"/>
              </a:lnSpc>
            </a:pPr>
            <a:r>
              <a:rPr sz="2600" b="1">
                <a:solidFill>
                  <a:srgbClr val="E8ECF3"/>
                </a:solidFill>
                <a:latin typeface="Helvetica Neue"/>
              </a:rPr>
              <a:t>What runs where — follow the numbers</a:t>
            </a:r>
          </a:p>
        </p:txBody>
      </p:sp>
      <p:pic>
        <p:nvPicPr>
          <p:cNvPr id="5" name="Picture 4" descr="architecture.png"/>
          <p:cNvPicPr>
            <a:picLocks noChangeAspect="1"/>
          </p:cNvPicPr>
          <p:nvPr/>
        </p:nvPicPr>
        <p:blipFill>
          <a:blip r:embed="rId2"/>
          <a:stretch>
            <a:fillRect/>
          </a:stretch>
        </p:blipFill>
        <p:spPr>
          <a:xfrm>
            <a:off x="743431" y="1243584"/>
            <a:ext cx="10704832" cy="5504688"/>
          </a:xfrm>
          <a:prstGeom prst="rect">
            <a:avLst/>
          </a:prstGeom>
        </p:spPr>
      </p:pic>
      <p:sp>
        <p:nvSpPr>
          <p:cNvPr id="6" name="TextBox 5"/>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8</a:t>
            </a:r>
          </a:p>
        </p:txBody>
      </p:sp>
    </p:spTree>
  </p:cSld>
  <p:clrMapOvr>
    <a:masterClrMapping/>
  </p:clrMapOvr>
  <p:transition spd="med">
    <p:wipe dir="l"/>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BUSINESS IMPACT</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200" b="1">
                <a:solidFill>
                  <a:srgbClr val="E8ECF3"/>
                </a:solidFill>
                <a:latin typeface="Helvetica Neue"/>
              </a:rPr>
              <a:t>What it costs, and what it buys</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3108960" cy="841248"/>
          </a:xfrm>
          <a:prstGeom prst="rect">
            <a:avLst/>
          </a:prstGeom>
          <a:noFill/>
        </p:spPr>
        <p:txBody>
          <a:bodyPr wrap="square">
            <a:spAutoFit/>
          </a:bodyPr>
          <a:lstStyle/>
          <a:p>
            <a:pPr algn="l">
              <a:lnSpc>
                <a:spcPct val="100000"/>
              </a:lnSpc>
            </a:pPr>
            <a:r>
              <a:rPr sz="4000" b="1">
                <a:solidFill>
                  <a:srgbClr val="22D3EE"/>
                </a:solidFill>
                <a:latin typeface="Helvetica Neue"/>
              </a:rPr>
              <a:t>1.3–1.7¢</a:t>
            </a:r>
          </a:p>
        </p:txBody>
      </p:sp>
      <p:sp>
        <p:nvSpPr>
          <p:cNvPr id="7" name="TextBox 6"/>
          <p:cNvSpPr txBox="1"/>
          <p:nvPr/>
        </p:nvSpPr>
        <p:spPr>
          <a:xfrm>
            <a:off x="1005840" y="2935224"/>
            <a:ext cx="3108960" cy="749808"/>
          </a:xfrm>
          <a:prstGeom prst="rect">
            <a:avLst/>
          </a:prstGeom>
          <a:noFill/>
        </p:spPr>
        <p:txBody>
          <a:bodyPr wrap="square">
            <a:spAutoFit/>
          </a:bodyPr>
          <a:lstStyle/>
          <a:p>
            <a:pPr algn="l">
              <a:lnSpc>
                <a:spcPct val="125000"/>
              </a:lnSpc>
            </a:pPr>
            <a:r>
              <a:rPr sz="1500" b="0">
                <a:solidFill>
                  <a:srgbClr val="8B97AB"/>
                </a:solidFill>
                <a:latin typeface="Helvetica Neue"/>
              </a:rPr>
              <a:t>model cost per change</a:t>
            </a:r>
          </a:p>
          <a:p>
            <a:pPr algn="l">
              <a:lnSpc>
                <a:spcPct val="125000"/>
              </a:lnSpc>
            </a:pPr>
            <a:r>
              <a:rPr sz="1500" b="0">
                <a:solidFill>
                  <a:srgbClr val="8B97AB"/>
                </a:solidFill>
                <a:latin typeface="Helvetica Neue"/>
              </a:rPr>
              <a:t>three measured runs</a:t>
            </a:r>
          </a:p>
        </p:txBody>
      </p:sp>
      <p:sp>
        <p:nvSpPr>
          <p:cNvPr id="8" name="TextBox 7"/>
          <p:cNvSpPr txBox="1"/>
          <p:nvPr/>
        </p:nvSpPr>
        <p:spPr>
          <a:xfrm>
            <a:off x="4389120" y="2148840"/>
            <a:ext cx="3108960" cy="841248"/>
          </a:xfrm>
          <a:prstGeom prst="rect">
            <a:avLst/>
          </a:prstGeom>
          <a:noFill/>
        </p:spPr>
        <p:txBody>
          <a:bodyPr wrap="square">
            <a:spAutoFit/>
          </a:bodyPr>
          <a:lstStyle/>
          <a:p>
            <a:pPr algn="l">
              <a:lnSpc>
                <a:spcPct val="100000"/>
              </a:lnSpc>
            </a:pPr>
            <a:r>
              <a:rPr sz="4000" b="1">
                <a:solidFill>
                  <a:srgbClr val="22D3EE"/>
                </a:solidFill>
                <a:latin typeface="Helvetica Neue"/>
              </a:rPr>
              <a:t>5.39 min</a:t>
            </a:r>
          </a:p>
        </p:txBody>
      </p:sp>
      <p:sp>
        <p:nvSpPr>
          <p:cNvPr id="9" name="TextBox 8"/>
          <p:cNvSpPr txBox="1"/>
          <p:nvPr/>
        </p:nvSpPr>
        <p:spPr>
          <a:xfrm>
            <a:off x="4389120" y="2935224"/>
            <a:ext cx="3108960" cy="749808"/>
          </a:xfrm>
          <a:prstGeom prst="rect">
            <a:avLst/>
          </a:prstGeom>
          <a:noFill/>
        </p:spPr>
        <p:txBody>
          <a:bodyPr wrap="square">
            <a:spAutoFit/>
          </a:bodyPr>
          <a:lstStyle/>
          <a:p>
            <a:pPr algn="l">
              <a:lnSpc>
                <a:spcPct val="125000"/>
              </a:lnSpc>
            </a:pPr>
            <a:r>
              <a:rPr sz="1500" b="0">
                <a:solidFill>
                  <a:srgbClr val="8B97AB"/>
                </a:solidFill>
                <a:latin typeface="Helvetica Neue"/>
              </a:rPr>
              <a:t>median ticket to merge</a:t>
            </a:r>
          </a:p>
          <a:p>
            <a:pPr algn="l">
              <a:lnSpc>
                <a:spcPct val="125000"/>
              </a:lnSpc>
            </a:pPr>
            <a:r>
              <a:rPr sz="1500" b="0">
                <a:solidFill>
                  <a:srgbClr val="8B97AB"/>
                </a:solidFill>
                <a:latin typeface="Helvetica Neue"/>
              </a:rPr>
              <a:t>8 merges</a:t>
            </a:r>
          </a:p>
        </p:txBody>
      </p:sp>
      <p:sp>
        <p:nvSpPr>
          <p:cNvPr id="10" name="TextBox 9"/>
          <p:cNvSpPr txBox="1"/>
          <p:nvPr/>
        </p:nvSpPr>
        <p:spPr>
          <a:xfrm>
            <a:off x="7680960" y="2148840"/>
            <a:ext cx="3108960" cy="841248"/>
          </a:xfrm>
          <a:prstGeom prst="rect">
            <a:avLst/>
          </a:prstGeom>
          <a:noFill/>
        </p:spPr>
        <p:txBody>
          <a:bodyPr wrap="square">
            <a:spAutoFit/>
          </a:bodyPr>
          <a:lstStyle/>
          <a:p>
            <a:pPr algn="l">
              <a:lnSpc>
                <a:spcPct val="100000"/>
              </a:lnSpc>
            </a:pPr>
            <a:r>
              <a:rPr sz="4000" b="1">
                <a:solidFill>
                  <a:srgbClr val="22D3EE"/>
                </a:solidFill>
                <a:latin typeface="Helvetica Neue"/>
              </a:rPr>
              <a:t>0 of 8</a:t>
            </a:r>
          </a:p>
        </p:txBody>
      </p:sp>
      <p:sp>
        <p:nvSpPr>
          <p:cNvPr id="11" name="TextBox 10"/>
          <p:cNvSpPr txBox="1"/>
          <p:nvPr/>
        </p:nvSpPr>
        <p:spPr>
          <a:xfrm>
            <a:off x="7680960" y="2935224"/>
            <a:ext cx="3108960" cy="749808"/>
          </a:xfrm>
          <a:prstGeom prst="rect">
            <a:avLst/>
          </a:prstGeom>
          <a:noFill/>
        </p:spPr>
        <p:txBody>
          <a:bodyPr wrap="square">
            <a:spAutoFit/>
          </a:bodyPr>
          <a:lstStyle/>
          <a:p>
            <a:pPr algn="l">
              <a:lnSpc>
                <a:spcPct val="125000"/>
              </a:lnSpc>
            </a:pPr>
            <a:r>
              <a:rPr sz="1500" b="0">
                <a:solidFill>
                  <a:srgbClr val="8B97AB"/>
                </a:solidFill>
                <a:latin typeface="Helvetica Neue"/>
              </a:rPr>
              <a:t>merged changes carrying</a:t>
            </a:r>
          </a:p>
          <a:p>
            <a:pPr algn="l">
              <a:lnSpc>
                <a:spcPct val="125000"/>
              </a:lnSpc>
            </a:pPr>
            <a:r>
              <a:rPr sz="1500" b="0">
                <a:solidFill>
                  <a:srgbClr val="8B97AB"/>
                </a:solidFill>
                <a:latin typeface="Helvetica Neue"/>
              </a:rPr>
              <a:t>a credential</a:t>
            </a:r>
          </a:p>
        </p:txBody>
      </p:sp>
      <p:sp>
        <p:nvSpPr>
          <p:cNvPr id="12" name="TextBox 11"/>
          <p:cNvSpPr txBox="1"/>
          <p:nvPr/>
        </p:nvSpPr>
        <p:spPr>
          <a:xfrm>
            <a:off x="1005840" y="4069080"/>
            <a:ext cx="10149840" cy="868680"/>
          </a:xfrm>
          <a:prstGeom prst="rect">
            <a:avLst/>
          </a:prstGeom>
          <a:noFill/>
        </p:spPr>
        <p:txBody>
          <a:bodyPr wrap="square">
            <a:spAutoFit/>
          </a:bodyPr>
          <a:lstStyle/>
          <a:p>
            <a:pPr algn="l">
              <a:lnSpc>
                <a:spcPct val="120000"/>
              </a:lnSpc>
            </a:pPr>
            <a:r>
              <a:rPr sz="1600" b="0">
                <a:solidFill>
                  <a:srgbClr val="E8ECF3"/>
                </a:solidFill>
                <a:latin typeface="Helvetica Neue"/>
              </a:rPr>
              <a:t>The model is 99.9% of what a change costs. Lambda, EventBridge and DynamoDB together came to twelve millionths of a dollar. The only cost work worth doing is prompt caching.</a:t>
            </a:r>
          </a:p>
        </p:txBody>
      </p:sp>
      <p:sp>
        <p:nvSpPr>
          <p:cNvPr id="13" name="TextBox 12"/>
          <p:cNvSpPr txBox="1"/>
          <p:nvPr/>
        </p:nvSpPr>
        <p:spPr>
          <a:xfrm>
            <a:off x="1005840" y="4937760"/>
            <a:ext cx="10149840" cy="868680"/>
          </a:xfrm>
          <a:prstGeom prst="rect">
            <a:avLst/>
          </a:prstGeom>
          <a:noFill/>
        </p:spPr>
        <p:txBody>
          <a:bodyPr wrap="square">
            <a:spAutoFit/>
          </a:bodyPr>
          <a:lstStyle/>
          <a:p>
            <a:pPr algn="l">
              <a:lnSpc>
                <a:spcPct val="120000"/>
              </a:lnSpc>
            </a:pPr>
            <a:r>
              <a:rPr sz="1600" b="0">
                <a:solidFill>
                  <a:srgbClr val="E8ECF3"/>
                </a:solidFill>
                <a:latin typeface="Helvetica Neue"/>
              </a:rPr>
              <a:t>The value is not the cents. A credential cannot reach the main branch by being approved quickly, and that refusal has no model in it.</a:t>
            </a:r>
          </a:p>
        </p:txBody>
      </p:sp>
      <p:sp>
        <p:nvSpPr>
          <p:cNvPr id="14" name="TextBox 13"/>
          <p:cNvSpPr txBox="1"/>
          <p:nvPr/>
        </p:nvSpPr>
        <p:spPr>
          <a:xfrm>
            <a:off x="1005840" y="5806440"/>
            <a:ext cx="10058400" cy="640080"/>
          </a:xfrm>
          <a:prstGeom prst="rect">
            <a:avLst/>
          </a:prstGeom>
          <a:noFill/>
        </p:spPr>
        <p:txBody>
          <a:bodyPr wrap="square">
            <a:spAutoFit/>
          </a:bodyPr>
          <a:lstStyle/>
          <a:p>
            <a:pPr algn="l">
              <a:lnSpc>
                <a:spcPct val="125000"/>
              </a:lnSpc>
            </a:pPr>
            <a:r>
              <a:rPr sz="1300" b="0">
                <a:solidFill>
                  <a:srgbClr val="8B97AB"/>
                </a:solidFill>
                <a:latin typeface="Helvetica Neue"/>
              </a:rPr>
              <a:t>8 of 37 runs merged, so the median covers the runs that finished. The same scan finds 3 credentials in unmerged pull request #50, so the zero is a real result.</a:t>
            </a:r>
          </a:p>
        </p:txBody>
      </p:sp>
      <p:sp>
        <p:nvSpPr>
          <p:cNvPr id="95" name="TextBox 9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9</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7"/>
                                        </p:tgtEl>
                                        <p:attrNameLst>
                                          <p:attrName>style.visibility</p:attrName>
                                        </p:attrNameLst>
                                      </p:cBhvr>
                                      <p:to>
                                        <p:strVal val="visible"/>
                                      </p:to>
                                    </p:set>
                                    <p:animEffect transition="in" filter="fade">
                                      <p:cBhvr>
                                        <p:cTn id="24" dur="45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8"/>
                                        </p:tgtEl>
                                        <p:attrNameLst>
                                          <p:attrName>style.visibility</p:attrName>
                                        </p:attrNameLst>
                                      </p:cBhvr>
                                      <p:to>
                                        <p:strVal val="visible"/>
                                      </p:to>
                                    </p:set>
                                    <p:animEffect transition="in" filter="fade">
                                      <p:cBhvr>
                                        <p:cTn id="34" dur="45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9"/>
                                        </p:tgtEl>
                                        <p:attrNameLst>
                                          <p:attrName>style.visibility</p:attrName>
                                        </p:attrNameLst>
                                      </p:cBhvr>
                                      <p:to>
                                        <p:strVal val="visible"/>
                                      </p:to>
                                    </p:set>
                                    <p:animEffect transition="in" filter="fade">
                                      <p:cBhvr>
                                        <p:cTn id="44" dur="45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10"/>
                                        </p:tgtEl>
                                        <p:attrNameLst>
                                          <p:attrName>style.visibility</p:attrName>
                                        </p:attrNameLst>
                                      </p:cBhvr>
                                      <p:to>
                                        <p:strVal val="visible"/>
                                      </p:to>
                                    </p:set>
                                    <p:animEffect transition="in" filter="fade">
                                      <p:cBhvr>
                                        <p:cTn id="54" dur="45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afterEffect">
                                  <p:stCondLst>
                                    <p:cond delay="0"/>
                                  </p:stCondLst>
                                  <p:childTnLst>
                                    <p:set>
                                      <p:cBhvr>
                                        <p:cTn id="63" dur="1" fill="hold"/>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afterEffect">
                                  <p:stCondLst>
                                    <p:cond delay="0"/>
                                  </p:stCondLst>
                                  <p:childTnLst>
                                    <p:set>
                                      <p:cBhvr>
                                        <p:cTn id="73" dur="1" fill="hold"/>
                                        <p:tgtEl>
                                          <p:spTgt spid="12"/>
                                        </p:tgtEl>
                                        <p:attrNameLst>
                                          <p:attrName>style.visibility</p:attrName>
                                        </p:attrNameLst>
                                      </p:cBhvr>
                                      <p:to>
                                        <p:strVal val="visible"/>
                                      </p:to>
                                    </p:set>
                                    <p:animEffect transition="in" filter="fade">
                                      <p:cBhvr>
                                        <p:cTn id="74" dur="45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afterEffect">
                                  <p:stCondLst>
                                    <p:cond delay="0"/>
                                  </p:stCondLst>
                                  <p:childTnLst>
                                    <p:set>
                                      <p:cBhvr>
                                        <p:cTn id="83" dur="1" fill="hold"/>
                                        <p:tgtEl>
                                          <p:spTgt spid="13"/>
                                        </p:tgtEl>
                                        <p:attrNameLst>
                                          <p:attrName>style.visibility</p:attrName>
                                        </p:attrNameLst>
                                      </p:cBhvr>
                                      <p:to>
                                        <p:strVal val="visible"/>
                                      </p:to>
                                    </p:set>
                                    <p:animEffect transition="in" filter="fade">
                                      <p:cBhvr>
                                        <p:cTn id="84" dur="45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afterEffect">
                                  <p:stCondLst>
                                    <p:cond delay="0"/>
                                  </p:stCondLst>
                                  <p:childTnLst>
                                    <p:set>
                                      <p:cBhvr>
                                        <p:cTn id="93" dur="1" fill="hold"/>
                                        <p:tgtEl>
                                          <p:spTgt spid="14"/>
                                        </p:tgtEl>
                                        <p:attrNameLst>
                                          <p:attrName>style.visibility</p:attrName>
                                        </p:attrNameLst>
                                      </p:cBhvr>
                                      <p:to>
                                        <p:strVal val="visible"/>
                                      </p:to>
                                    </p:set>
                                    <p:animEffect transition="in" filter="fade">
                                      <p:cBhvr>
                                        <p:cTn id="94"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DIFFERENTIATION</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2800" b="1">
                <a:solidFill>
                  <a:srgbClr val="E8ECF3"/>
                </a:solidFill>
                <a:latin typeface="Helvetica Neue"/>
              </a:rPr>
              <a:t>Every vendor's AI review is advisory. They say so.</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3017520" cy="292608"/>
          </a:xfrm>
          <a:prstGeom prst="rect">
            <a:avLst/>
          </a:prstGeom>
          <a:noFill/>
        </p:spPr>
        <p:txBody>
          <a:bodyPr wrap="square">
            <a:spAutoFit/>
          </a:bodyPr>
          <a:lstStyle/>
          <a:p>
            <a:pPr algn="l">
              <a:lnSpc>
                <a:spcPct val="100000"/>
              </a:lnSpc>
            </a:pPr>
            <a:r>
              <a:rPr sz="1100" b="1">
                <a:solidFill>
                  <a:srgbClr val="22D3EE"/>
                </a:solidFill>
                <a:latin typeface="Helvetica Neue"/>
              </a:rPr>
              <a:t>PRODUCT</a:t>
            </a:r>
          </a:p>
        </p:txBody>
      </p:sp>
      <p:sp>
        <p:nvSpPr>
          <p:cNvPr id="7" name="TextBox 6"/>
          <p:cNvSpPr txBox="1"/>
          <p:nvPr/>
        </p:nvSpPr>
        <p:spPr>
          <a:xfrm>
            <a:off x="4023360" y="2148840"/>
            <a:ext cx="7132320" cy="292608"/>
          </a:xfrm>
          <a:prstGeom prst="rect">
            <a:avLst/>
          </a:prstGeom>
          <a:noFill/>
        </p:spPr>
        <p:txBody>
          <a:bodyPr wrap="square">
            <a:spAutoFit/>
          </a:bodyPr>
          <a:lstStyle/>
          <a:p>
            <a:pPr algn="l">
              <a:lnSpc>
                <a:spcPct val="100000"/>
              </a:lnSpc>
            </a:pPr>
            <a:r>
              <a:rPr sz="1100" b="1">
                <a:solidFill>
                  <a:srgbClr val="22D3EE"/>
                </a:solidFill>
                <a:latin typeface="Helvetica Neue"/>
              </a:rPr>
              <a:t>FROM THEIR OWN DOCUMENTATION</a:t>
            </a:r>
          </a:p>
        </p:txBody>
      </p:sp>
      <p:sp>
        <p:nvSpPr>
          <p:cNvPr id="8" name="Rectangle 7"/>
          <p:cNvSpPr/>
          <p:nvPr/>
        </p:nvSpPr>
        <p:spPr>
          <a:xfrm>
            <a:off x="1005840" y="2478024"/>
            <a:ext cx="10149840" cy="127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06040"/>
            <a:ext cx="3017520" cy="438912"/>
          </a:xfrm>
          <a:prstGeom prst="rect">
            <a:avLst/>
          </a:prstGeom>
          <a:noFill/>
        </p:spPr>
        <p:txBody>
          <a:bodyPr wrap="square">
            <a:spAutoFit/>
          </a:bodyPr>
          <a:lstStyle/>
          <a:p>
            <a:pPr algn="l">
              <a:lnSpc>
                <a:spcPct val="100000"/>
              </a:lnSpc>
            </a:pPr>
            <a:r>
              <a:rPr sz="1500" b="0">
                <a:solidFill>
                  <a:srgbClr val="E8ECF3"/>
                </a:solidFill>
                <a:latin typeface="Helvetica Neue"/>
              </a:rPr>
              <a:t>GitHub Copilot review</a:t>
            </a:r>
          </a:p>
        </p:txBody>
      </p:sp>
      <p:sp>
        <p:nvSpPr>
          <p:cNvPr id="10" name="TextBox 9"/>
          <p:cNvSpPr txBox="1"/>
          <p:nvPr/>
        </p:nvSpPr>
        <p:spPr>
          <a:xfrm>
            <a:off x="4023360" y="2606040"/>
            <a:ext cx="7132320" cy="438912"/>
          </a:xfrm>
          <a:prstGeom prst="rect">
            <a:avLst/>
          </a:prstGeom>
          <a:noFill/>
        </p:spPr>
        <p:txBody>
          <a:bodyPr wrap="square">
            <a:spAutoFit/>
          </a:bodyPr>
          <a:lstStyle/>
          <a:p>
            <a:pPr algn="l">
              <a:lnSpc>
                <a:spcPct val="100000"/>
              </a:lnSpc>
            </a:pPr>
            <a:r>
              <a:rPr sz="1500" b="0">
                <a:solidFill>
                  <a:srgbClr val="8B97AB"/>
                </a:solidFill>
                <a:latin typeface="Helvetica Neue"/>
              </a:rPr>
              <a:t>“will not block merging changes”</a:t>
            </a:r>
          </a:p>
        </p:txBody>
      </p:sp>
      <p:sp>
        <p:nvSpPr>
          <p:cNvPr id="11" name="TextBox 10"/>
          <p:cNvSpPr txBox="1"/>
          <p:nvPr/>
        </p:nvSpPr>
        <p:spPr>
          <a:xfrm>
            <a:off x="1005840" y="3044952"/>
            <a:ext cx="3017520" cy="438912"/>
          </a:xfrm>
          <a:prstGeom prst="rect">
            <a:avLst/>
          </a:prstGeom>
          <a:noFill/>
        </p:spPr>
        <p:txBody>
          <a:bodyPr wrap="square">
            <a:spAutoFit/>
          </a:bodyPr>
          <a:lstStyle/>
          <a:p>
            <a:pPr algn="l">
              <a:lnSpc>
                <a:spcPct val="100000"/>
              </a:lnSpc>
            </a:pPr>
            <a:r>
              <a:rPr sz="1500" b="0">
                <a:solidFill>
                  <a:srgbClr val="E8ECF3"/>
                </a:solidFill>
                <a:latin typeface="Helvetica Neue"/>
              </a:rPr>
              <a:t>Anthropic Code Review</a:t>
            </a:r>
          </a:p>
        </p:txBody>
      </p:sp>
      <p:sp>
        <p:nvSpPr>
          <p:cNvPr id="12" name="TextBox 11"/>
          <p:cNvSpPr txBox="1"/>
          <p:nvPr/>
        </p:nvSpPr>
        <p:spPr>
          <a:xfrm>
            <a:off x="4023360" y="3044952"/>
            <a:ext cx="7132320" cy="438912"/>
          </a:xfrm>
          <a:prstGeom prst="rect">
            <a:avLst/>
          </a:prstGeom>
          <a:noFill/>
        </p:spPr>
        <p:txBody>
          <a:bodyPr wrap="square">
            <a:spAutoFit/>
          </a:bodyPr>
          <a:lstStyle/>
          <a:p>
            <a:pPr algn="l">
              <a:lnSpc>
                <a:spcPct val="100000"/>
              </a:lnSpc>
            </a:pPr>
            <a:r>
              <a:rPr sz="1500" b="0">
                <a:solidFill>
                  <a:srgbClr val="8B97AB"/>
                </a:solidFill>
                <a:latin typeface="Helvetica Neue"/>
              </a:rPr>
              <a:t>“always completes with a neutral conclusion so it never blocks”</a:t>
            </a:r>
          </a:p>
        </p:txBody>
      </p:sp>
      <p:sp>
        <p:nvSpPr>
          <p:cNvPr id="13" name="TextBox 12"/>
          <p:cNvSpPr txBox="1"/>
          <p:nvPr/>
        </p:nvSpPr>
        <p:spPr>
          <a:xfrm>
            <a:off x="1005840" y="3483864"/>
            <a:ext cx="3017520" cy="438912"/>
          </a:xfrm>
          <a:prstGeom prst="rect">
            <a:avLst/>
          </a:prstGeom>
          <a:noFill/>
        </p:spPr>
        <p:txBody>
          <a:bodyPr wrap="square">
            <a:spAutoFit/>
          </a:bodyPr>
          <a:lstStyle/>
          <a:p>
            <a:pPr algn="l">
              <a:lnSpc>
                <a:spcPct val="100000"/>
              </a:lnSpc>
            </a:pPr>
            <a:r>
              <a:rPr sz="1500" b="0">
                <a:solidFill>
                  <a:srgbClr val="E8ECF3"/>
                </a:solidFill>
                <a:latin typeface="Helvetica Neue"/>
              </a:rPr>
              <a:t>OpenAI Codex</a:t>
            </a:r>
          </a:p>
        </p:txBody>
      </p:sp>
      <p:sp>
        <p:nvSpPr>
          <p:cNvPr id="14" name="TextBox 13"/>
          <p:cNvSpPr txBox="1"/>
          <p:nvPr/>
        </p:nvSpPr>
        <p:spPr>
          <a:xfrm>
            <a:off x="4023360" y="3483864"/>
            <a:ext cx="7132320" cy="438912"/>
          </a:xfrm>
          <a:prstGeom prst="rect">
            <a:avLst/>
          </a:prstGeom>
          <a:noFill/>
        </p:spPr>
        <p:txBody>
          <a:bodyPr wrap="square">
            <a:spAutoFit/>
          </a:bodyPr>
          <a:lstStyle/>
          <a:p>
            <a:pPr algn="l">
              <a:lnSpc>
                <a:spcPct val="100000"/>
              </a:lnSpc>
            </a:pPr>
            <a:r>
              <a:rPr sz="1500" b="0">
                <a:solidFill>
                  <a:srgbClr val="8B97AB"/>
                </a:solidFill>
                <a:latin typeface="Helvetica Neue"/>
              </a:rPr>
              <a:t>“don't replace tests, branch protections, or required approvals”</a:t>
            </a:r>
          </a:p>
        </p:txBody>
      </p:sp>
      <p:sp>
        <p:nvSpPr>
          <p:cNvPr id="15" name="TextBox 14"/>
          <p:cNvSpPr txBox="1"/>
          <p:nvPr/>
        </p:nvSpPr>
        <p:spPr>
          <a:xfrm>
            <a:off x="1005840" y="3922776"/>
            <a:ext cx="3017520" cy="438912"/>
          </a:xfrm>
          <a:prstGeom prst="rect">
            <a:avLst/>
          </a:prstGeom>
          <a:noFill/>
        </p:spPr>
        <p:txBody>
          <a:bodyPr wrap="square">
            <a:spAutoFit/>
          </a:bodyPr>
          <a:lstStyle/>
          <a:p>
            <a:pPr algn="l">
              <a:lnSpc>
                <a:spcPct val="100000"/>
              </a:lnSpc>
            </a:pPr>
            <a:r>
              <a:rPr sz="1500" b="0">
                <a:solidFill>
                  <a:srgbClr val="E8ECF3"/>
                </a:solidFill>
                <a:latin typeface="Helvetica Neue"/>
              </a:rPr>
              <a:t>Cursor Bugbot</a:t>
            </a:r>
          </a:p>
        </p:txBody>
      </p:sp>
      <p:sp>
        <p:nvSpPr>
          <p:cNvPr id="16" name="TextBox 15"/>
          <p:cNvSpPr txBox="1"/>
          <p:nvPr/>
        </p:nvSpPr>
        <p:spPr>
          <a:xfrm>
            <a:off x="4023360" y="3922776"/>
            <a:ext cx="7132320" cy="438912"/>
          </a:xfrm>
          <a:prstGeom prst="rect">
            <a:avLst/>
          </a:prstGeom>
          <a:noFill/>
        </p:spPr>
        <p:txBody>
          <a:bodyPr wrap="square">
            <a:spAutoFit/>
          </a:bodyPr>
          <a:lstStyle/>
          <a:p>
            <a:pPr algn="l">
              <a:lnSpc>
                <a:spcPct val="100000"/>
              </a:lnSpc>
            </a:pPr>
            <a:r>
              <a:rPr sz="1500" b="0">
                <a:solidFill>
                  <a:srgbClr val="8B97AB"/>
                </a:solidFill>
                <a:latin typeface="Helvetica Neue"/>
              </a:rPr>
              <a:t>findings “default to neutral”</a:t>
            </a:r>
          </a:p>
        </p:txBody>
      </p:sp>
      <p:sp>
        <p:nvSpPr>
          <p:cNvPr id="17" name="TextBox 16"/>
          <p:cNvSpPr txBox="1"/>
          <p:nvPr/>
        </p:nvSpPr>
        <p:spPr>
          <a:xfrm>
            <a:off x="1005840" y="4361688"/>
            <a:ext cx="3017520" cy="438912"/>
          </a:xfrm>
          <a:prstGeom prst="rect">
            <a:avLst/>
          </a:prstGeom>
          <a:noFill/>
        </p:spPr>
        <p:txBody>
          <a:bodyPr wrap="square">
            <a:spAutoFit/>
          </a:bodyPr>
          <a:lstStyle/>
          <a:p>
            <a:pPr algn="l">
              <a:lnSpc>
                <a:spcPct val="100000"/>
              </a:lnSpc>
            </a:pPr>
            <a:r>
              <a:rPr sz="1500" b="0">
                <a:solidFill>
                  <a:srgbClr val="E8ECF3"/>
                </a:solidFill>
                <a:latin typeface="Helvetica Neue"/>
              </a:rPr>
              <a:t>Snyk</a:t>
            </a:r>
          </a:p>
        </p:txBody>
      </p:sp>
      <p:sp>
        <p:nvSpPr>
          <p:cNvPr id="18" name="TextBox 17"/>
          <p:cNvSpPr txBox="1"/>
          <p:nvPr/>
        </p:nvSpPr>
        <p:spPr>
          <a:xfrm>
            <a:off x="4023360" y="4361688"/>
            <a:ext cx="7132320" cy="438912"/>
          </a:xfrm>
          <a:prstGeom prst="rect">
            <a:avLst/>
          </a:prstGeom>
          <a:noFill/>
        </p:spPr>
        <p:txBody>
          <a:bodyPr wrap="square">
            <a:spAutoFit/>
          </a:bodyPr>
          <a:lstStyle/>
          <a:p>
            <a:pPr algn="l">
              <a:lnSpc>
                <a:spcPct val="100000"/>
              </a:lnSpc>
            </a:pPr>
            <a:r>
              <a:rPr sz="1500" b="0">
                <a:solidFill>
                  <a:srgbClr val="8B97AB"/>
                </a:solidFill>
                <a:latin typeface="Helvetica Neue"/>
              </a:rPr>
              <a:t>“The generator cannot be the validator.”</a:t>
            </a:r>
          </a:p>
        </p:txBody>
      </p:sp>
      <p:sp>
        <p:nvSpPr>
          <p:cNvPr id="19" name="TextBox 18"/>
          <p:cNvSpPr txBox="1"/>
          <p:nvPr/>
        </p:nvSpPr>
        <p:spPr>
          <a:xfrm>
            <a:off x="1005840" y="4983480"/>
            <a:ext cx="10058400" cy="1188720"/>
          </a:xfrm>
          <a:prstGeom prst="rect">
            <a:avLst/>
          </a:prstGeom>
          <a:noFill/>
        </p:spPr>
        <p:txBody>
          <a:bodyPr wrap="square">
            <a:spAutoFit/>
          </a:bodyPr>
          <a:lstStyle/>
          <a:p>
            <a:pPr algn="l">
              <a:lnSpc>
                <a:spcPct val="130000"/>
              </a:lnSpc>
            </a:pPr>
            <a:r>
              <a:rPr sz="1600" b="0">
                <a:solidFill>
                  <a:srgbClr val="E8ECF3"/>
                </a:solidFill>
                <a:latin typeface="Helvetica Neue"/>
              </a:rPr>
              <a:t>Some vendors do enforce rules outside the model: Claude Code's permission rules, Factory's commit blocks. The difference is where the check sits. Theirs guard one agent's actions; ours guards the hand-off between agents, with a named person approving each stage.</a:t>
            </a:r>
          </a:p>
        </p:txBody>
      </p:sp>
      <p:sp>
        <p:nvSpPr>
          <p:cNvPr id="20" name="TextBox 19"/>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10</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19"/>
                                        </p:tgtEl>
                                        <p:attrNameLst>
                                          <p:attrName>style.visibility</p:attrName>
                                        </p:attrNameLst>
                                      </p:cBhvr>
                                      <p:to>
                                        <p:strVal val="visible"/>
                                      </p:to>
                                    </p:set>
                                    <p:animEffect transition="in" filter="fade">
                                      <p:cBhvr>
                                        <p:cTn id="14"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DIFFERENTIATION</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000" b="1">
                <a:solidFill>
                  <a:srgbClr val="E8ECF3"/>
                </a:solidFill>
                <a:latin typeface="Helvetica Neue"/>
              </a:rPr>
              <a:t>When their check breaks, the change goes through</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05840" y="2240280"/>
            <a:ext cx="3224784" cy="2011680"/>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386584"/>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Cursor hooks</a:t>
            </a:r>
          </a:p>
        </p:txBody>
      </p:sp>
      <p:sp>
        <p:nvSpPr>
          <p:cNvPr id="8" name="TextBox 7"/>
          <p:cNvSpPr txBox="1"/>
          <p:nvPr/>
        </p:nvSpPr>
        <p:spPr>
          <a:xfrm>
            <a:off x="1188720" y="2916936"/>
            <a:ext cx="2859024" cy="1188720"/>
          </a:xfrm>
          <a:prstGeom prst="rect">
            <a:avLst/>
          </a:prstGeom>
          <a:noFill/>
        </p:spPr>
        <p:txBody>
          <a:bodyPr wrap="square">
            <a:spAutoFit/>
          </a:bodyPr>
          <a:lstStyle/>
          <a:p>
            <a:pPr algn="l">
              <a:lnSpc>
                <a:spcPct val="130000"/>
              </a:lnSpc>
            </a:pPr>
            <a:r>
              <a:rPr sz="1400" b="0">
                <a:solidFill>
                  <a:srgbClr val="8B97AB"/>
                </a:solidFill>
                <a:latin typeface="Helvetica Neue"/>
              </a:rPr>
              <a:t>If a hook itself fails, the action goes ahead. Their documentation calls it “fail-open by default”.</a:t>
            </a:r>
          </a:p>
        </p:txBody>
      </p:sp>
      <p:sp>
        <p:nvSpPr>
          <p:cNvPr id="9" name="Rectangle 8"/>
          <p:cNvSpPr/>
          <p:nvPr/>
        </p:nvSpPr>
        <p:spPr>
          <a:xfrm>
            <a:off x="4468368" y="2240280"/>
            <a:ext cx="3224784" cy="2011680"/>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1248" y="2386584"/>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Claude Code hooks</a:t>
            </a:r>
          </a:p>
        </p:txBody>
      </p:sp>
      <p:sp>
        <p:nvSpPr>
          <p:cNvPr id="11" name="TextBox 10"/>
          <p:cNvSpPr txBox="1"/>
          <p:nvPr/>
        </p:nvSpPr>
        <p:spPr>
          <a:xfrm>
            <a:off x="4651248" y="2916936"/>
            <a:ext cx="2859024" cy="1188720"/>
          </a:xfrm>
          <a:prstGeom prst="rect">
            <a:avLst/>
          </a:prstGeom>
          <a:noFill/>
        </p:spPr>
        <p:txBody>
          <a:bodyPr wrap="square">
            <a:spAutoFit/>
          </a:bodyPr>
          <a:lstStyle/>
          <a:p>
            <a:pPr algn="l">
              <a:lnSpc>
                <a:spcPct val="130000"/>
              </a:lnSpc>
            </a:pPr>
            <a:r>
              <a:rPr sz="1400" b="0">
                <a:solidFill>
                  <a:srgbClr val="8B97AB"/>
                </a:solidFill>
                <a:latin typeface="Helvetica Neue"/>
              </a:rPr>
              <a:t>Only one specific failure blocks; any other lets the action through, and “a mistyped path silently disables the gate”.</a:t>
            </a:r>
          </a:p>
        </p:txBody>
      </p:sp>
      <p:sp>
        <p:nvSpPr>
          <p:cNvPr id="12" name="Rectangle 11"/>
          <p:cNvSpPr/>
          <p:nvPr/>
        </p:nvSpPr>
        <p:spPr>
          <a:xfrm>
            <a:off x="7930896" y="2240280"/>
            <a:ext cx="3224784" cy="2011680"/>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3776" y="2386584"/>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Semgrep</a:t>
            </a:r>
          </a:p>
        </p:txBody>
      </p:sp>
      <p:sp>
        <p:nvSpPr>
          <p:cNvPr id="14" name="TextBox 13"/>
          <p:cNvSpPr txBox="1"/>
          <p:nvPr/>
        </p:nvSpPr>
        <p:spPr>
          <a:xfrm>
            <a:off x="8113776" y="2916936"/>
            <a:ext cx="2859024" cy="1188720"/>
          </a:xfrm>
          <a:prstGeom prst="rect">
            <a:avLst/>
          </a:prstGeom>
          <a:noFill/>
        </p:spPr>
        <p:txBody>
          <a:bodyPr wrap="square">
            <a:spAutoFit/>
          </a:bodyPr>
          <a:lstStyle/>
          <a:p>
            <a:pPr algn="l">
              <a:lnSpc>
                <a:spcPct val="130000"/>
              </a:lnSpc>
            </a:pPr>
            <a:r>
              <a:rPr sz="1400" b="0">
                <a:solidFill>
                  <a:srgbClr val="8B97AB"/>
                </a:solidFill>
                <a:latin typeface="Helvetica Neue"/>
              </a:rPr>
              <a:t>If the scanner crashes, it reports success. A crash looks exactly like a clean scan.</a:t>
            </a:r>
          </a:p>
        </p:txBody>
      </p:sp>
      <p:sp>
        <p:nvSpPr>
          <p:cNvPr id="15" name="TextBox 14"/>
          <p:cNvSpPr txBox="1"/>
          <p:nvPr/>
        </p:nvSpPr>
        <p:spPr>
          <a:xfrm>
            <a:off x="1005840" y="4709160"/>
            <a:ext cx="10058400" cy="1097280"/>
          </a:xfrm>
          <a:prstGeom prst="rect">
            <a:avLst/>
          </a:prstGeom>
          <a:noFill/>
        </p:spPr>
        <p:txBody>
          <a:bodyPr wrap="square">
            <a:spAutoFit/>
          </a:bodyPr>
          <a:lstStyle/>
          <a:p>
            <a:pPr algn="l">
              <a:lnSpc>
                <a:spcPct val="135000"/>
              </a:lnSpc>
            </a:pPr>
            <a:r>
              <a:rPr sz="1800" b="0">
                <a:solidFill>
                  <a:srgbClr val="E8ECF3"/>
                </a:solidFill>
                <a:latin typeface="Helvetica Neue"/>
              </a:rPr>
              <a:t>A check that did not run, reading as a check that passed. That is the failure this project is built to refuse: in our pipeline a missing or crashed scanner blocks the change.</a:t>
            </a:r>
          </a:p>
        </p:txBody>
      </p:sp>
      <p:sp>
        <p:nvSpPr>
          <p:cNvPr id="105" name="TextBox 10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11</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7"/>
                                        </p:tgtEl>
                                        <p:attrNameLst>
                                          <p:attrName>style.visibility</p:attrName>
                                        </p:attrNameLst>
                                      </p:cBhvr>
                                      <p:to>
                                        <p:strVal val="visible"/>
                                      </p:to>
                                    </p:set>
                                    <p:animEffect transition="in" filter="fade">
                                      <p:cBhvr>
                                        <p:cTn id="24" dur="45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8"/>
                                        </p:tgtEl>
                                        <p:attrNameLst>
                                          <p:attrName>style.visibility</p:attrName>
                                        </p:attrNameLst>
                                      </p:cBhvr>
                                      <p:to>
                                        <p:strVal val="visible"/>
                                      </p:to>
                                    </p:set>
                                    <p:animEffect transition="in" filter="fade">
                                      <p:cBhvr>
                                        <p:cTn id="34" dur="45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9"/>
                                        </p:tgtEl>
                                        <p:attrNameLst>
                                          <p:attrName>style.visibility</p:attrName>
                                        </p:attrNameLst>
                                      </p:cBhvr>
                                      <p:to>
                                        <p:strVal val="visible"/>
                                      </p:to>
                                    </p:set>
                                    <p:animEffect transition="in" filter="fade">
                                      <p:cBhvr>
                                        <p:cTn id="44" dur="45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10"/>
                                        </p:tgtEl>
                                        <p:attrNameLst>
                                          <p:attrName>style.visibility</p:attrName>
                                        </p:attrNameLst>
                                      </p:cBhvr>
                                      <p:to>
                                        <p:strVal val="visible"/>
                                      </p:to>
                                    </p:set>
                                    <p:animEffect transition="in" filter="fade">
                                      <p:cBhvr>
                                        <p:cTn id="54" dur="45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afterEffect">
                                  <p:stCondLst>
                                    <p:cond delay="0"/>
                                  </p:stCondLst>
                                  <p:childTnLst>
                                    <p:set>
                                      <p:cBhvr>
                                        <p:cTn id="63" dur="1" fill="hold"/>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afterEffect">
                                  <p:stCondLst>
                                    <p:cond delay="0"/>
                                  </p:stCondLst>
                                  <p:childTnLst>
                                    <p:set>
                                      <p:cBhvr>
                                        <p:cTn id="73" dur="1" fill="hold"/>
                                        <p:tgtEl>
                                          <p:spTgt spid="12"/>
                                        </p:tgtEl>
                                        <p:attrNameLst>
                                          <p:attrName>style.visibility</p:attrName>
                                        </p:attrNameLst>
                                      </p:cBhvr>
                                      <p:to>
                                        <p:strVal val="visible"/>
                                      </p:to>
                                    </p:set>
                                    <p:animEffect transition="in" filter="fade">
                                      <p:cBhvr>
                                        <p:cTn id="74" dur="45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afterEffect">
                                  <p:stCondLst>
                                    <p:cond delay="0"/>
                                  </p:stCondLst>
                                  <p:childTnLst>
                                    <p:set>
                                      <p:cBhvr>
                                        <p:cTn id="83" dur="1" fill="hold"/>
                                        <p:tgtEl>
                                          <p:spTgt spid="13"/>
                                        </p:tgtEl>
                                        <p:attrNameLst>
                                          <p:attrName>style.visibility</p:attrName>
                                        </p:attrNameLst>
                                      </p:cBhvr>
                                      <p:to>
                                        <p:strVal val="visible"/>
                                      </p:to>
                                    </p:set>
                                    <p:animEffect transition="in" filter="fade">
                                      <p:cBhvr>
                                        <p:cTn id="84" dur="45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afterEffect">
                                  <p:stCondLst>
                                    <p:cond delay="0"/>
                                  </p:stCondLst>
                                  <p:childTnLst>
                                    <p:set>
                                      <p:cBhvr>
                                        <p:cTn id="93" dur="1" fill="hold"/>
                                        <p:tgtEl>
                                          <p:spTgt spid="14"/>
                                        </p:tgtEl>
                                        <p:attrNameLst>
                                          <p:attrName>style.visibility</p:attrName>
                                        </p:attrNameLst>
                                      </p:cBhvr>
                                      <p:to>
                                        <p:strVal val="visible"/>
                                      </p:to>
                                    </p:set>
                                    <p:animEffect transition="in" filter="fade">
                                      <p:cBhvr>
                                        <p:cTn id="94" dur="450"/>
                                        <p:tgtEl>
                                          <p:spTgt spid="1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afterEffect">
                                  <p:stCondLst>
                                    <p:cond delay="0"/>
                                  </p:stCondLst>
                                  <p:childTnLst>
                                    <p:set>
                                      <p:cBhvr>
                                        <p:cTn id="103" dur="1" fill="hold"/>
                                        <p:tgtEl>
                                          <p:spTgt spid="15"/>
                                        </p:tgtEl>
                                        <p:attrNameLst>
                                          <p:attrName>style.visibility</p:attrName>
                                        </p:attrNameLst>
                                      </p:cBhvr>
                                      <p:to>
                                        <p:strVal val="visible"/>
                                      </p:to>
                                    </p:set>
                                    <p:animEffect transition="in" filter="fade">
                                      <p:cBhvr>
                                        <p:cTn id="10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PROGRESS</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200" b="1">
                <a:solidFill>
                  <a:srgbClr val="E8ECF3"/>
                </a:solidFill>
                <a:latin typeface="Helvetica Neue"/>
              </a:rPr>
              <a:t>What is built</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3108960" cy="841248"/>
          </a:xfrm>
          <a:prstGeom prst="rect">
            <a:avLst/>
          </a:prstGeom>
          <a:noFill/>
        </p:spPr>
        <p:txBody>
          <a:bodyPr wrap="square">
            <a:spAutoFit/>
          </a:bodyPr>
          <a:lstStyle/>
          <a:p>
            <a:pPr algn="l">
              <a:lnSpc>
                <a:spcPct val="100000"/>
              </a:lnSpc>
            </a:pPr>
            <a:r>
              <a:rPr sz="4000" b="1">
                <a:solidFill>
                  <a:srgbClr val="22D3EE"/>
                </a:solidFill>
                <a:latin typeface="Helvetica Neue"/>
              </a:rPr>
              <a:t>2172</a:t>
            </a:r>
          </a:p>
        </p:txBody>
      </p:sp>
      <p:sp>
        <p:nvSpPr>
          <p:cNvPr id="7" name="TextBox 6"/>
          <p:cNvSpPr txBox="1"/>
          <p:nvPr/>
        </p:nvSpPr>
        <p:spPr>
          <a:xfrm>
            <a:off x="1005840" y="2935224"/>
            <a:ext cx="3108960" cy="749808"/>
          </a:xfrm>
          <a:prstGeom prst="rect">
            <a:avLst/>
          </a:prstGeom>
          <a:noFill/>
        </p:spPr>
        <p:txBody>
          <a:bodyPr wrap="square">
            <a:spAutoFit/>
          </a:bodyPr>
          <a:lstStyle/>
          <a:p>
            <a:pPr algn="l">
              <a:lnSpc>
                <a:spcPct val="125000"/>
              </a:lnSpc>
            </a:pPr>
            <a:r>
              <a:rPr sz="1500" b="0">
                <a:solidFill>
                  <a:srgbClr val="8B97AB"/>
                </a:solidFill>
                <a:latin typeface="Helvetica Neue"/>
              </a:rPr>
              <a:t>automated tests</a:t>
            </a:r>
          </a:p>
          <a:p>
            <a:pPr algn="l">
              <a:lnSpc>
                <a:spcPct val="125000"/>
              </a:lnSpc>
            </a:pPr>
            <a:r>
              <a:rPr sz="1500" b="0">
                <a:solidFill>
                  <a:srgbClr val="8B97AB"/>
                </a:solidFill>
                <a:latin typeface="Helvetica Neue"/>
              </a:rPr>
              <a:t>across 93 files</a:t>
            </a:r>
          </a:p>
        </p:txBody>
      </p:sp>
      <p:sp>
        <p:nvSpPr>
          <p:cNvPr id="8" name="TextBox 7"/>
          <p:cNvSpPr txBox="1"/>
          <p:nvPr/>
        </p:nvSpPr>
        <p:spPr>
          <a:xfrm>
            <a:off x="4389120" y="2148840"/>
            <a:ext cx="3108960" cy="841248"/>
          </a:xfrm>
          <a:prstGeom prst="rect">
            <a:avLst/>
          </a:prstGeom>
          <a:noFill/>
        </p:spPr>
        <p:txBody>
          <a:bodyPr wrap="square">
            <a:spAutoFit/>
          </a:bodyPr>
          <a:lstStyle/>
          <a:p>
            <a:pPr algn="l">
              <a:lnSpc>
                <a:spcPct val="100000"/>
              </a:lnSpc>
            </a:pPr>
            <a:r>
              <a:rPr sz="4000" b="1">
                <a:solidFill>
                  <a:srgbClr val="22D3EE"/>
                </a:solidFill>
                <a:latin typeface="Helvetica Neue"/>
              </a:rPr>
              <a:t>311</a:t>
            </a:r>
          </a:p>
        </p:txBody>
      </p:sp>
      <p:sp>
        <p:nvSpPr>
          <p:cNvPr id="9" name="TextBox 8"/>
          <p:cNvSpPr txBox="1"/>
          <p:nvPr/>
        </p:nvSpPr>
        <p:spPr>
          <a:xfrm>
            <a:off x="4389120" y="2935224"/>
            <a:ext cx="3108960" cy="749808"/>
          </a:xfrm>
          <a:prstGeom prst="rect">
            <a:avLst/>
          </a:prstGeom>
          <a:noFill/>
        </p:spPr>
        <p:txBody>
          <a:bodyPr wrap="square">
            <a:spAutoFit/>
          </a:bodyPr>
          <a:lstStyle/>
          <a:p>
            <a:pPr algn="l">
              <a:lnSpc>
                <a:spcPct val="125000"/>
              </a:lnSpc>
            </a:pPr>
            <a:r>
              <a:rPr sz="1500" b="0">
                <a:solidFill>
                  <a:srgbClr val="8B97AB"/>
                </a:solidFill>
                <a:latin typeface="Helvetica Neue"/>
              </a:rPr>
              <a:t>more for the web app</a:t>
            </a:r>
          </a:p>
          <a:p>
            <a:pPr algn="l">
              <a:lnSpc>
                <a:spcPct val="125000"/>
              </a:lnSpc>
            </a:pPr>
            <a:r>
              <a:rPr sz="1500" b="0">
                <a:solidFill>
                  <a:srgbClr val="8B97AB"/>
                </a:solidFill>
                <a:latin typeface="Helvetica Neue"/>
              </a:rPr>
              <a:t>across 24 files</a:t>
            </a:r>
          </a:p>
        </p:txBody>
      </p:sp>
      <p:sp>
        <p:nvSpPr>
          <p:cNvPr id="10" name="TextBox 9"/>
          <p:cNvSpPr txBox="1"/>
          <p:nvPr/>
        </p:nvSpPr>
        <p:spPr>
          <a:xfrm>
            <a:off x="7680960" y="2148840"/>
            <a:ext cx="3108960" cy="841248"/>
          </a:xfrm>
          <a:prstGeom prst="rect">
            <a:avLst/>
          </a:prstGeom>
          <a:noFill/>
        </p:spPr>
        <p:txBody>
          <a:bodyPr wrap="square">
            <a:spAutoFit/>
          </a:bodyPr>
          <a:lstStyle/>
          <a:p>
            <a:pPr algn="l">
              <a:lnSpc>
                <a:spcPct val="100000"/>
              </a:lnSpc>
            </a:pPr>
            <a:r>
              <a:rPr sz="4000" b="1">
                <a:solidFill>
                  <a:srgbClr val="22D3EE"/>
                </a:solidFill>
                <a:latin typeface="Helvetica Neue"/>
              </a:rPr>
              <a:t>v54</a:t>
            </a:r>
          </a:p>
        </p:txBody>
      </p:sp>
      <p:sp>
        <p:nvSpPr>
          <p:cNvPr id="11" name="TextBox 10"/>
          <p:cNvSpPr txBox="1"/>
          <p:nvPr/>
        </p:nvSpPr>
        <p:spPr>
          <a:xfrm>
            <a:off x="7680960" y="2935224"/>
            <a:ext cx="3108960" cy="749808"/>
          </a:xfrm>
          <a:prstGeom prst="rect">
            <a:avLst/>
          </a:prstGeom>
          <a:noFill/>
        </p:spPr>
        <p:txBody>
          <a:bodyPr wrap="square">
            <a:spAutoFit/>
          </a:bodyPr>
          <a:lstStyle/>
          <a:p>
            <a:pPr algn="l">
              <a:lnSpc>
                <a:spcPct val="125000"/>
              </a:lnSpc>
            </a:pPr>
            <a:r>
              <a:rPr sz="1500" b="0">
                <a:solidFill>
                  <a:srgbClr val="8B97AB"/>
                </a:solidFill>
                <a:latin typeface="Helvetica Neue"/>
              </a:rPr>
              <a:t>five agent runtimes</a:t>
            </a:r>
          </a:p>
          <a:p>
            <a:pPr algn="l">
              <a:lnSpc>
                <a:spcPct val="125000"/>
              </a:lnSpc>
            </a:pPr>
            <a:r>
              <a:rPr sz="1500" b="0">
                <a:solidFill>
                  <a:srgbClr val="8B97AB"/>
                </a:solidFill>
                <a:latin typeface="Helvetica Neue"/>
              </a:rPr>
              <a:t>all ready, one version</a:t>
            </a:r>
          </a:p>
        </p:txBody>
      </p:sp>
      <p:sp>
        <p:nvSpPr>
          <p:cNvPr id="12" name="Rectangle 11"/>
          <p:cNvSpPr/>
          <p:nvPr/>
        </p:nvSpPr>
        <p:spPr>
          <a:xfrm>
            <a:off x="1005840" y="3977639"/>
            <a:ext cx="3224784" cy="1874519"/>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123943"/>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Running in the cloud</a:t>
            </a:r>
          </a:p>
        </p:txBody>
      </p:sp>
      <p:sp>
        <p:nvSpPr>
          <p:cNvPr id="14" name="TextBox 13"/>
          <p:cNvSpPr txBox="1"/>
          <p:nvPr/>
        </p:nvSpPr>
        <p:spPr>
          <a:xfrm>
            <a:off x="1188720" y="4654295"/>
            <a:ext cx="2859024" cy="1051559"/>
          </a:xfrm>
          <a:prstGeom prst="rect">
            <a:avLst/>
          </a:prstGeom>
          <a:noFill/>
        </p:spPr>
        <p:txBody>
          <a:bodyPr wrap="square">
            <a:spAutoFit/>
          </a:bodyPr>
          <a:lstStyle/>
          <a:p>
            <a:pPr algn="l">
              <a:lnSpc>
                <a:spcPct val="130000"/>
              </a:lnSpc>
            </a:pPr>
            <a:r>
              <a:rPr sz="1300" b="0">
                <a:solidFill>
                  <a:srgbClr val="8B97AB"/>
                </a:solidFill>
                <a:latin typeface="Helvetica Neue"/>
              </a:rPr>
              <a:t>An issue triggers a Lambda, an event bus starts the pipeline, five runtimes answer, and three gates wait for a person.</a:t>
            </a:r>
          </a:p>
        </p:txBody>
      </p:sp>
      <p:sp>
        <p:nvSpPr>
          <p:cNvPr id="15" name="Rectangle 14"/>
          <p:cNvSpPr/>
          <p:nvPr/>
        </p:nvSpPr>
        <p:spPr>
          <a:xfrm>
            <a:off x="4468368" y="3977639"/>
            <a:ext cx="3224784" cy="1874519"/>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51248" y="4123943"/>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A product, not a script</a:t>
            </a:r>
          </a:p>
        </p:txBody>
      </p:sp>
      <p:sp>
        <p:nvSpPr>
          <p:cNvPr id="17" name="TextBox 16"/>
          <p:cNvSpPr txBox="1"/>
          <p:nvPr/>
        </p:nvSpPr>
        <p:spPr>
          <a:xfrm>
            <a:off x="4651248" y="4654295"/>
            <a:ext cx="2859024" cy="1051559"/>
          </a:xfrm>
          <a:prstGeom prst="rect">
            <a:avLst/>
          </a:prstGeom>
          <a:noFill/>
        </p:spPr>
        <p:txBody>
          <a:bodyPr wrap="square">
            <a:spAutoFit/>
          </a:bodyPr>
          <a:lstStyle/>
          <a:p>
            <a:pPr algn="l">
              <a:lnSpc>
                <a:spcPct val="130000"/>
              </a:lnSpc>
            </a:pPr>
            <a:r>
              <a:rPr sz="1300" b="0">
                <a:solidFill>
                  <a:srgbClr val="8B97AB"/>
                </a:solidFill>
                <a:latin typeface="Helvetica Neue"/>
              </a:rPr>
              <a:t>Sign in, pick a repository, start a run, watch each stage, approve a gate, read the cost.</a:t>
            </a:r>
          </a:p>
        </p:txBody>
      </p:sp>
      <p:sp>
        <p:nvSpPr>
          <p:cNvPr id="18" name="Rectangle 17"/>
          <p:cNvSpPr/>
          <p:nvPr/>
        </p:nvSpPr>
        <p:spPr>
          <a:xfrm>
            <a:off x="7930896" y="3977639"/>
            <a:ext cx="3224784" cy="1874519"/>
          </a:xfrm>
          <a:prstGeom prst="rect">
            <a:avLst/>
          </a:prstGeom>
          <a:solidFill>
            <a:srgbClr val="131A25"/>
          </a:solidFill>
          <a:ln w="127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3776" y="4123943"/>
            <a:ext cx="2859024" cy="512064"/>
          </a:xfrm>
          <a:prstGeom prst="rect">
            <a:avLst/>
          </a:prstGeom>
          <a:noFill/>
        </p:spPr>
        <p:txBody>
          <a:bodyPr wrap="square">
            <a:spAutoFit/>
          </a:bodyPr>
          <a:lstStyle/>
          <a:p>
            <a:pPr algn="l">
              <a:lnSpc>
                <a:spcPct val="110000"/>
              </a:lnSpc>
            </a:pPr>
            <a:r>
              <a:rPr sz="1400" b="1">
                <a:solidFill>
                  <a:srgbClr val="22D3EE"/>
                </a:solidFill>
                <a:latin typeface="Helvetica Neue"/>
              </a:rPr>
              <a:t>Multi-tenant</a:t>
            </a:r>
          </a:p>
        </p:txBody>
      </p:sp>
      <p:sp>
        <p:nvSpPr>
          <p:cNvPr id="20" name="TextBox 19"/>
          <p:cNvSpPr txBox="1"/>
          <p:nvPr/>
        </p:nvSpPr>
        <p:spPr>
          <a:xfrm>
            <a:off x="8113776" y="4654295"/>
            <a:ext cx="2859024" cy="1051559"/>
          </a:xfrm>
          <a:prstGeom prst="rect">
            <a:avLst/>
          </a:prstGeom>
          <a:noFill/>
        </p:spPr>
        <p:txBody>
          <a:bodyPr wrap="square">
            <a:spAutoFit/>
          </a:bodyPr>
          <a:lstStyle/>
          <a:p>
            <a:pPr algn="l">
              <a:lnSpc>
                <a:spcPct val="130000"/>
              </a:lnSpc>
            </a:pPr>
            <a:r>
              <a:rPr sz="1300" b="0">
                <a:solidFill>
                  <a:srgbClr val="8B97AB"/>
                </a:solidFill>
                <a:latin typeface="Helvetica Neue"/>
              </a:rPr>
              <a:t>Each customer's data sits in its own partition, and AWS itself refuses a read of anyone else's.</a:t>
            </a:r>
          </a:p>
        </p:txBody>
      </p:sp>
      <p:sp>
        <p:nvSpPr>
          <p:cNvPr id="155" name="TextBox 15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12</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7"/>
                                        </p:tgtEl>
                                        <p:attrNameLst>
                                          <p:attrName>style.visibility</p:attrName>
                                        </p:attrNameLst>
                                      </p:cBhvr>
                                      <p:to>
                                        <p:strVal val="visible"/>
                                      </p:to>
                                    </p:set>
                                    <p:animEffect transition="in" filter="fade">
                                      <p:cBhvr>
                                        <p:cTn id="24" dur="45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8"/>
                                        </p:tgtEl>
                                        <p:attrNameLst>
                                          <p:attrName>style.visibility</p:attrName>
                                        </p:attrNameLst>
                                      </p:cBhvr>
                                      <p:to>
                                        <p:strVal val="visible"/>
                                      </p:to>
                                    </p:set>
                                    <p:animEffect transition="in" filter="fade">
                                      <p:cBhvr>
                                        <p:cTn id="34" dur="45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9"/>
                                        </p:tgtEl>
                                        <p:attrNameLst>
                                          <p:attrName>style.visibility</p:attrName>
                                        </p:attrNameLst>
                                      </p:cBhvr>
                                      <p:to>
                                        <p:strVal val="visible"/>
                                      </p:to>
                                    </p:set>
                                    <p:animEffect transition="in" filter="fade">
                                      <p:cBhvr>
                                        <p:cTn id="44" dur="45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10"/>
                                        </p:tgtEl>
                                        <p:attrNameLst>
                                          <p:attrName>style.visibility</p:attrName>
                                        </p:attrNameLst>
                                      </p:cBhvr>
                                      <p:to>
                                        <p:strVal val="visible"/>
                                      </p:to>
                                    </p:set>
                                    <p:animEffect transition="in" filter="fade">
                                      <p:cBhvr>
                                        <p:cTn id="54" dur="45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afterEffect">
                                  <p:stCondLst>
                                    <p:cond delay="0"/>
                                  </p:stCondLst>
                                  <p:childTnLst>
                                    <p:set>
                                      <p:cBhvr>
                                        <p:cTn id="63" dur="1" fill="hold"/>
                                        <p:tgtEl>
                                          <p:spTgt spid="11"/>
                                        </p:tgtEl>
                                        <p:attrNameLst>
                                          <p:attrName>style.visibility</p:attrName>
                                        </p:attrNameLst>
                                      </p:cBhvr>
                                      <p:to>
                                        <p:strVal val="visible"/>
                                      </p:to>
                                    </p:set>
                                    <p:animEffect transition="in" filter="fade">
                                      <p:cBhvr>
                                        <p:cTn id="64" dur="450"/>
                                        <p:tgtEl>
                                          <p:spTgt spid="1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afterEffect">
                                  <p:stCondLst>
                                    <p:cond delay="0"/>
                                  </p:stCondLst>
                                  <p:childTnLst>
                                    <p:set>
                                      <p:cBhvr>
                                        <p:cTn id="73" dur="1" fill="hold"/>
                                        <p:tgtEl>
                                          <p:spTgt spid="12"/>
                                        </p:tgtEl>
                                        <p:attrNameLst>
                                          <p:attrName>style.visibility</p:attrName>
                                        </p:attrNameLst>
                                      </p:cBhvr>
                                      <p:to>
                                        <p:strVal val="visible"/>
                                      </p:to>
                                    </p:set>
                                    <p:animEffect transition="in" filter="fade">
                                      <p:cBhvr>
                                        <p:cTn id="74" dur="45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afterEffect">
                                  <p:stCondLst>
                                    <p:cond delay="0"/>
                                  </p:stCondLst>
                                  <p:childTnLst>
                                    <p:set>
                                      <p:cBhvr>
                                        <p:cTn id="83" dur="1" fill="hold"/>
                                        <p:tgtEl>
                                          <p:spTgt spid="13"/>
                                        </p:tgtEl>
                                        <p:attrNameLst>
                                          <p:attrName>style.visibility</p:attrName>
                                        </p:attrNameLst>
                                      </p:cBhvr>
                                      <p:to>
                                        <p:strVal val="visible"/>
                                      </p:to>
                                    </p:set>
                                    <p:animEffect transition="in" filter="fade">
                                      <p:cBhvr>
                                        <p:cTn id="84" dur="45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afterEffect">
                                  <p:stCondLst>
                                    <p:cond delay="0"/>
                                  </p:stCondLst>
                                  <p:childTnLst>
                                    <p:set>
                                      <p:cBhvr>
                                        <p:cTn id="93" dur="1" fill="hold"/>
                                        <p:tgtEl>
                                          <p:spTgt spid="14"/>
                                        </p:tgtEl>
                                        <p:attrNameLst>
                                          <p:attrName>style.visibility</p:attrName>
                                        </p:attrNameLst>
                                      </p:cBhvr>
                                      <p:to>
                                        <p:strVal val="visible"/>
                                      </p:to>
                                    </p:set>
                                    <p:animEffect transition="in" filter="fade">
                                      <p:cBhvr>
                                        <p:cTn id="94" dur="450"/>
                                        <p:tgtEl>
                                          <p:spTgt spid="1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afterEffect">
                                  <p:stCondLst>
                                    <p:cond delay="0"/>
                                  </p:stCondLst>
                                  <p:childTnLst>
                                    <p:set>
                                      <p:cBhvr>
                                        <p:cTn id="103" dur="1" fill="hold"/>
                                        <p:tgtEl>
                                          <p:spTgt spid="15"/>
                                        </p:tgtEl>
                                        <p:attrNameLst>
                                          <p:attrName>style.visibility</p:attrName>
                                        </p:attrNameLst>
                                      </p:cBhvr>
                                      <p:to>
                                        <p:strVal val="visible"/>
                                      </p:to>
                                    </p:set>
                                    <p:animEffect transition="in" filter="fade">
                                      <p:cBhvr>
                                        <p:cTn id="104" dur="450"/>
                                        <p:tgtEl>
                                          <p:spTgt spid="15"/>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afterEffect">
                                  <p:stCondLst>
                                    <p:cond delay="0"/>
                                  </p:stCondLst>
                                  <p:childTnLst>
                                    <p:set>
                                      <p:cBhvr>
                                        <p:cTn id="113" dur="1" fill="hold"/>
                                        <p:tgtEl>
                                          <p:spTgt spid="16"/>
                                        </p:tgtEl>
                                        <p:attrNameLst>
                                          <p:attrName>style.visibility</p:attrName>
                                        </p:attrNameLst>
                                      </p:cBhvr>
                                      <p:to>
                                        <p:strVal val="visible"/>
                                      </p:to>
                                    </p:set>
                                    <p:animEffect transition="in" filter="fade">
                                      <p:cBhvr>
                                        <p:cTn id="114" dur="450"/>
                                        <p:tgtEl>
                                          <p:spTgt spid="16"/>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afterEffect">
                                  <p:stCondLst>
                                    <p:cond delay="0"/>
                                  </p:stCondLst>
                                  <p:childTnLst>
                                    <p:set>
                                      <p:cBhvr>
                                        <p:cTn id="123" dur="1" fill="hold"/>
                                        <p:tgtEl>
                                          <p:spTgt spid="17"/>
                                        </p:tgtEl>
                                        <p:attrNameLst>
                                          <p:attrName>style.visibility</p:attrName>
                                        </p:attrNameLst>
                                      </p:cBhvr>
                                      <p:to>
                                        <p:strVal val="visible"/>
                                      </p:to>
                                    </p:set>
                                    <p:animEffect transition="in" filter="fade">
                                      <p:cBhvr>
                                        <p:cTn id="124" dur="450"/>
                                        <p:tgtEl>
                                          <p:spTgt spid="17"/>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afterEffect">
                                  <p:stCondLst>
                                    <p:cond delay="0"/>
                                  </p:stCondLst>
                                  <p:childTnLst>
                                    <p:set>
                                      <p:cBhvr>
                                        <p:cTn id="133" dur="1" fill="hold"/>
                                        <p:tgtEl>
                                          <p:spTgt spid="18"/>
                                        </p:tgtEl>
                                        <p:attrNameLst>
                                          <p:attrName>style.visibility</p:attrName>
                                        </p:attrNameLst>
                                      </p:cBhvr>
                                      <p:to>
                                        <p:strVal val="visible"/>
                                      </p:to>
                                    </p:set>
                                    <p:animEffect transition="in" filter="fade">
                                      <p:cBhvr>
                                        <p:cTn id="134" dur="450"/>
                                        <p:tgtEl>
                                          <p:spTgt spid="18"/>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afterEffect">
                                  <p:stCondLst>
                                    <p:cond delay="0"/>
                                  </p:stCondLst>
                                  <p:childTnLst>
                                    <p:set>
                                      <p:cBhvr>
                                        <p:cTn id="143" dur="1" fill="hold"/>
                                        <p:tgtEl>
                                          <p:spTgt spid="19"/>
                                        </p:tgtEl>
                                        <p:attrNameLst>
                                          <p:attrName>style.visibility</p:attrName>
                                        </p:attrNameLst>
                                      </p:cBhvr>
                                      <p:to>
                                        <p:strVal val="visible"/>
                                      </p:to>
                                    </p:set>
                                    <p:animEffect transition="in" filter="fade">
                                      <p:cBhvr>
                                        <p:cTn id="144" dur="450"/>
                                        <p:tgtEl>
                                          <p:spTgt spid="19"/>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afterEffect">
                                  <p:stCondLst>
                                    <p:cond delay="0"/>
                                  </p:stCondLst>
                                  <p:childTnLst>
                                    <p:set>
                                      <p:cBhvr>
                                        <p:cTn id="153" dur="1" fill="hold"/>
                                        <p:tgtEl>
                                          <p:spTgt spid="20"/>
                                        </p:tgtEl>
                                        <p:attrNameLst>
                                          <p:attrName>style.visibility</p:attrName>
                                        </p:attrNameLst>
                                      </p:cBhvr>
                                      <p:to>
                                        <p:strVal val="visible"/>
                                      </p:to>
                                    </p:set>
                                    <p:animEffect transition="in" filter="fade">
                                      <p:cBhvr>
                                        <p:cTn id="154"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PROGRESS</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000" b="1">
                <a:solidFill>
                  <a:srgbClr val="E8ECF3"/>
                </a:solidFill>
                <a:latin typeface="Helvetica Neue"/>
              </a:rPr>
              <a:t>Your ten notes from the pre-final</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3474720" cy="292608"/>
          </a:xfrm>
          <a:prstGeom prst="rect">
            <a:avLst/>
          </a:prstGeom>
          <a:noFill/>
        </p:spPr>
        <p:txBody>
          <a:bodyPr wrap="square">
            <a:spAutoFit/>
          </a:bodyPr>
          <a:lstStyle/>
          <a:p>
            <a:pPr algn="l">
              <a:lnSpc>
                <a:spcPct val="100000"/>
              </a:lnSpc>
            </a:pPr>
            <a:r>
              <a:rPr sz="1100" b="1">
                <a:solidFill>
                  <a:srgbClr val="22D3EE"/>
                </a:solidFill>
                <a:latin typeface="Helvetica Neue"/>
              </a:rPr>
              <a:t>WHAT YOU ASKED FOR</a:t>
            </a:r>
          </a:p>
        </p:txBody>
      </p:sp>
      <p:sp>
        <p:nvSpPr>
          <p:cNvPr id="7" name="TextBox 6"/>
          <p:cNvSpPr txBox="1"/>
          <p:nvPr/>
        </p:nvSpPr>
        <p:spPr>
          <a:xfrm>
            <a:off x="4480560" y="2103120"/>
            <a:ext cx="6675120" cy="292608"/>
          </a:xfrm>
          <a:prstGeom prst="rect">
            <a:avLst/>
          </a:prstGeom>
          <a:noFill/>
        </p:spPr>
        <p:txBody>
          <a:bodyPr wrap="square">
            <a:spAutoFit/>
          </a:bodyPr>
          <a:lstStyle/>
          <a:p>
            <a:pPr algn="l">
              <a:lnSpc>
                <a:spcPct val="100000"/>
              </a:lnSpc>
            </a:pPr>
            <a:r>
              <a:rPr sz="1100" b="1">
                <a:solidFill>
                  <a:srgbClr val="22D3EE"/>
                </a:solidFill>
                <a:latin typeface="Helvetica Neue"/>
              </a:rPr>
              <a:t>WHAT EXISTS NOW</a:t>
            </a:r>
          </a:p>
        </p:txBody>
      </p:sp>
      <p:sp>
        <p:nvSpPr>
          <p:cNvPr id="8" name="Rectangle 7"/>
          <p:cNvSpPr/>
          <p:nvPr/>
        </p:nvSpPr>
        <p:spPr>
          <a:xfrm>
            <a:off x="1005840" y="2432304"/>
            <a:ext cx="10149840" cy="127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Evaluation criteria</a:t>
            </a:r>
          </a:p>
        </p:txBody>
      </p:sp>
      <p:sp>
        <p:nvSpPr>
          <p:cNvPr id="10" name="TextBox 9"/>
          <p:cNvSpPr txBox="1"/>
          <p:nvPr/>
        </p:nvSpPr>
        <p:spPr>
          <a:xfrm>
            <a:off x="4480560" y="2560320"/>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measured before and after: plan-mismatch catches went 6/8 → 8/8</a:t>
            </a:r>
          </a:p>
        </p:txBody>
      </p:sp>
      <p:sp>
        <p:nvSpPr>
          <p:cNvPr id="11" name="TextBox 10"/>
          <p:cNvSpPr txBox="1"/>
          <p:nvPr/>
        </p:nvSpPr>
        <p:spPr>
          <a:xfrm>
            <a:off x="1005840" y="2944368"/>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Time and cost vs a coding agent</a:t>
            </a:r>
          </a:p>
        </p:txBody>
      </p:sp>
      <p:sp>
        <p:nvSpPr>
          <p:cNvPr id="12" name="TextBox 11"/>
          <p:cNvSpPr txBox="1"/>
          <p:nvPr/>
        </p:nvSpPr>
        <p:spPr>
          <a:xfrm>
            <a:off x="4480560" y="2944368"/>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1.3–1.7¢ of model time per change, priced from the AWS Pricing API</a:t>
            </a:r>
          </a:p>
        </p:txBody>
      </p:sp>
      <p:sp>
        <p:nvSpPr>
          <p:cNvPr id="13" name="TextBox 12"/>
          <p:cNvSpPr txBox="1"/>
          <p:nvPr/>
        </p:nvSpPr>
        <p:spPr>
          <a:xfrm>
            <a:off x="1005840" y="3328416"/>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External dependency</a:t>
            </a:r>
          </a:p>
        </p:txBody>
      </p:sp>
      <p:sp>
        <p:nvSpPr>
          <p:cNvPr id="14" name="TextBox 13"/>
          <p:cNvSpPr txBox="1"/>
          <p:nvPr/>
        </p:nvSpPr>
        <p:spPr>
          <a:xfrm>
            <a:off x="4480560" y="3328416"/>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8 of 83 modules touch a vendor SDK; 2 load one at start-up</a:t>
            </a:r>
          </a:p>
        </p:txBody>
      </p:sp>
      <p:sp>
        <p:nvSpPr>
          <p:cNvPr id="15" name="TextBox 14"/>
          <p:cNvSpPr txBox="1"/>
          <p:nvPr/>
        </p:nvSpPr>
        <p:spPr>
          <a:xfrm>
            <a:off x="1005840" y="3712464"/>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Self-hosted</a:t>
            </a:r>
          </a:p>
        </p:txBody>
      </p:sp>
      <p:sp>
        <p:nvSpPr>
          <p:cNvPr id="16" name="TextBox 15"/>
          <p:cNvSpPr txBox="1"/>
          <p:nvPr/>
        </p:nvSpPr>
        <p:spPr>
          <a:xfrm>
            <a:off x="4480560" y="3712464"/>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one compose file runs the database, the API and the web app</a:t>
            </a:r>
          </a:p>
        </p:txBody>
      </p:sp>
      <p:sp>
        <p:nvSpPr>
          <p:cNvPr id="17" name="TextBox 16"/>
          <p:cNvSpPr txBox="1"/>
          <p:nvPr/>
        </p:nvSpPr>
        <p:spPr>
          <a:xfrm>
            <a:off x="1005840" y="4096512"/>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Competitive advantage</a:t>
            </a:r>
          </a:p>
        </p:txBody>
      </p:sp>
      <p:sp>
        <p:nvSpPr>
          <p:cNvPr id="18" name="TextBox 17"/>
          <p:cNvSpPr txBox="1"/>
          <p:nvPr/>
        </p:nvSpPr>
        <p:spPr>
          <a:xfrm>
            <a:off x="4480560" y="4096512"/>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commissioned research, which disproved five of our own claims</a:t>
            </a:r>
          </a:p>
        </p:txBody>
      </p:sp>
      <p:sp>
        <p:nvSpPr>
          <p:cNvPr id="19" name="TextBox 18"/>
          <p:cNvSpPr txBox="1"/>
          <p:nvPr/>
        </p:nvSpPr>
        <p:spPr>
          <a:xfrm>
            <a:off x="1005840" y="4480560"/>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Scanner scoring → go / no-go</a:t>
            </a:r>
          </a:p>
        </p:txBody>
      </p:sp>
      <p:sp>
        <p:nvSpPr>
          <p:cNvPr id="20" name="TextBox 19"/>
          <p:cNvSpPr txBox="1"/>
          <p:nvPr/>
        </p:nvSpPr>
        <p:spPr>
          <a:xfrm>
            <a:off x="4480560" y="4480560"/>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one scoring table for all three scanners, built because of this note</a:t>
            </a:r>
          </a:p>
        </p:txBody>
      </p:sp>
      <p:sp>
        <p:nvSpPr>
          <p:cNvPr id="21" name="TextBox 20"/>
          <p:cNvSpPr txBox="1"/>
          <p:nvPr/>
        </p:nvSpPr>
        <p:spPr>
          <a:xfrm>
            <a:off x="1005840" y="4864608"/>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Generated tests + Selenium</a:t>
            </a:r>
          </a:p>
        </p:txBody>
      </p:sp>
      <p:sp>
        <p:nvSpPr>
          <p:cNvPr id="22" name="TextBox 21"/>
          <p:cNvSpPr txBox="1"/>
          <p:nvPr/>
        </p:nvSpPr>
        <p:spPr>
          <a:xfrm>
            <a:off x="4480560" y="4864608"/>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an agent writes tests from the ticket; Selenium runs in CI</a:t>
            </a:r>
          </a:p>
        </p:txBody>
      </p:sp>
      <p:sp>
        <p:nvSpPr>
          <p:cNvPr id="23" name="TextBox 22"/>
          <p:cNvSpPr txBox="1"/>
          <p:nvPr/>
        </p:nvSpPr>
        <p:spPr>
          <a:xfrm>
            <a:off x="1005840" y="5248656"/>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RAG / knowledge lake</a:t>
            </a:r>
          </a:p>
        </p:txBody>
      </p:sp>
      <p:sp>
        <p:nvSpPr>
          <p:cNvPr id="24" name="TextBox 23"/>
          <p:cNvSpPr txBox="1"/>
          <p:nvPr/>
        </p:nvSpPr>
        <p:spPr>
          <a:xfrm>
            <a:off x="4480560" y="5248656"/>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three curated knowledge bases, used by four of the agents</a:t>
            </a:r>
          </a:p>
        </p:txBody>
      </p:sp>
      <p:sp>
        <p:nvSpPr>
          <p:cNvPr id="25" name="TextBox 24"/>
          <p:cNvSpPr txBox="1"/>
          <p:nvPr/>
        </p:nvSpPr>
        <p:spPr>
          <a:xfrm>
            <a:off x="1005840" y="5632704"/>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A real UI</a:t>
            </a:r>
          </a:p>
        </p:txBody>
      </p:sp>
      <p:sp>
        <p:nvSpPr>
          <p:cNvPr id="26" name="TextBox 25"/>
          <p:cNvSpPr txBox="1"/>
          <p:nvPr/>
        </p:nvSpPr>
        <p:spPr>
          <a:xfrm>
            <a:off x="4480560" y="5632704"/>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sign-in, a live view of each run, gate approval, and cost</a:t>
            </a:r>
          </a:p>
        </p:txBody>
      </p:sp>
      <p:sp>
        <p:nvSpPr>
          <p:cNvPr id="27" name="TextBox 26"/>
          <p:cNvSpPr txBox="1"/>
          <p:nvPr/>
        </p:nvSpPr>
        <p:spPr>
          <a:xfrm>
            <a:off x="1005840" y="6016752"/>
            <a:ext cx="3474720" cy="384048"/>
          </a:xfrm>
          <a:prstGeom prst="rect">
            <a:avLst/>
          </a:prstGeom>
          <a:noFill/>
        </p:spPr>
        <p:txBody>
          <a:bodyPr wrap="square">
            <a:spAutoFit/>
          </a:bodyPr>
          <a:lstStyle/>
          <a:p>
            <a:pPr algn="l">
              <a:lnSpc>
                <a:spcPct val="100000"/>
              </a:lnSpc>
            </a:pPr>
            <a:r>
              <a:rPr sz="1300" b="0">
                <a:solidFill>
                  <a:srgbClr val="E8ECF3"/>
                </a:solidFill>
                <a:latin typeface="Helvetica Neue"/>
              </a:rPr>
              <a:t>Restructure as SaaS</a:t>
            </a:r>
          </a:p>
        </p:txBody>
      </p:sp>
      <p:sp>
        <p:nvSpPr>
          <p:cNvPr id="28" name="TextBox 27"/>
          <p:cNvSpPr txBox="1"/>
          <p:nvPr/>
        </p:nvSpPr>
        <p:spPr>
          <a:xfrm>
            <a:off x="4480560" y="6016752"/>
            <a:ext cx="6675120" cy="384048"/>
          </a:xfrm>
          <a:prstGeom prst="rect">
            <a:avLst/>
          </a:prstGeom>
          <a:noFill/>
        </p:spPr>
        <p:txBody>
          <a:bodyPr wrap="square">
            <a:spAutoFit/>
          </a:bodyPr>
          <a:lstStyle/>
          <a:p>
            <a:pPr algn="l">
              <a:lnSpc>
                <a:spcPct val="100000"/>
              </a:lnSpc>
            </a:pPr>
            <a:r>
              <a:rPr sz="1300" b="0">
                <a:solidFill>
                  <a:srgbClr val="8B97AB"/>
                </a:solidFill>
                <a:latin typeface="Helvetica Neue"/>
              </a:rPr>
              <a:t>multi-tenant, with a control-plane API and per-tenant isolation</a:t>
            </a:r>
          </a:p>
        </p:txBody>
      </p:sp>
      <p:sp>
        <p:nvSpPr>
          <p:cNvPr id="29" name="TextBox 28"/>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13</a:t>
            </a:r>
          </a:p>
        </p:txBody>
      </p:sp>
    </p:spTree>
  </p:cSld>
  <p:clrMapOvr>
    <a:masterClrMapping/>
  </p:clrMapOvr>
  <p:transition spd="med">
    <p:wipe dir="l"/>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PROGRESS · LIMITS</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000" b="1">
                <a:solidFill>
                  <a:srgbClr val="E8ECF3"/>
                </a:solidFill>
                <a:latin typeface="Helvetica Neue"/>
              </a:rPr>
              <a:t>What this does not do</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640080" cy="365760"/>
          </a:xfrm>
          <a:prstGeom prst="rect">
            <a:avLst/>
          </a:prstGeom>
          <a:noFill/>
        </p:spPr>
        <p:txBody>
          <a:bodyPr wrap="square">
            <a:spAutoFit/>
          </a:bodyPr>
          <a:lstStyle/>
          <a:p>
            <a:pPr algn="l">
              <a:lnSpc>
                <a:spcPct val="120000"/>
              </a:lnSpc>
            </a:pPr>
            <a:r>
              <a:rPr sz="1500" b="1">
                <a:solidFill>
                  <a:srgbClr val="22D3EE"/>
                </a:solidFill>
                <a:latin typeface="Menlo"/>
              </a:rPr>
              <a:t>01</a:t>
            </a:r>
          </a:p>
        </p:txBody>
      </p:sp>
      <p:sp>
        <p:nvSpPr>
          <p:cNvPr id="7" name="TextBox 6"/>
          <p:cNvSpPr txBox="1"/>
          <p:nvPr/>
        </p:nvSpPr>
        <p:spPr>
          <a:xfrm>
            <a:off x="1737360" y="2103120"/>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An admin can bypass a gate</a:t>
            </a:r>
          </a:p>
        </p:txBody>
      </p:sp>
      <p:sp>
        <p:nvSpPr>
          <p:cNvPr id="8" name="TextBox 7"/>
          <p:cNvSpPr txBox="1"/>
          <p:nvPr/>
        </p:nvSpPr>
        <p:spPr>
          <a:xfrm>
            <a:off x="5852160" y="2103120"/>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A repository setting, not a code path. Our pre-flight check reports it on every run.</a:t>
            </a:r>
          </a:p>
        </p:txBody>
      </p:sp>
      <p:sp>
        <p:nvSpPr>
          <p:cNvPr id="9" name="TextBox 8"/>
          <p:cNvSpPr txBox="1"/>
          <p:nvPr/>
        </p:nvSpPr>
        <p:spPr>
          <a:xfrm>
            <a:off x="1005840" y="3127248"/>
            <a:ext cx="640080" cy="365760"/>
          </a:xfrm>
          <a:prstGeom prst="rect">
            <a:avLst/>
          </a:prstGeom>
          <a:noFill/>
        </p:spPr>
        <p:txBody>
          <a:bodyPr wrap="square">
            <a:spAutoFit/>
          </a:bodyPr>
          <a:lstStyle/>
          <a:p>
            <a:pPr algn="l">
              <a:lnSpc>
                <a:spcPct val="120000"/>
              </a:lnSpc>
            </a:pPr>
            <a:r>
              <a:rPr sz="1500" b="1">
                <a:solidFill>
                  <a:srgbClr val="22D3EE"/>
                </a:solidFill>
                <a:latin typeface="Menlo"/>
              </a:rPr>
              <a:t>02</a:t>
            </a:r>
          </a:p>
        </p:txBody>
      </p:sp>
      <p:sp>
        <p:nvSpPr>
          <p:cNvPr id="10" name="TextBox 9"/>
          <p:cNvSpPr txBox="1"/>
          <p:nvPr/>
        </p:nvSpPr>
        <p:spPr>
          <a:xfrm>
            <a:off x="1737360" y="3127248"/>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The reviewer is advisory</a:t>
            </a:r>
          </a:p>
        </p:txBody>
      </p:sp>
      <p:sp>
        <p:nvSpPr>
          <p:cNvPr id="11" name="TextBox 10"/>
          <p:cNvSpPr txBox="1"/>
          <p:nvPr/>
        </p:nvSpPr>
        <p:spPr>
          <a:xfrm>
            <a:off x="5852160" y="3127248"/>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If the scanners miss something, only the reviewer saw it, and it cannot stop the run. The human gates are the last line.</a:t>
            </a:r>
          </a:p>
        </p:txBody>
      </p:sp>
      <p:sp>
        <p:nvSpPr>
          <p:cNvPr id="12" name="TextBox 11"/>
          <p:cNvSpPr txBox="1"/>
          <p:nvPr/>
        </p:nvSpPr>
        <p:spPr>
          <a:xfrm>
            <a:off x="1005840" y="4151376"/>
            <a:ext cx="640080" cy="365760"/>
          </a:xfrm>
          <a:prstGeom prst="rect">
            <a:avLst/>
          </a:prstGeom>
          <a:noFill/>
        </p:spPr>
        <p:txBody>
          <a:bodyPr wrap="square">
            <a:spAutoFit/>
          </a:bodyPr>
          <a:lstStyle/>
          <a:p>
            <a:pPr algn="l">
              <a:lnSpc>
                <a:spcPct val="120000"/>
              </a:lnSpc>
            </a:pPr>
            <a:r>
              <a:rPr sz="1500" b="1">
                <a:solidFill>
                  <a:srgbClr val="22D3EE"/>
                </a:solidFill>
                <a:latin typeface="Menlo"/>
              </a:rPr>
              <a:t>03</a:t>
            </a:r>
          </a:p>
        </p:txBody>
      </p:sp>
      <p:sp>
        <p:nvSpPr>
          <p:cNvPr id="13" name="TextBox 12"/>
          <p:cNvSpPr txBox="1"/>
          <p:nvPr/>
        </p:nvSpPr>
        <p:spPr>
          <a:xfrm>
            <a:off x="1737360" y="4151376"/>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One language, three scanners</a:t>
            </a:r>
          </a:p>
        </p:txBody>
      </p:sp>
      <p:sp>
        <p:nvSpPr>
          <p:cNvPr id="14" name="TextBox 13"/>
          <p:cNvSpPr txBox="1"/>
          <p:nvPr/>
        </p:nvSpPr>
        <p:spPr>
          <a:xfrm>
            <a:off x="5852160" y="4151376"/>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One Python target today. Breadth is where every competitor is ahead.</a:t>
            </a:r>
          </a:p>
        </p:txBody>
      </p:sp>
      <p:sp>
        <p:nvSpPr>
          <p:cNvPr id="15" name="TextBox 14"/>
          <p:cNvSpPr txBox="1"/>
          <p:nvPr/>
        </p:nvSpPr>
        <p:spPr>
          <a:xfrm>
            <a:off x="1005840" y="5175504"/>
            <a:ext cx="640080" cy="365760"/>
          </a:xfrm>
          <a:prstGeom prst="rect">
            <a:avLst/>
          </a:prstGeom>
          <a:noFill/>
        </p:spPr>
        <p:txBody>
          <a:bodyPr wrap="square">
            <a:spAutoFit/>
          </a:bodyPr>
          <a:lstStyle/>
          <a:p>
            <a:pPr algn="l">
              <a:lnSpc>
                <a:spcPct val="120000"/>
              </a:lnSpc>
            </a:pPr>
            <a:r>
              <a:rPr sz="1500" b="1">
                <a:solidFill>
                  <a:srgbClr val="22D3EE"/>
                </a:solidFill>
                <a:latin typeface="Menlo"/>
              </a:rPr>
              <a:t>04</a:t>
            </a:r>
          </a:p>
        </p:txBody>
      </p:sp>
      <p:sp>
        <p:nvSpPr>
          <p:cNvPr id="16" name="TextBox 15"/>
          <p:cNvSpPr txBox="1"/>
          <p:nvPr/>
        </p:nvSpPr>
        <p:spPr>
          <a:xfrm>
            <a:off x="1737360" y="5175504"/>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The change is carried, not applied</a:t>
            </a:r>
          </a:p>
        </p:txBody>
      </p:sp>
      <p:sp>
        <p:nvSpPr>
          <p:cNvPr id="17" name="TextBox 16"/>
          <p:cNvSpPr txBox="1"/>
          <p:nvPr/>
        </p:nvSpPr>
        <p:spPr>
          <a:xfrm>
            <a:off x="5852160" y="5175504"/>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A merged pull request carries the reviewed diff as a file. Applying it to the source is next.</a:t>
            </a:r>
          </a:p>
        </p:txBody>
      </p:sp>
      <p:sp>
        <p:nvSpPr>
          <p:cNvPr id="85" name="TextBox 8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14</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7"/>
                                        </p:tgtEl>
                                        <p:attrNameLst>
                                          <p:attrName>style.visibility</p:attrName>
                                        </p:attrNameLst>
                                      </p:cBhvr>
                                      <p:to>
                                        <p:strVal val="visible"/>
                                      </p:to>
                                    </p:set>
                                    <p:animEffect transition="in" filter="fade">
                                      <p:cBhvr>
                                        <p:cTn id="24" dur="45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9"/>
                                        </p:tgtEl>
                                        <p:attrNameLst>
                                          <p:attrName>style.visibility</p:attrName>
                                        </p:attrNameLst>
                                      </p:cBhvr>
                                      <p:to>
                                        <p:strVal val="visible"/>
                                      </p:to>
                                    </p:set>
                                    <p:animEffect transition="in" filter="fade">
                                      <p:cBhvr>
                                        <p:cTn id="34"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10"/>
                                        </p:tgtEl>
                                        <p:attrNameLst>
                                          <p:attrName>style.visibility</p:attrName>
                                        </p:attrNameLst>
                                      </p:cBhvr>
                                      <p:to>
                                        <p:strVal val="visible"/>
                                      </p:to>
                                    </p:set>
                                    <p:animEffect transition="in" filter="fade">
                                      <p:cBhvr>
                                        <p:cTn id="44" dur="45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12"/>
                                        </p:tgtEl>
                                        <p:attrNameLst>
                                          <p:attrName>style.visibility</p:attrName>
                                        </p:attrNameLst>
                                      </p:cBhvr>
                                      <p:to>
                                        <p:strVal val="visible"/>
                                      </p:to>
                                    </p:set>
                                    <p:animEffect transition="in" filter="fade">
                                      <p:cBhvr>
                                        <p:cTn id="54" dur="45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afterEffect">
                                  <p:stCondLst>
                                    <p:cond delay="0"/>
                                  </p:stCondLst>
                                  <p:childTnLst>
                                    <p:set>
                                      <p:cBhvr>
                                        <p:cTn id="63" dur="1" fill="hold"/>
                                        <p:tgtEl>
                                          <p:spTgt spid="13"/>
                                        </p:tgtEl>
                                        <p:attrNameLst>
                                          <p:attrName>style.visibility</p:attrName>
                                        </p:attrNameLst>
                                      </p:cBhvr>
                                      <p:to>
                                        <p:strVal val="visible"/>
                                      </p:to>
                                    </p:set>
                                    <p:animEffect transition="in" filter="fade">
                                      <p:cBhvr>
                                        <p:cTn id="64" dur="45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afterEffect">
                                  <p:stCondLst>
                                    <p:cond delay="0"/>
                                  </p:stCondLst>
                                  <p:childTnLst>
                                    <p:set>
                                      <p:cBhvr>
                                        <p:cTn id="73" dur="1" fill="hold"/>
                                        <p:tgtEl>
                                          <p:spTgt spid="15"/>
                                        </p:tgtEl>
                                        <p:attrNameLst>
                                          <p:attrName>style.visibility</p:attrName>
                                        </p:attrNameLst>
                                      </p:cBhvr>
                                      <p:to>
                                        <p:strVal val="visible"/>
                                      </p:to>
                                    </p:set>
                                    <p:animEffect transition="in" filter="fade">
                                      <p:cBhvr>
                                        <p:cTn id="74" dur="45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afterEffect">
                                  <p:stCondLst>
                                    <p:cond delay="0"/>
                                  </p:stCondLst>
                                  <p:childTnLst>
                                    <p:set>
                                      <p:cBhvr>
                                        <p:cTn id="83" dur="1" fill="hold"/>
                                        <p:tgtEl>
                                          <p:spTgt spid="16"/>
                                        </p:tgtEl>
                                        <p:attrNameLst>
                                          <p:attrName>style.visibility</p:attrName>
                                        </p:attrNameLst>
                                      </p:cBhvr>
                                      <p:to>
                                        <p:strVal val="visible"/>
                                      </p:to>
                                    </p:set>
                                    <p:animEffect transition="in" filter="fade">
                                      <p:cBhvr>
                                        <p:cTn id="84"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49840" cy="292608"/>
          </a:xfrm>
          <a:prstGeom prst="rect">
            <a:avLst/>
          </a:prstGeom>
          <a:noFill/>
        </p:spPr>
        <p:txBody>
          <a:bodyPr wrap="square">
            <a:spAutoFit/>
          </a:bodyPr>
          <a:lstStyle/>
          <a:p>
            <a:pPr algn="l">
              <a:lnSpc>
                <a:spcPct val="100000"/>
              </a:lnSpc>
            </a:pPr>
            <a:r>
              <a:rPr sz="1200" b="1">
                <a:solidFill>
                  <a:srgbClr val="22D3EE"/>
                </a:solidFill>
                <a:latin typeface="Helvetica Neue"/>
              </a:rPr>
              <a:t>FUTURE WORK</a:t>
            </a:r>
          </a:p>
        </p:txBody>
      </p:sp>
      <p:sp>
        <p:nvSpPr>
          <p:cNvPr id="4" name="TextBox 3"/>
          <p:cNvSpPr txBox="1"/>
          <p:nvPr/>
        </p:nvSpPr>
        <p:spPr>
          <a:xfrm>
            <a:off x="1005840" y="1078992"/>
            <a:ext cx="10149840" cy="914400"/>
          </a:xfrm>
          <a:prstGeom prst="rect">
            <a:avLst/>
          </a:prstGeom>
          <a:noFill/>
        </p:spPr>
        <p:txBody>
          <a:bodyPr wrap="square">
            <a:spAutoFit/>
          </a:bodyPr>
          <a:lstStyle/>
          <a:p>
            <a:pPr algn="l">
              <a:lnSpc>
                <a:spcPct val="106000"/>
              </a:lnSpc>
            </a:pPr>
            <a:r>
              <a:rPr sz="3200" b="1">
                <a:solidFill>
                  <a:srgbClr val="E8ECF3"/>
                </a:solidFill>
                <a:latin typeface="Helvetica Neue"/>
              </a:rPr>
              <a:t>What is next</a:t>
            </a:r>
          </a:p>
        </p:txBody>
      </p:sp>
      <p:sp>
        <p:nvSpPr>
          <p:cNvPr id="5" name="deckkit-rule"/>
          <p:cNvSpPr/>
          <p:nvPr/>
        </p:nvSpPr>
        <p:spPr>
          <a:xfrm>
            <a:off x="1005840" y="1883664"/>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640080" cy="365760"/>
          </a:xfrm>
          <a:prstGeom prst="rect">
            <a:avLst/>
          </a:prstGeom>
          <a:noFill/>
        </p:spPr>
        <p:txBody>
          <a:bodyPr wrap="square">
            <a:spAutoFit/>
          </a:bodyPr>
          <a:lstStyle/>
          <a:p>
            <a:pPr algn="l">
              <a:lnSpc>
                <a:spcPct val="120000"/>
              </a:lnSpc>
            </a:pPr>
            <a:r>
              <a:rPr sz="1500" b="1">
                <a:solidFill>
                  <a:srgbClr val="22D3EE"/>
                </a:solidFill>
                <a:latin typeface="Menlo"/>
              </a:rPr>
              <a:t>01</a:t>
            </a:r>
          </a:p>
        </p:txBody>
      </p:sp>
      <p:sp>
        <p:nvSpPr>
          <p:cNvPr id="7" name="TextBox 6"/>
          <p:cNvSpPr txBox="1"/>
          <p:nvPr/>
        </p:nvSpPr>
        <p:spPr>
          <a:xfrm>
            <a:off x="1737360" y="2103120"/>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Apply the change, not just carry it</a:t>
            </a:r>
          </a:p>
        </p:txBody>
      </p:sp>
      <p:sp>
        <p:nvSpPr>
          <p:cNvPr id="8" name="TextBox 7"/>
          <p:cNvSpPr txBox="1"/>
          <p:nvPr/>
        </p:nvSpPr>
        <p:spPr>
          <a:xfrm>
            <a:off x="5852160" y="2103120"/>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Today a merged pull request carries the reviewed diff as a file. Applying it to the source is next, and lets a generated test run against the change.</a:t>
            </a:r>
          </a:p>
        </p:txBody>
      </p:sp>
      <p:sp>
        <p:nvSpPr>
          <p:cNvPr id="9" name="TextBox 8"/>
          <p:cNvSpPr txBox="1"/>
          <p:nvPr/>
        </p:nvSpPr>
        <p:spPr>
          <a:xfrm>
            <a:off x="1005840" y="3127248"/>
            <a:ext cx="640080" cy="365760"/>
          </a:xfrm>
          <a:prstGeom prst="rect">
            <a:avLst/>
          </a:prstGeom>
          <a:noFill/>
        </p:spPr>
        <p:txBody>
          <a:bodyPr wrap="square">
            <a:spAutoFit/>
          </a:bodyPr>
          <a:lstStyle/>
          <a:p>
            <a:pPr algn="l">
              <a:lnSpc>
                <a:spcPct val="120000"/>
              </a:lnSpc>
            </a:pPr>
            <a:r>
              <a:rPr sz="1500" b="1">
                <a:solidFill>
                  <a:srgbClr val="22D3EE"/>
                </a:solidFill>
                <a:latin typeface="Menlo"/>
              </a:rPr>
              <a:t>02</a:t>
            </a:r>
          </a:p>
        </p:txBody>
      </p:sp>
      <p:sp>
        <p:nvSpPr>
          <p:cNvPr id="10" name="TextBox 9"/>
          <p:cNvSpPr txBox="1"/>
          <p:nvPr/>
        </p:nvSpPr>
        <p:spPr>
          <a:xfrm>
            <a:off x="1737360" y="3127248"/>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Join the two test layers</a:t>
            </a:r>
          </a:p>
        </p:txBody>
      </p:sp>
      <p:sp>
        <p:nvSpPr>
          <p:cNvPr id="11" name="TextBox 10"/>
          <p:cNvSpPr txBox="1"/>
          <p:nvPr/>
        </p:nvSpPr>
        <p:spPr>
          <a:xfrm>
            <a:off x="5852160" y="3127248"/>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Tests are generated from each ticket and Selenium runs in CI; neither checks the other yet.</a:t>
            </a:r>
          </a:p>
        </p:txBody>
      </p:sp>
      <p:sp>
        <p:nvSpPr>
          <p:cNvPr id="12" name="TextBox 11"/>
          <p:cNvSpPr txBox="1"/>
          <p:nvPr/>
        </p:nvSpPr>
        <p:spPr>
          <a:xfrm>
            <a:off x="1005840" y="4151376"/>
            <a:ext cx="640080" cy="365760"/>
          </a:xfrm>
          <a:prstGeom prst="rect">
            <a:avLst/>
          </a:prstGeom>
          <a:noFill/>
        </p:spPr>
        <p:txBody>
          <a:bodyPr wrap="square">
            <a:spAutoFit/>
          </a:bodyPr>
          <a:lstStyle/>
          <a:p>
            <a:pPr algn="l">
              <a:lnSpc>
                <a:spcPct val="120000"/>
              </a:lnSpc>
            </a:pPr>
            <a:r>
              <a:rPr sz="1500" b="1">
                <a:solidFill>
                  <a:srgbClr val="22D3EE"/>
                </a:solidFill>
                <a:latin typeface="Menlo"/>
              </a:rPr>
              <a:t>03</a:t>
            </a:r>
          </a:p>
        </p:txBody>
      </p:sp>
      <p:sp>
        <p:nvSpPr>
          <p:cNvPr id="13" name="TextBox 12"/>
          <p:cNvSpPr txBox="1"/>
          <p:nvPr/>
        </p:nvSpPr>
        <p:spPr>
          <a:xfrm>
            <a:off x="1737360" y="4151376"/>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Prompt caching</a:t>
            </a:r>
          </a:p>
        </p:txBody>
      </p:sp>
      <p:sp>
        <p:nvSpPr>
          <p:cNvPr id="14" name="TextBox 13"/>
          <p:cNvSpPr txBox="1"/>
          <p:nvPr/>
        </p:nvSpPr>
        <p:spPr>
          <a:xfrm>
            <a:off x="5852160" y="4151376"/>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Nothing is cached today: every agent re-sends the same repository snapshot at full price. Cached input costs a quarter as much.</a:t>
            </a:r>
          </a:p>
        </p:txBody>
      </p:sp>
      <p:sp>
        <p:nvSpPr>
          <p:cNvPr id="15" name="TextBox 14"/>
          <p:cNvSpPr txBox="1"/>
          <p:nvPr/>
        </p:nvSpPr>
        <p:spPr>
          <a:xfrm>
            <a:off x="1005840" y="5175504"/>
            <a:ext cx="640080" cy="365760"/>
          </a:xfrm>
          <a:prstGeom prst="rect">
            <a:avLst/>
          </a:prstGeom>
          <a:noFill/>
        </p:spPr>
        <p:txBody>
          <a:bodyPr wrap="square">
            <a:spAutoFit/>
          </a:bodyPr>
          <a:lstStyle/>
          <a:p>
            <a:pPr algn="l">
              <a:lnSpc>
                <a:spcPct val="120000"/>
              </a:lnSpc>
            </a:pPr>
            <a:r>
              <a:rPr sz="1500" b="1">
                <a:solidFill>
                  <a:srgbClr val="22D3EE"/>
                </a:solidFill>
                <a:latin typeface="Menlo"/>
              </a:rPr>
              <a:t>04</a:t>
            </a:r>
          </a:p>
        </p:txBody>
      </p:sp>
      <p:sp>
        <p:nvSpPr>
          <p:cNvPr id="16" name="TextBox 15"/>
          <p:cNvSpPr txBox="1"/>
          <p:nvPr/>
        </p:nvSpPr>
        <p:spPr>
          <a:xfrm>
            <a:off x="1737360" y="5175504"/>
            <a:ext cx="3931920" cy="640080"/>
          </a:xfrm>
          <a:prstGeom prst="rect">
            <a:avLst/>
          </a:prstGeom>
          <a:noFill/>
        </p:spPr>
        <p:txBody>
          <a:bodyPr wrap="square">
            <a:spAutoFit/>
          </a:bodyPr>
          <a:lstStyle/>
          <a:p>
            <a:pPr algn="l">
              <a:lnSpc>
                <a:spcPct val="115000"/>
              </a:lnSpc>
            </a:pPr>
            <a:r>
              <a:rPr sz="1600" b="1">
                <a:solidFill>
                  <a:srgbClr val="E8ECF3"/>
                </a:solidFill>
                <a:latin typeface="Helvetica Neue"/>
              </a:rPr>
              <a:t>More languages, more scanners</a:t>
            </a:r>
          </a:p>
        </p:txBody>
      </p:sp>
      <p:sp>
        <p:nvSpPr>
          <p:cNvPr id="17" name="TextBox 16"/>
          <p:cNvSpPr txBox="1"/>
          <p:nvPr/>
        </p:nvSpPr>
        <p:spPr>
          <a:xfrm>
            <a:off x="5852160" y="5175504"/>
            <a:ext cx="5303520" cy="914400"/>
          </a:xfrm>
          <a:prstGeom prst="rect">
            <a:avLst/>
          </a:prstGeom>
          <a:noFill/>
        </p:spPr>
        <p:txBody>
          <a:bodyPr wrap="square">
            <a:spAutoFit/>
          </a:bodyPr>
          <a:lstStyle/>
          <a:p>
            <a:pPr algn="l">
              <a:lnSpc>
                <a:spcPct val="130000"/>
              </a:lnSpc>
            </a:pPr>
            <a:r>
              <a:rPr sz="1400" b="0">
                <a:solidFill>
                  <a:srgbClr val="8B97AB"/>
                </a:solidFill>
                <a:latin typeface="Helvetica Neue"/>
              </a:rPr>
              <a:t>One Python target and three scanners today. The scoring is a table, so a new scanner is one row.</a:t>
            </a:r>
          </a:p>
        </p:txBody>
      </p:sp>
      <p:sp>
        <p:nvSpPr>
          <p:cNvPr id="85" name="TextBox 8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15</a:t>
            </a:r>
          </a:p>
        </p:txBody>
      </p:sp>
    </p:spTree>
  </p:cSld>
  <p:clrMapOvr>
    <a:masterClrMapping/>
  </p:clrMapOvr>
  <p:transition spd="med">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7"/>
                                        </p:tgtEl>
                                        <p:attrNameLst>
                                          <p:attrName>style.visibility</p:attrName>
                                        </p:attrNameLst>
                                      </p:cBhvr>
                                      <p:to>
                                        <p:strVal val="visible"/>
                                      </p:to>
                                    </p:set>
                                    <p:animEffect transition="in" filter="fade">
                                      <p:cBhvr>
                                        <p:cTn id="24" dur="45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9"/>
                                        </p:tgtEl>
                                        <p:attrNameLst>
                                          <p:attrName>style.visibility</p:attrName>
                                        </p:attrNameLst>
                                      </p:cBhvr>
                                      <p:to>
                                        <p:strVal val="visible"/>
                                      </p:to>
                                    </p:set>
                                    <p:animEffect transition="in" filter="fade">
                                      <p:cBhvr>
                                        <p:cTn id="34"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10"/>
                                        </p:tgtEl>
                                        <p:attrNameLst>
                                          <p:attrName>style.visibility</p:attrName>
                                        </p:attrNameLst>
                                      </p:cBhvr>
                                      <p:to>
                                        <p:strVal val="visible"/>
                                      </p:to>
                                    </p:set>
                                    <p:animEffect transition="in" filter="fade">
                                      <p:cBhvr>
                                        <p:cTn id="44" dur="45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12"/>
                                        </p:tgtEl>
                                        <p:attrNameLst>
                                          <p:attrName>style.visibility</p:attrName>
                                        </p:attrNameLst>
                                      </p:cBhvr>
                                      <p:to>
                                        <p:strVal val="visible"/>
                                      </p:to>
                                    </p:set>
                                    <p:animEffect transition="in" filter="fade">
                                      <p:cBhvr>
                                        <p:cTn id="54" dur="45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afterEffect">
                                  <p:stCondLst>
                                    <p:cond delay="0"/>
                                  </p:stCondLst>
                                  <p:childTnLst>
                                    <p:set>
                                      <p:cBhvr>
                                        <p:cTn id="63" dur="1" fill="hold"/>
                                        <p:tgtEl>
                                          <p:spTgt spid="13"/>
                                        </p:tgtEl>
                                        <p:attrNameLst>
                                          <p:attrName>style.visibility</p:attrName>
                                        </p:attrNameLst>
                                      </p:cBhvr>
                                      <p:to>
                                        <p:strVal val="visible"/>
                                      </p:to>
                                    </p:set>
                                    <p:animEffect transition="in" filter="fade">
                                      <p:cBhvr>
                                        <p:cTn id="64" dur="45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afterEffect">
                                  <p:stCondLst>
                                    <p:cond delay="0"/>
                                  </p:stCondLst>
                                  <p:childTnLst>
                                    <p:set>
                                      <p:cBhvr>
                                        <p:cTn id="73" dur="1" fill="hold"/>
                                        <p:tgtEl>
                                          <p:spTgt spid="15"/>
                                        </p:tgtEl>
                                        <p:attrNameLst>
                                          <p:attrName>style.visibility</p:attrName>
                                        </p:attrNameLst>
                                      </p:cBhvr>
                                      <p:to>
                                        <p:strVal val="visible"/>
                                      </p:to>
                                    </p:set>
                                    <p:animEffect transition="in" filter="fade">
                                      <p:cBhvr>
                                        <p:cTn id="74" dur="45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afterEffect">
                                  <p:stCondLst>
                                    <p:cond delay="0"/>
                                  </p:stCondLst>
                                  <p:childTnLst>
                                    <p:set>
                                      <p:cBhvr>
                                        <p:cTn id="83" dur="1" fill="hold"/>
                                        <p:tgtEl>
                                          <p:spTgt spid="16"/>
                                        </p:tgtEl>
                                        <p:attrNameLst>
                                          <p:attrName>style.visibility</p:attrName>
                                        </p:attrNameLst>
                                      </p:cBhvr>
                                      <p:to>
                                        <p:strVal val="visible"/>
                                      </p:to>
                                    </p:set>
                                    <p:animEffect transition="in" filter="fade">
                                      <p:cBhvr>
                                        <p:cTn id="84"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822960"/>
          </a:xfrm>
          <a:prstGeom prst="rect">
            <a:avLst/>
          </a:prstGeom>
          <a:noFill/>
        </p:spPr>
        <p:txBody>
          <a:bodyPr wrap="square">
            <a:spAutoFit/>
          </a:bodyPr>
          <a:lstStyle/>
          <a:p>
            <a:pPr algn="l">
              <a:lnSpc>
                <a:spcPct val="120000"/>
              </a:lnSpc>
            </a:pPr>
            <a:r>
              <a:rPr sz="4400" b="1">
                <a:solidFill>
                  <a:srgbClr val="E8ECF3"/>
                </a:solidFill>
                <a:latin typeface="Helvetica Neue"/>
              </a:rPr>
              <a:t>The demonstration</a:t>
            </a:r>
          </a:p>
        </p:txBody>
      </p:sp>
      <p:sp>
        <p:nvSpPr>
          <p:cNvPr id="5" name="deckkit-rule"/>
          <p:cNvSpPr/>
          <p:nvPr/>
        </p:nvSpPr>
        <p:spPr>
          <a:xfrm>
            <a:off x="1005840" y="2834640"/>
            <a:ext cx="201168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10284" y="338328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29156" y="343357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94176"/>
            <a:ext cx="1127760" cy="274320"/>
          </a:xfrm>
          <a:prstGeom prst="rect">
            <a:avLst/>
          </a:prstGeom>
          <a:noFill/>
        </p:spPr>
        <p:txBody>
          <a:bodyPr wrap="square">
            <a:spAutoFit/>
          </a:bodyPr>
          <a:lstStyle/>
          <a:p>
            <a:pPr algn="ctr">
              <a:lnSpc>
                <a:spcPct val="100000"/>
              </a:lnSpc>
            </a:pPr>
            <a:r>
              <a:rPr sz="1100" b="0">
                <a:solidFill>
                  <a:srgbClr val="E8ECF3"/>
                </a:solidFill>
                <a:latin typeface="Menlo"/>
              </a:rPr>
              <a:t>plan</a:t>
            </a:r>
          </a:p>
        </p:txBody>
      </p:sp>
      <p:sp>
        <p:nvSpPr>
          <p:cNvPr id="9" name="Oval 8"/>
          <p:cNvSpPr/>
          <p:nvPr/>
        </p:nvSpPr>
        <p:spPr>
          <a:xfrm>
            <a:off x="2610612" y="3383280"/>
            <a:ext cx="173736" cy="173736"/>
          </a:xfrm>
          <a:prstGeom prst="ellipse">
            <a:avLst/>
          </a:prstGeom>
          <a:solidFill>
            <a:srgbClr val="0B0F17"/>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84348" y="3461004"/>
            <a:ext cx="954024"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33600" y="3694176"/>
            <a:ext cx="1127760" cy="274320"/>
          </a:xfrm>
          <a:prstGeom prst="rect">
            <a:avLst/>
          </a:prstGeom>
          <a:noFill/>
        </p:spPr>
        <p:txBody>
          <a:bodyPr wrap="square">
            <a:spAutoFit/>
          </a:bodyPr>
          <a:lstStyle/>
          <a:p>
            <a:pPr algn="ctr">
              <a:lnSpc>
                <a:spcPct val="100000"/>
              </a:lnSpc>
            </a:pPr>
            <a:r>
              <a:rPr sz="1100" b="0">
                <a:solidFill>
                  <a:srgbClr val="E8ECF3"/>
                </a:solidFill>
                <a:latin typeface="Menlo"/>
              </a:rPr>
              <a:t>gate1</a:t>
            </a:r>
          </a:p>
        </p:txBody>
      </p:sp>
      <p:sp>
        <p:nvSpPr>
          <p:cNvPr id="12" name="Oval 11"/>
          <p:cNvSpPr/>
          <p:nvPr/>
        </p:nvSpPr>
        <p:spPr>
          <a:xfrm>
            <a:off x="3765804" y="338328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84676" y="343357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1360" y="3694176"/>
            <a:ext cx="1127760" cy="274320"/>
          </a:xfrm>
          <a:prstGeom prst="rect">
            <a:avLst/>
          </a:prstGeom>
          <a:noFill/>
        </p:spPr>
        <p:txBody>
          <a:bodyPr wrap="square">
            <a:spAutoFit/>
          </a:bodyPr>
          <a:lstStyle/>
          <a:p>
            <a:pPr algn="ctr">
              <a:lnSpc>
                <a:spcPct val="100000"/>
              </a:lnSpc>
            </a:pPr>
            <a:r>
              <a:rPr sz="1100" b="0">
                <a:solidFill>
                  <a:srgbClr val="E8ECF3"/>
                </a:solidFill>
                <a:latin typeface="Menlo"/>
              </a:rPr>
              <a:t>develop</a:t>
            </a:r>
          </a:p>
        </p:txBody>
      </p:sp>
      <p:sp>
        <p:nvSpPr>
          <p:cNvPr id="15" name="Oval 14"/>
          <p:cNvSpPr/>
          <p:nvPr/>
        </p:nvSpPr>
        <p:spPr>
          <a:xfrm>
            <a:off x="4893564" y="3383280"/>
            <a:ext cx="118872" cy="118872"/>
          </a:xfrm>
          <a:prstGeom prst="ellipse">
            <a:avLst/>
          </a:prstGeom>
          <a:solidFill>
            <a:srgbClr val="22D3EE"/>
          </a:solid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12436" y="3433572"/>
            <a:ext cx="1008888" cy="182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3694176"/>
            <a:ext cx="1127760" cy="274320"/>
          </a:xfrm>
          <a:prstGeom prst="rect">
            <a:avLst/>
          </a:prstGeom>
          <a:noFill/>
        </p:spPr>
        <p:txBody>
          <a:bodyPr wrap="square">
            <a:spAutoFit/>
          </a:bodyPr>
          <a:lstStyle/>
          <a:p>
            <a:pPr algn="ctr">
              <a:lnSpc>
                <a:spcPct val="100000"/>
              </a:lnSpc>
            </a:pPr>
            <a:r>
              <a:rPr sz="1100" b="0">
                <a:solidFill>
                  <a:srgbClr val="E8ECF3"/>
                </a:solidFill>
                <a:latin typeface="Menlo"/>
              </a:rPr>
              <a:t>review</a:t>
            </a:r>
          </a:p>
        </p:txBody>
      </p:sp>
      <p:sp>
        <p:nvSpPr>
          <p:cNvPr id="18" name="Oval 17"/>
          <p:cNvSpPr/>
          <p:nvPr/>
        </p:nvSpPr>
        <p:spPr>
          <a:xfrm>
            <a:off x="6021324" y="3383280"/>
            <a:ext cx="118872" cy="118872"/>
          </a:xfrm>
          <a:prstGeom prst="ellipse">
            <a:avLst/>
          </a:prstGeom>
          <a:solidFill>
            <a:srgbClr val="FB7185"/>
          </a:solidFill>
          <a:ln w="254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0196" y="3433572"/>
            <a:ext cx="1008888" cy="1828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16880" y="3694176"/>
            <a:ext cx="1127760" cy="274320"/>
          </a:xfrm>
          <a:prstGeom prst="rect">
            <a:avLst/>
          </a:prstGeom>
          <a:noFill/>
        </p:spPr>
        <p:txBody>
          <a:bodyPr wrap="square">
            <a:spAutoFit/>
          </a:bodyPr>
          <a:lstStyle/>
          <a:p>
            <a:pPr algn="ctr">
              <a:lnSpc>
                <a:spcPct val="100000"/>
              </a:lnSpc>
            </a:pPr>
            <a:r>
              <a:rPr sz="1100" b="0">
                <a:solidFill>
                  <a:srgbClr val="E8ECF3"/>
                </a:solidFill>
                <a:latin typeface="Menlo"/>
              </a:rPr>
              <a:t>security</a:t>
            </a:r>
          </a:p>
        </p:txBody>
      </p:sp>
      <p:sp>
        <p:nvSpPr>
          <p:cNvPr id="21" name="Oval 20"/>
          <p:cNvSpPr/>
          <p:nvPr/>
        </p:nvSpPr>
        <p:spPr>
          <a:xfrm>
            <a:off x="7121652" y="3383280"/>
            <a:ext cx="173736" cy="173736"/>
          </a:xfrm>
          <a:prstGeom prst="ellipse">
            <a:avLst/>
          </a:prstGeom>
          <a:solidFill>
            <a:srgbClr val="0B0F17"/>
          </a:solidFill>
          <a:ln w="254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95388" y="3461004"/>
            <a:ext cx="954024" cy="1828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4640" y="3694176"/>
            <a:ext cx="1127760" cy="274320"/>
          </a:xfrm>
          <a:prstGeom prst="rect">
            <a:avLst/>
          </a:prstGeom>
          <a:noFill/>
        </p:spPr>
        <p:txBody>
          <a:bodyPr wrap="square">
            <a:spAutoFit/>
          </a:bodyPr>
          <a:lstStyle/>
          <a:p>
            <a:pPr algn="ctr">
              <a:lnSpc>
                <a:spcPct val="100000"/>
              </a:lnSpc>
            </a:pPr>
            <a:r>
              <a:rPr sz="1100" b="0">
                <a:solidFill>
                  <a:srgbClr val="8B97AB"/>
                </a:solidFill>
                <a:latin typeface="Menlo"/>
              </a:rPr>
              <a:t>gate2</a:t>
            </a:r>
          </a:p>
        </p:txBody>
      </p:sp>
      <p:sp>
        <p:nvSpPr>
          <p:cNvPr id="24" name="Oval 23"/>
          <p:cNvSpPr/>
          <p:nvPr/>
        </p:nvSpPr>
        <p:spPr>
          <a:xfrm>
            <a:off x="8276844" y="3383280"/>
            <a:ext cx="118872" cy="118872"/>
          </a:xfrm>
          <a:prstGeom prst="ellipse">
            <a:avLst/>
          </a:prstGeom>
          <a:solidFill>
            <a:srgbClr val="1F2937"/>
          </a:solidFill>
          <a:ln w="254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5716" y="3433572"/>
            <a:ext cx="1008888" cy="1828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3694176"/>
            <a:ext cx="1127760" cy="274320"/>
          </a:xfrm>
          <a:prstGeom prst="rect">
            <a:avLst/>
          </a:prstGeom>
          <a:noFill/>
        </p:spPr>
        <p:txBody>
          <a:bodyPr wrap="square">
            <a:spAutoFit/>
          </a:bodyPr>
          <a:lstStyle/>
          <a:p>
            <a:pPr algn="ctr">
              <a:lnSpc>
                <a:spcPct val="100000"/>
              </a:lnSpc>
            </a:pPr>
            <a:r>
              <a:rPr sz="1100" b="0">
                <a:solidFill>
                  <a:srgbClr val="8B97AB"/>
                </a:solidFill>
                <a:latin typeface="Menlo"/>
              </a:rPr>
              <a:t>sre</a:t>
            </a:r>
          </a:p>
        </p:txBody>
      </p:sp>
      <p:sp>
        <p:nvSpPr>
          <p:cNvPr id="27" name="Oval 26"/>
          <p:cNvSpPr/>
          <p:nvPr/>
        </p:nvSpPr>
        <p:spPr>
          <a:xfrm>
            <a:off x="9377172" y="3383280"/>
            <a:ext cx="173736" cy="173736"/>
          </a:xfrm>
          <a:prstGeom prst="ellipse">
            <a:avLst/>
          </a:prstGeom>
          <a:solidFill>
            <a:srgbClr val="0B0F17"/>
          </a:solidFill>
          <a:ln w="254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50908" y="3461004"/>
            <a:ext cx="954024" cy="1828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00160" y="3694176"/>
            <a:ext cx="1127760" cy="274320"/>
          </a:xfrm>
          <a:prstGeom prst="rect">
            <a:avLst/>
          </a:prstGeom>
          <a:noFill/>
        </p:spPr>
        <p:txBody>
          <a:bodyPr wrap="square">
            <a:spAutoFit/>
          </a:bodyPr>
          <a:lstStyle/>
          <a:p>
            <a:pPr algn="ctr">
              <a:lnSpc>
                <a:spcPct val="100000"/>
              </a:lnSpc>
            </a:pPr>
            <a:r>
              <a:rPr sz="1100" b="0">
                <a:solidFill>
                  <a:srgbClr val="8B97AB"/>
                </a:solidFill>
                <a:latin typeface="Menlo"/>
              </a:rPr>
              <a:t>gate3</a:t>
            </a:r>
          </a:p>
        </p:txBody>
      </p:sp>
      <p:sp>
        <p:nvSpPr>
          <p:cNvPr id="30" name="Oval 29"/>
          <p:cNvSpPr/>
          <p:nvPr/>
        </p:nvSpPr>
        <p:spPr>
          <a:xfrm>
            <a:off x="10532364" y="3383280"/>
            <a:ext cx="118872" cy="118872"/>
          </a:xfrm>
          <a:prstGeom prst="ellipse">
            <a:avLst/>
          </a:prstGeom>
          <a:solidFill>
            <a:srgbClr val="1F2937"/>
          </a:solidFill>
          <a:ln w="2540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27920" y="3694176"/>
            <a:ext cx="1127760" cy="274320"/>
          </a:xfrm>
          <a:prstGeom prst="rect">
            <a:avLst/>
          </a:prstGeom>
          <a:noFill/>
        </p:spPr>
        <p:txBody>
          <a:bodyPr wrap="square">
            <a:spAutoFit/>
          </a:bodyPr>
          <a:lstStyle/>
          <a:p>
            <a:pPr algn="ctr">
              <a:lnSpc>
                <a:spcPct val="100000"/>
              </a:lnSpc>
            </a:pPr>
            <a:r>
              <a:rPr sz="1100" b="0">
                <a:solidFill>
                  <a:srgbClr val="8B97AB"/>
                </a:solidFill>
                <a:latin typeface="Menlo"/>
              </a:rPr>
              <a:t>promote</a:t>
            </a:r>
          </a:p>
        </p:txBody>
      </p:sp>
      <p:sp>
        <p:nvSpPr>
          <p:cNvPr id="32" name="TextBox 31"/>
          <p:cNvSpPr txBox="1"/>
          <p:nvPr/>
        </p:nvSpPr>
        <p:spPr>
          <a:xfrm>
            <a:off x="1005840" y="4206240"/>
            <a:ext cx="10058400" cy="731520"/>
          </a:xfrm>
          <a:prstGeom prst="rect">
            <a:avLst/>
          </a:prstGeom>
          <a:noFill/>
        </p:spPr>
        <p:txBody>
          <a:bodyPr wrap="square">
            <a:spAutoFit/>
          </a:bodyPr>
          <a:lstStyle/>
          <a:p>
            <a:pPr algn="l">
              <a:lnSpc>
                <a:spcPct val="130000"/>
              </a:lnSpc>
            </a:pPr>
            <a:r>
              <a:rPr sz="1700" b="0">
                <a:solidFill>
                  <a:srgbClr val="8B97AB"/>
                </a:solidFill>
                <a:latin typeface="Helvetica Neue"/>
              </a:rPr>
              <a:t>A ticket that deliberately carries a credential. The scanners find it, the run stops at the security stage, and nothing after it runs.</a:t>
            </a:r>
          </a:p>
        </p:txBody>
      </p:sp>
      <p:sp>
        <p:nvSpPr>
          <p:cNvPr id="33" name="TextBox 32"/>
          <p:cNvSpPr txBox="1"/>
          <p:nvPr/>
        </p:nvSpPr>
        <p:spPr>
          <a:xfrm>
            <a:off x="1005840" y="5120640"/>
            <a:ext cx="10058400" cy="731520"/>
          </a:xfrm>
          <a:prstGeom prst="rect">
            <a:avLst/>
          </a:prstGeom>
          <a:noFill/>
        </p:spPr>
        <p:txBody>
          <a:bodyPr wrap="square">
            <a:spAutoFit/>
          </a:bodyPr>
          <a:lstStyle/>
          <a:p>
            <a:pPr algn="l">
              <a:lnSpc>
                <a:spcPct val="130000"/>
              </a:lnSpc>
            </a:pPr>
            <a:r>
              <a:rPr sz="1500" b="0">
                <a:solidFill>
                  <a:srgbClr val="E8ECF3"/>
                </a:solidFill>
                <a:latin typeface="Helvetica Neue"/>
              </a:rPr>
              <a:t>Watch the line numbers: the real scanners report lines 3 and 4. The built-in stand-in, used only when a scanner is unavailable, reports 4 and 5, so the pair shows a real scan happened.</a:t>
            </a:r>
          </a:p>
        </p:txBody>
      </p:sp>
      <p:sp>
        <p:nvSpPr>
          <p:cNvPr id="185" name="TextBox 184"/>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afterEffect">
                                  <p:stCondLst>
                                    <p:cond delay="0"/>
                                  </p:stCondLst>
                                  <p:childTnLst>
                                    <p:set>
                                      <p:cBhvr>
                                        <p:cTn id="23" dur="1" fill="hold"/>
                                        <p:tgtEl>
                                          <p:spTgt spid="8"/>
                                        </p:tgtEl>
                                        <p:attrNameLst>
                                          <p:attrName>style.visibility</p:attrName>
                                        </p:attrNameLst>
                                      </p:cBhvr>
                                      <p:to>
                                        <p:strVal val="visible"/>
                                      </p:to>
                                    </p:set>
                                    <p:animEffect transition="in" filter="fade">
                                      <p:cBhvr>
                                        <p:cTn id="24"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afterEffect">
                                  <p:stCondLst>
                                    <p:cond delay="0"/>
                                  </p:stCondLst>
                                  <p:childTnLst>
                                    <p:set>
                                      <p:cBhvr>
                                        <p:cTn id="33" dur="1" fill="hold"/>
                                        <p:tgtEl>
                                          <p:spTgt spid="9"/>
                                        </p:tgtEl>
                                        <p:attrNameLst>
                                          <p:attrName>style.visibility</p:attrName>
                                        </p:attrNameLst>
                                      </p:cBhvr>
                                      <p:to>
                                        <p:strVal val="visible"/>
                                      </p:to>
                                    </p:set>
                                    <p:animEffect transition="in" filter="fade">
                                      <p:cBhvr>
                                        <p:cTn id="34"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afterEffect">
                                  <p:stCondLst>
                                    <p:cond delay="0"/>
                                  </p:stCondLst>
                                  <p:childTnLst>
                                    <p:set>
                                      <p:cBhvr>
                                        <p:cTn id="43" dur="1" fill="hold"/>
                                        <p:tgtEl>
                                          <p:spTgt spid="11"/>
                                        </p:tgtEl>
                                        <p:attrNameLst>
                                          <p:attrName>style.visibility</p:attrName>
                                        </p:attrNameLst>
                                      </p:cBhvr>
                                      <p:to>
                                        <p:strVal val="visible"/>
                                      </p:to>
                                    </p:set>
                                    <p:animEffect transition="in" filter="fade">
                                      <p:cBhvr>
                                        <p:cTn id="44" dur="45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afterEffect">
                                  <p:stCondLst>
                                    <p:cond delay="0"/>
                                  </p:stCondLst>
                                  <p:childTnLst>
                                    <p:set>
                                      <p:cBhvr>
                                        <p:cTn id="53" dur="1" fill="hold"/>
                                        <p:tgtEl>
                                          <p:spTgt spid="12"/>
                                        </p:tgtEl>
                                        <p:attrNameLst>
                                          <p:attrName>style.visibility</p:attrName>
                                        </p:attrNameLst>
                                      </p:cBhvr>
                                      <p:to>
                                        <p:strVal val="visible"/>
                                      </p:to>
                                    </p:set>
                                    <p:animEffect transition="in" filter="fade">
                                      <p:cBhvr>
                                        <p:cTn id="54" dur="45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afterEffect">
                                  <p:stCondLst>
                                    <p:cond delay="0"/>
                                  </p:stCondLst>
                                  <p:childTnLst>
                                    <p:set>
                                      <p:cBhvr>
                                        <p:cTn id="63" dur="1" fill="hold"/>
                                        <p:tgtEl>
                                          <p:spTgt spid="14"/>
                                        </p:tgtEl>
                                        <p:attrNameLst>
                                          <p:attrName>style.visibility</p:attrName>
                                        </p:attrNameLst>
                                      </p:cBhvr>
                                      <p:to>
                                        <p:strVal val="visible"/>
                                      </p:to>
                                    </p:set>
                                    <p:animEffect transition="in" filter="fade">
                                      <p:cBhvr>
                                        <p:cTn id="64" dur="450"/>
                                        <p:tgtEl>
                                          <p:spTgt spid="1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afterEffect">
                                  <p:stCondLst>
                                    <p:cond delay="0"/>
                                  </p:stCondLst>
                                  <p:childTnLst>
                                    <p:set>
                                      <p:cBhvr>
                                        <p:cTn id="73" dur="1" fill="hold"/>
                                        <p:tgtEl>
                                          <p:spTgt spid="15"/>
                                        </p:tgtEl>
                                        <p:attrNameLst>
                                          <p:attrName>style.visibility</p:attrName>
                                        </p:attrNameLst>
                                      </p:cBhvr>
                                      <p:to>
                                        <p:strVal val="visible"/>
                                      </p:to>
                                    </p:set>
                                    <p:animEffect transition="in" filter="fade">
                                      <p:cBhvr>
                                        <p:cTn id="74" dur="45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afterEffect">
                                  <p:stCondLst>
                                    <p:cond delay="0"/>
                                  </p:stCondLst>
                                  <p:childTnLst>
                                    <p:set>
                                      <p:cBhvr>
                                        <p:cTn id="83" dur="1" fill="hold"/>
                                        <p:tgtEl>
                                          <p:spTgt spid="17"/>
                                        </p:tgtEl>
                                        <p:attrNameLst>
                                          <p:attrName>style.visibility</p:attrName>
                                        </p:attrNameLst>
                                      </p:cBhvr>
                                      <p:to>
                                        <p:strVal val="visible"/>
                                      </p:to>
                                    </p:set>
                                    <p:animEffect transition="in" filter="fade">
                                      <p:cBhvr>
                                        <p:cTn id="84" dur="450"/>
                                        <p:tgtEl>
                                          <p:spTgt spid="1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afterEffect">
                                  <p:stCondLst>
                                    <p:cond delay="0"/>
                                  </p:stCondLst>
                                  <p:childTnLst>
                                    <p:set>
                                      <p:cBhvr>
                                        <p:cTn id="93" dur="1" fill="hold"/>
                                        <p:tgtEl>
                                          <p:spTgt spid="18"/>
                                        </p:tgtEl>
                                        <p:attrNameLst>
                                          <p:attrName>style.visibility</p:attrName>
                                        </p:attrNameLst>
                                      </p:cBhvr>
                                      <p:to>
                                        <p:strVal val="visible"/>
                                      </p:to>
                                    </p:set>
                                    <p:animEffect transition="in" filter="fade">
                                      <p:cBhvr>
                                        <p:cTn id="94" dur="450"/>
                                        <p:tgtEl>
                                          <p:spTgt spid="18"/>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afterEffect">
                                  <p:stCondLst>
                                    <p:cond delay="0"/>
                                  </p:stCondLst>
                                  <p:childTnLst>
                                    <p:set>
                                      <p:cBhvr>
                                        <p:cTn id="103" dur="1" fill="hold"/>
                                        <p:tgtEl>
                                          <p:spTgt spid="20"/>
                                        </p:tgtEl>
                                        <p:attrNameLst>
                                          <p:attrName>style.visibility</p:attrName>
                                        </p:attrNameLst>
                                      </p:cBhvr>
                                      <p:to>
                                        <p:strVal val="visible"/>
                                      </p:to>
                                    </p:set>
                                    <p:animEffect transition="in" filter="fade">
                                      <p:cBhvr>
                                        <p:cTn id="104" dur="450"/>
                                        <p:tgtEl>
                                          <p:spTgt spid="2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afterEffect">
                                  <p:stCondLst>
                                    <p:cond delay="0"/>
                                  </p:stCondLst>
                                  <p:childTnLst>
                                    <p:set>
                                      <p:cBhvr>
                                        <p:cTn id="113" dur="1" fill="hold"/>
                                        <p:tgtEl>
                                          <p:spTgt spid="21"/>
                                        </p:tgtEl>
                                        <p:attrNameLst>
                                          <p:attrName>style.visibility</p:attrName>
                                        </p:attrNameLst>
                                      </p:cBhvr>
                                      <p:to>
                                        <p:strVal val="visible"/>
                                      </p:to>
                                    </p:set>
                                    <p:animEffect transition="in" filter="fade">
                                      <p:cBhvr>
                                        <p:cTn id="114" dur="450"/>
                                        <p:tgtEl>
                                          <p:spTgt spid="21"/>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afterEffect">
                                  <p:stCondLst>
                                    <p:cond delay="0"/>
                                  </p:stCondLst>
                                  <p:childTnLst>
                                    <p:set>
                                      <p:cBhvr>
                                        <p:cTn id="123" dur="1" fill="hold"/>
                                        <p:tgtEl>
                                          <p:spTgt spid="23"/>
                                        </p:tgtEl>
                                        <p:attrNameLst>
                                          <p:attrName>style.visibility</p:attrName>
                                        </p:attrNameLst>
                                      </p:cBhvr>
                                      <p:to>
                                        <p:strVal val="visible"/>
                                      </p:to>
                                    </p:set>
                                    <p:animEffect transition="in" filter="fade">
                                      <p:cBhvr>
                                        <p:cTn id="124" dur="450"/>
                                        <p:tgtEl>
                                          <p:spTgt spid="23"/>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afterEffect">
                                  <p:stCondLst>
                                    <p:cond delay="0"/>
                                  </p:stCondLst>
                                  <p:childTnLst>
                                    <p:set>
                                      <p:cBhvr>
                                        <p:cTn id="133" dur="1" fill="hold"/>
                                        <p:tgtEl>
                                          <p:spTgt spid="24"/>
                                        </p:tgtEl>
                                        <p:attrNameLst>
                                          <p:attrName>style.visibility</p:attrName>
                                        </p:attrNameLst>
                                      </p:cBhvr>
                                      <p:to>
                                        <p:strVal val="visible"/>
                                      </p:to>
                                    </p:set>
                                    <p:animEffect transition="in" filter="fade">
                                      <p:cBhvr>
                                        <p:cTn id="134" dur="450"/>
                                        <p:tgtEl>
                                          <p:spTgt spid="24"/>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afterEffect">
                                  <p:stCondLst>
                                    <p:cond delay="0"/>
                                  </p:stCondLst>
                                  <p:childTnLst>
                                    <p:set>
                                      <p:cBhvr>
                                        <p:cTn id="143" dur="1" fill="hold"/>
                                        <p:tgtEl>
                                          <p:spTgt spid="26"/>
                                        </p:tgtEl>
                                        <p:attrNameLst>
                                          <p:attrName>style.visibility</p:attrName>
                                        </p:attrNameLst>
                                      </p:cBhvr>
                                      <p:to>
                                        <p:strVal val="visible"/>
                                      </p:to>
                                    </p:set>
                                    <p:animEffect transition="in" filter="fade">
                                      <p:cBhvr>
                                        <p:cTn id="144" dur="450"/>
                                        <p:tgtEl>
                                          <p:spTgt spid="26"/>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afterEffect">
                                  <p:stCondLst>
                                    <p:cond delay="0"/>
                                  </p:stCondLst>
                                  <p:childTnLst>
                                    <p:set>
                                      <p:cBhvr>
                                        <p:cTn id="153" dur="1" fill="hold"/>
                                        <p:tgtEl>
                                          <p:spTgt spid="27"/>
                                        </p:tgtEl>
                                        <p:attrNameLst>
                                          <p:attrName>style.visibility</p:attrName>
                                        </p:attrNameLst>
                                      </p:cBhvr>
                                      <p:to>
                                        <p:strVal val="visible"/>
                                      </p:to>
                                    </p:set>
                                    <p:animEffect transition="in" filter="fade">
                                      <p:cBhvr>
                                        <p:cTn id="154" dur="450"/>
                                        <p:tgtEl>
                                          <p:spTgt spid="27"/>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grpId="0" nodeType="afterEffect">
                                  <p:stCondLst>
                                    <p:cond delay="0"/>
                                  </p:stCondLst>
                                  <p:childTnLst>
                                    <p:set>
                                      <p:cBhvr>
                                        <p:cTn id="163" dur="1" fill="hold"/>
                                        <p:tgtEl>
                                          <p:spTgt spid="29"/>
                                        </p:tgtEl>
                                        <p:attrNameLst>
                                          <p:attrName>style.visibility</p:attrName>
                                        </p:attrNameLst>
                                      </p:cBhvr>
                                      <p:to>
                                        <p:strVal val="visible"/>
                                      </p:to>
                                    </p:set>
                                    <p:animEffect transition="in" filter="fade">
                                      <p:cBhvr>
                                        <p:cTn id="164" dur="450"/>
                                        <p:tgtEl>
                                          <p:spTgt spid="29"/>
                                        </p:tgtEl>
                                      </p:cBhvr>
                                    </p:animEffect>
                                  </p:childTnLst>
                                </p:cTn>
                              </p:par>
                            </p:childTnLst>
                          </p:cTn>
                        </p:par>
                      </p:childTnLst>
                    </p:cTn>
                  </p:par>
                  <p:par>
                    <p:cTn id="170" fill="hold">
                      <p:stCondLst>
                        <p:cond delay="indefinite"/>
                      </p:stCondLst>
                      <p:childTnLst>
                        <p:par>
                          <p:cTn id="171" fill="hold">
                            <p:stCondLst>
                              <p:cond delay="0"/>
                            </p:stCondLst>
                            <p:childTnLst>
                              <p:par>
                                <p:cTn id="172" presetID="10" presetClass="entr" presetSubtype="0" fill="hold" grpId="0" nodeType="afterEffect">
                                  <p:stCondLst>
                                    <p:cond delay="0"/>
                                  </p:stCondLst>
                                  <p:childTnLst>
                                    <p:set>
                                      <p:cBhvr>
                                        <p:cTn id="173" dur="1" fill="hold"/>
                                        <p:tgtEl>
                                          <p:spTgt spid="30"/>
                                        </p:tgtEl>
                                        <p:attrNameLst>
                                          <p:attrName>style.visibility</p:attrName>
                                        </p:attrNameLst>
                                      </p:cBhvr>
                                      <p:to>
                                        <p:strVal val="visible"/>
                                      </p:to>
                                    </p:set>
                                    <p:animEffect transition="in" filter="fade">
                                      <p:cBhvr>
                                        <p:cTn id="174" dur="450"/>
                                        <p:tgtEl>
                                          <p:spTgt spid="30"/>
                                        </p:tgtEl>
                                      </p:cBhvr>
                                    </p:animEffect>
                                  </p:childTnLst>
                                </p:cTn>
                              </p:par>
                            </p:childTnLst>
                          </p:cTn>
                        </p:par>
                      </p:childTnLst>
                    </p:cTn>
                  </p:par>
                  <p:par>
                    <p:cTn id="180" fill="hold">
                      <p:stCondLst>
                        <p:cond delay="indefinite"/>
                      </p:stCondLst>
                      <p:childTnLst>
                        <p:par>
                          <p:cTn id="181" fill="hold">
                            <p:stCondLst>
                              <p:cond delay="0"/>
                            </p:stCondLst>
                            <p:childTnLst>
                              <p:par>
                                <p:cTn id="182" presetID="10" presetClass="entr" presetSubtype="0" fill="hold" grpId="0" nodeType="afterEffect">
                                  <p:stCondLst>
                                    <p:cond delay="0"/>
                                  </p:stCondLst>
                                  <p:childTnLst>
                                    <p:set>
                                      <p:cBhvr>
                                        <p:cTn id="183" dur="1" fill="hold"/>
                                        <p:tgtEl>
                                          <p:spTgt spid="31"/>
                                        </p:tgtEl>
                                        <p:attrNameLst>
                                          <p:attrName>style.visibility</p:attrName>
                                        </p:attrNameLst>
                                      </p:cBhvr>
                                      <p:to>
                                        <p:strVal val="visible"/>
                                      </p:to>
                                    </p:set>
                                    <p:animEffect transition="in" filter="fade">
                                      <p:cBhvr>
                                        <p:cTn id="18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149840" cy="914400"/>
          </a:xfrm>
          <a:prstGeom prst="rect">
            <a:avLst/>
          </a:prstGeom>
          <a:noFill/>
        </p:spPr>
        <p:txBody>
          <a:bodyPr wrap="square">
            <a:spAutoFit/>
          </a:bodyPr>
          <a:lstStyle/>
          <a:p>
            <a:pPr algn="l">
              <a:lnSpc>
                <a:spcPct val="120000"/>
              </a:lnSpc>
            </a:pPr>
            <a:r>
              <a:rPr sz="4800" b="1">
                <a:solidFill>
                  <a:srgbClr val="E8ECF3"/>
                </a:solidFill>
                <a:latin typeface="Helvetica Neue"/>
              </a:rPr>
              <a:t>Thank you</a:t>
            </a:r>
          </a:p>
        </p:txBody>
      </p:sp>
      <p:sp>
        <p:nvSpPr>
          <p:cNvPr id="5" name="deckkit-rule"/>
          <p:cNvSpPr/>
          <p:nvPr/>
        </p:nvSpPr>
        <p:spPr>
          <a:xfrm>
            <a:off x="1005840" y="3200400"/>
            <a:ext cx="201168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657600"/>
            <a:ext cx="5486400" cy="594360"/>
          </a:xfrm>
          <a:prstGeom prst="rect">
            <a:avLst/>
          </a:prstGeom>
          <a:noFill/>
        </p:spPr>
        <p:txBody>
          <a:bodyPr wrap="square">
            <a:spAutoFit/>
          </a:bodyPr>
          <a:lstStyle/>
          <a:p>
            <a:pPr algn="l">
              <a:lnSpc>
                <a:spcPct val="120000"/>
              </a:lnSpc>
            </a:pPr>
            <a:r>
              <a:rPr sz="2800" b="1">
                <a:solidFill>
                  <a:srgbClr val="22D3EE"/>
                </a:solidFill>
                <a:latin typeface="Helvetica Neue"/>
              </a:rPr>
              <a:t>Questions</a:t>
            </a:r>
          </a:p>
        </p:txBody>
      </p:sp>
      <p:sp>
        <p:nvSpPr>
          <p:cNvPr id="7" name="TextBox 6"/>
          <p:cNvSpPr txBox="1"/>
          <p:nvPr/>
        </p:nvSpPr>
        <p:spPr>
          <a:xfrm>
            <a:off x="1005840" y="5577840"/>
            <a:ext cx="10149840" cy="914400"/>
          </a:xfrm>
          <a:prstGeom prst="rect">
            <a:avLst/>
          </a:prstGeom>
          <a:noFill/>
        </p:spPr>
        <p:txBody>
          <a:bodyPr wrap="square">
            <a:spAutoFit/>
          </a:bodyPr>
          <a:lstStyle/>
          <a:p>
            <a:pPr algn="l">
              <a:lnSpc>
                <a:spcPct val="140000"/>
              </a:lnSpc>
            </a:pPr>
            <a:r>
              <a:rPr sz="1500" b="0">
                <a:solidFill>
                  <a:srgbClr val="8B97AB"/>
                </a:solidFill>
                <a:latin typeface="Helvetica Neue"/>
              </a:rPr>
              <a:t>theagentorg.rosettacloud.app</a:t>
            </a:r>
          </a:p>
          <a:p>
            <a:pPr algn="l">
              <a:lnSpc>
                <a:spcPct val="140000"/>
              </a:lnSpc>
            </a:pPr>
            <a:r>
              <a:rPr sz="1500" b="0">
                <a:solidFill>
                  <a:srgbClr val="8B97AB"/>
                </a:solidFill>
                <a:latin typeface="Helvetica Neue"/>
              </a:rPr>
              <a:t>DevOps Hackathon Finals 2026 · TD63 RosettaTeam</a:t>
            </a:r>
          </a:p>
        </p:txBody>
      </p:sp>
      <p:sp>
        <p:nvSpPr>
          <p:cNvPr id="8" name="TextBox 7"/>
          <p:cNvSpPr txBox="1"/>
          <p:nvPr/>
        </p:nvSpPr>
        <p:spPr>
          <a:xfrm>
            <a:off x="11247120" y="6291072"/>
            <a:ext cx="548640" cy="274320"/>
          </a:xfrm>
          <a:prstGeom prst="rect">
            <a:avLst/>
          </a:prstGeom>
          <a:noFill/>
        </p:spPr>
        <p:txBody>
          <a:bodyPr wrap="square">
            <a:spAutoFit/>
          </a:bodyPr>
          <a:lstStyle/>
          <a:p>
            <a:pPr algn="r">
              <a:lnSpc>
                <a:spcPct val="120000"/>
              </a:lnSpc>
            </a:pPr>
            <a:r>
              <a:rPr sz="1100" b="0">
                <a:solidFill>
                  <a:srgbClr val="8B97AB"/>
                </a:solidFill>
                <a:latin typeface="Helvetica Neue"/>
              </a:rPr>
              <a:t>17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