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afternoon. This is The Agent Org: security gates for agent-written code. Five AI agents take a ticket all the way to a pull request, and three human gates and one deterministic rule decide whether it ships. I have twenty minutes including your questions, so the slides are short and five of those minutes are the system running.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are RosettaTeam. I am Mohamed Sorour, a senior DevOps engineer at Vezeeta and a master's student in computer science, AI specialization, at Georgia Tech. Mariam is an associate solution engineer at RENOSYSTEMS. Habiba is a junior DevOps engineer, and Reem and Aya are junior testing engineers, all three Digilians alumni. All five of us are here, and each of us takes questions on our own 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twenty minutes. Three on the overview, then the architecture, the business impact, and how this differs from what vendors ship. Then what is built, your ten notes from the pre-final, and what it does not do. What is next, five minutes live, and the rest of the slot is yours.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Coding agents already open pull requests without a person in the loop. What is new is that the reviewer of that change is increasingly another model. A model can be persuaded, distracted or prompt-injected, which makes it the wrong thing to place between a committed credential and your main branch. We measured our own baseline with no checks in the loop: a poisoned change reached the branch every time. So the question is not whether an agent can write the change. It is what stands between that change and production.</a:t>
            </a:r>
          </a:p>
          <a:p/>
          <a:p>
            <a:r>
              <a:t>IF ASKED — "isn't this what branch protection is for?" Branch protection enforces what it is told to. The AI reviewers we checked leave a comment or report a neutral status by default, so requiring them does not stop a merge. We come back to that on the differentiation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pipeline, and it is the same shape you will see on screen in a few minutes. The filled dots are agents. The three rings are gates: the run stops there until a named person approves it in GitHub. Five agents: planner, developer, reviewer, security and SRE, each in its own runtime. Three human gates. And one rule that is not a model,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agent here is a language model, and any of them can be wrong. So the component that stops a change is deliberately not one of them. Compare the two columns. The reviewer is a model reading the change. It catches intent, logic and a plan mismatch, and it is advisory: when it objects, the change goes back to the developer, but it cannot stop the run. The security stage is three scanners and a fixed rule. Same input, same answer, every time, and no model takes part in the decision, so there is nothing to argue with.</a:t>
            </a:r>
          </a:p>
          <a:p/>
          <a:p>
            <a:r>
              <a:t>IF ASKED — "but the security agent calls a model?" Only to write the sentence that explains the verdict, after the verdict is decided. That text cannot change it.</a:t>
            </a:r>
          </a:p>
          <a:p/>
          <a:p>
            <a:r>
              <a:t>SAY — the line that lands The demo you are about to see would still block with the reviewer removed entirely. It would not block with the scanners removed.</a:t>
            </a:r>
          </a:p>
          <a:p/>
          <a:p>
            <a:r>
              <a:t>IF ASKED — "what if the scanners miss something?" Then the reviewer is the only thing that saw it, the reviewer is advisory, and the change can reach main past three human gates. That is an accepted limit, not a defended one, and it is why each gate needs a named person.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rule that decides, since you asked about it in the pre-final. Semgrep and Trivy report their own severities, and one table translates them. Gitleaks reports no severity at all, so a secret is critical by policy: a committed credential has no lesser grade. Then one comparison: block when any finding is at or above the threshold. Two things keep it honest. A severity the table does not recognise counts as high, the blocking level, so an unknown can never slip through. And a threshold outside the allowed values is rejected, never quietly adjusted.</a:t>
            </a:r>
          </a:p>
          <a:p/>
          <a:p>
            <a:r>
              <a:t>IF ASKED — "why is gitleaks always critical?" It reports no severity at all, only the rule, the file and the line. The severity has to come from somewhere, and ranking credentials would mean deciding which ones we are willing to merge.</a:t>
            </a:r>
          </a:p>
          <a:p/>
          <a:p>
            <a:r>
              <a:t>IF ASKED — "what does Trivy's 'unknown' become?" Low. Trivy uses it for a vulnerability with no published score, which is a real answer, not a missing one. What counts as high is a severity word the table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the numbers. One: an engineer opens an issue, or starts a run from our app. Two: GitHub sends a signed webhook to a Lambda function, which checks the signature before anything else happens and hands the event to EventBridge. Three: a rule matches new issues and starts the pipeline; if that fails, the event waits in an SQS dead-letter queue. The pipeline is seven GitHub Actions jobs. Four: each agent job takes an AWS role through OIDC, so there is no stored AWS key anywhere, and calls its agent on Bedrock AgentCore: planner, developer, reviewer, security, SRE. Five: the agents call Amazon Nova 2 Lite. Six: the security stage decides with three scanners and a fixed threshold, no model; the model only writes the explanation afterwards. Seven: the gates wait for a named person, in GitHub or in our app. Eight: the app, on Amplify, reads each run from DynamoDB through a role that can only see its own tenant's data.</a:t>
            </a:r>
          </a:p>
          <a:p/>
          <a:p>
            <a:r>
              <a:t>IF ASKED — "the security agent calls the model too?" Yes, for one thing: the sentence explaining the verdict. The verdict is computed first, by the scanners and the threshold, and the model's text goes into a separate field that cannot change it. Take the model away and the block still happens.</a:t>
            </a:r>
          </a:p>
          <a:p/>
          <a:p>
            <a:r>
              <a:t>IF ASKED — "why AgentCore and not just Lambda?" Each agent is an isolated runtime with its own identity and logs, and the security image is the only one carrying the three scanners. Isolation is the point.</a:t>
            </a:r>
          </a:p>
          <a:p/>
          <a:p>
            <a:r>
              <a:t>IF ASKED — "where is a run's state kept?" It is passed from job to job by GitHub Actions. The four jobs that hold an AWS role (plan, develop, SRE and promote) write a copy to DynamoDB, which is what the app reads. The gates hold no AWS credentials on purpose, so a gate's decision reaches DynamoDB with the next job.</a:t>
            </a:r>
          </a:p>
          <a:p/>
          <a:p>
            <a:r>
              <a:t>IF ASKED — "how do people sign in?" Email through Amazon Cognito, or GitHub.</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change costs between one point three and one point seven cents of model time, measured over three clean runs and priced from the AWS Pricing API. The model is 99.9 percent of that. Lambda, EventBridge and DynamoDB together came to twelve millionths of a dollar, which is why the only cost work worth doing is prompt caching. The median time from ticket to merge is just under eight minutes, and none of the twelve merged changes carried a credential.</a:t>
            </a:r>
          </a:p>
          <a:p/>
          <a:p>
            <a:r>
              <a:t>SAY THE CAVEAT — do not wait to be asked. Twelve of fifty-seven runs merged, so the median covers the runs that finished, and a person clicked every gate in it. And the zero is a real result: the same scan finds three credentials in an unmerged pull request, so it is not a scan that finds nothing.</a:t>
            </a:r>
          </a:p>
          <a:p/>
          <a:p>
            <a:r>
              <a:t>IF ASKED — "so it is cheaper than a human reviewer?" I would not make that comparison. The pipeline does not replace the reviewer, it decides what reaches them. The honest measure is minutes of human attention per change, and we have not measured that at scale.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None of this is our wording. GitHub Copilot's review leaves, by default, "a Comment review, not a Request changes review", so it never blocks. Anthropic's code review "always completes with a neutral conclusion so it never blocks merging". OpenAI's Codex guidance says it doesn't "replace tests, branch protections, or required approvals". Cursor's findings "default to neutral". And Snyk's own page puts our thesis in six words: the generator cannot be the validator.</a:t>
            </a:r>
          </a:p>
          <a:p/>
          <a:p>
            <a:r>
              <a:t>IF ASKED — "can't Copilot approve pull requests now?" Yes, if a team turns that on. That lets the model pass a change; it still cannot block one. It makes our point sharper, not weaker.</a:t>
            </a:r>
          </a:p>
          <a:p/>
          <a:p>
            <a:r>
              <a:t>SAY — and concede, because it is stronger We are not the only ones with rules outside the model. Claude Code's permission rules and Factory's commit blocks are enforced outside the model too. The difference is where the check sits: theirs guard one agent's actions; ours guards the hand-off between agents, with a named person approving each stage.</a:t>
            </a:r>
          </a:p>
          <a:p/>
          <a:p>
            <a:r>
              <a:t>IF ASKED — "so what is genuinely new?" No product we found combines all three: several agents, a check with no model in it on each agent's output, and human approval between stages, as one pipeline. Each of the three exists somewhere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argument for the whole design. With Cursor's hooks, if the hook itself fails, the action goes ahead; their documentation calls it fail-open by default. With Claude Code's hooks, only one specific failure blocks; any other lets the action through, and in their words, "a mistyped path in settings.json leaves the gate silently disabled". And by default, if Semgrep crashes, it still reports success. A check that did not run, reading as a check that passed. That is exactly what we refuse: in our pipeline, a missing or crashed scanner blocks the change.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Two thousand one hundred and eighty-two automated tests across ninety-six files, plus three hundred and thirty-eight for the web app. Five agent runtimes, all ready on the same version; a split would mean a half-finished deploy, and we check for it before every demo. It runs in the cloud from a real issue. It is a product, not a script: you sign in, pick a repository, start a run, watch each stage, approve a gate and read what it cost. And it is multi-tenant: each customer's data sits in its own partition, and AWS itself refuses a read of anyone else's, so our code does not have to remember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gave us ten notes in the pre-final, and every row here is an answer that now exists. One in particular. You asked how the scanners' scores turn into a go or no-go, because you doubted the determinism claim, and you were right to. It held for Trivy and Semgrep, which report their own severities. For gitleaks the word "critical" was simply typed where each finding was created: no table, no policy. There is now one scoring table for all three scanners, and the rule for secrets is written down as a policy. Your note produced a real correction, and I would rather say so than claim we were right all along.</a:t>
            </a:r>
          </a:p>
          <a:p/>
          <a:p>
            <a:r>
              <a:t>IF ASKED — "is the knowledge base real?" Yes. Three hand-written knowledge bases: why past changes were sent back, the team's settled conventions, and security advisories. Before answering, four of the agents look up what is relevant, with plain keyword matching, no vector database. Measured: with it, the reviewer caught a change that did not match its ticket 8 times out of 8; without it, 6. It is switched on in the deployed system, and it never touches the security verdict.</a:t>
            </a:r>
          </a:p>
          <a:p/>
          <a:p>
            <a:r>
              <a:t>IF ASKED about any single row — scoring is slide 7 and the limits are slide 14; ask and I will go back to either.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what it does not do. A repository admin can bypass a gate; it is a setting, and our pre-flight check reports it on every run. If the scanners miss something, only the reviewer saw it, and the reviewer cannot stop the run, so the human gates are the last line. It covers one language and three scanners today, and breadth is where every competitor is ahead. And a merged pull request carries the reviewed change as a file; applying it to the source is next.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things. First, apply the change rather than carry it; that is also what lets a generated test run against the change. Second, join the two test layers: tests are generated from each ticket and Selenium runs in CI, but neither checks the other yet. Third, prompt caching: nothing is cached today, so every agent pays full price for the same repository snapshot, and cached input costs a quarter as much. And more languages and more scanners; the scoring is a table, so a new scanner is one row.</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Let me show you the half that matters. This ticket asks for something that looks reasonable: pin an old version of the requests library for a legacy proxy. Nothing is planted and no demo flag is set. Watch what the reviewer says, and what the scanners say.</a:t>
            </a:r>
          </a:p>
          <a:p/>
          <a:p>
            <a:r>
              <a:t>IF ASKED — "what are the three cards?" One per scanner, each showing its own worst finding against the threshold. Only Trivy reached it, with a high-severity CVE; the medium ones stay below the line. That comparison is the whole decision.</a:t>
            </a:r>
          </a:p>
          <a:p/>
          <a:p>
            <a:r>
              <a:t>IF ASKED — "the explanation under the verdict is wrong" It can be: that paragraph is written by the model after the verdict, and it has no say in it. That is exactly why the model does not decide.</a:t>
            </a:r>
          </a:p>
          <a:p/>
          <a:p>
            <a:r>
              <a:t>IF ASKED — "why does the page say a stage used a canned answer?" The agent that writes tests from the ticket did not get an answer from the model this time, so it used its built-in stand-in, and the page says so rather than hiding it. It does not affect the block.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is The Agent Org. It is live at theagentorg.rosettacloud.app.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149840" cy="1005840"/>
          </a:xfrm>
          <a:prstGeom prst="rect">
            <a:avLst/>
          </a:prstGeom>
          <a:noFill/>
        </p:spPr>
        <p:txBody>
          <a:bodyPr wrap="square">
            <a:spAutoFit/>
          </a:bodyPr>
          <a:lstStyle/>
          <a:p>
            <a:pPr algn="l">
              <a:lnSpc>
                <a:spcPct val="100000"/>
              </a:lnSpc>
            </a:pPr>
            <a:r>
              <a:rPr sz="6000" b="1">
                <a:solidFill>
                  <a:srgbClr val="E8ECF3"/>
                </a:solidFill>
                <a:latin typeface="Helvetica Neue"/>
              </a:rPr>
              <a:t>The Agent Org</a:t>
            </a:r>
          </a:p>
        </p:txBody>
      </p:sp>
      <p:sp>
        <p:nvSpPr>
          <p:cNvPr id="5" name="deckkit-rule"/>
          <p:cNvSpPr/>
          <p:nvPr/>
        </p:nvSpPr>
        <p:spPr>
          <a:xfrm>
            <a:off x="1005840" y="2606040"/>
            <a:ext cx="23774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880360"/>
            <a:ext cx="10149840" cy="548640"/>
          </a:xfrm>
          <a:prstGeom prst="rect">
            <a:avLst/>
          </a:prstGeom>
          <a:noFill/>
        </p:spPr>
        <p:txBody>
          <a:bodyPr wrap="square">
            <a:spAutoFit/>
          </a:bodyPr>
          <a:lstStyle/>
          <a:p>
            <a:pPr algn="l">
              <a:lnSpc>
                <a:spcPct val="100000"/>
              </a:lnSpc>
            </a:pPr>
            <a:r>
              <a:rPr sz="2800" b="0">
                <a:solidFill>
                  <a:srgbClr val="22D3EE"/>
                </a:solidFill>
                <a:latin typeface="Helvetica Neue"/>
              </a:rPr>
              <a:t>Security gates for agent-written code</a:t>
            </a:r>
          </a:p>
        </p:txBody>
      </p:sp>
      <p:sp>
        <p:nvSpPr>
          <p:cNvPr id="7" name="TextBox 6"/>
          <p:cNvSpPr txBox="1"/>
          <p:nvPr/>
        </p:nvSpPr>
        <p:spPr>
          <a:xfrm>
            <a:off x="1005840" y="3703320"/>
            <a:ext cx="9692640" cy="822960"/>
          </a:xfrm>
          <a:prstGeom prst="rect">
            <a:avLst/>
          </a:prstGeom>
          <a:noFill/>
        </p:spPr>
        <p:txBody>
          <a:bodyPr wrap="square">
            <a:spAutoFit/>
          </a:bodyPr>
          <a:lstStyle/>
          <a:p>
            <a:pPr algn="l">
              <a:lnSpc>
                <a:spcPct val="135000"/>
              </a:lnSpc>
            </a:pPr>
            <a:r>
              <a:rPr sz="2000" b="0">
                <a:solidFill>
                  <a:srgbClr val="8B97AB"/>
                </a:solidFill>
                <a:latin typeface="Helvetica Neue"/>
              </a:rPr>
              <a:t>Five agents take a ticket to a pull request. Three human gates and one deterministic rule decide whether it ships.</a:t>
            </a:r>
          </a:p>
        </p:txBody>
      </p:sp>
      <p:sp>
        <p:nvSpPr>
          <p:cNvPr id="8" name="TextBox 7"/>
          <p:cNvSpPr txBox="1"/>
          <p:nvPr/>
        </p:nvSpPr>
        <p:spPr>
          <a:xfrm>
            <a:off x="1005840" y="5440680"/>
            <a:ext cx="10149840" cy="731520"/>
          </a:xfrm>
          <a:prstGeom prst="rect">
            <a:avLst/>
          </a:prstGeom>
          <a:noFill/>
        </p:spPr>
        <p:txBody>
          <a:bodyPr wrap="square">
            <a:spAutoFit/>
          </a:bodyPr>
          <a:lstStyle/>
          <a:p>
            <a:pPr algn="l">
              <a:lnSpc>
                <a:spcPct val="140000"/>
              </a:lnSpc>
            </a:pPr>
            <a:r>
              <a:rPr sz="1400" b="0">
                <a:solidFill>
                  <a:srgbClr val="8B97AB"/>
                </a:solidFill>
                <a:latin typeface="Helvetica Neue"/>
              </a:rPr>
              <a:t>DevOps Hackathon Finals 2026 · TD63 RosettaTeam</a:t>
            </a:r>
          </a:p>
          <a:p>
            <a:pPr algn="l">
              <a:lnSpc>
                <a:spcPct val="140000"/>
              </a:lnSpc>
            </a:pPr>
            <a:r>
              <a:rPr sz="1400" b="0">
                <a:solidFill>
                  <a:srgbClr val="8B97AB"/>
                </a:solidFill>
                <a:latin typeface="Helvetica Neue"/>
              </a:rPr>
              <a:t>Mohamed Sorour · Mariam Abdelkader · Habiba Megahed · Reem Shkeep · Aya Ebrahim</a:t>
            </a:r>
          </a:p>
        </p:txBody>
      </p:sp>
      <p:sp>
        <p:nvSpPr>
          <p:cNvPr id="9" name="TextBox 8"/>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THE TEAM · TD63</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RosettaTeam</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orour.jpg"/>
          <p:cNvPicPr>
            <a:picLocks noChangeAspect="1"/>
          </p:cNvPicPr>
          <p:nvPr/>
        </p:nvPicPr>
        <p:blipFill>
          <a:blip r:embed="rId2"/>
          <a:stretch>
            <a:fillRect/>
          </a:stretch>
        </p:blipFill>
        <p:spPr>
          <a:xfrm>
            <a:off x="1248156" y="2148840"/>
            <a:ext cx="1325880" cy="1325880"/>
          </a:xfrm>
          <a:prstGeom prst="ellipse">
            <a:avLst/>
          </a:prstGeom>
        </p:spPr>
      </p:pic>
      <p:sp>
        <p:nvSpPr>
          <p:cNvPr id="7" name="TextBox 6"/>
          <p:cNvSpPr txBox="1"/>
          <p:nvPr/>
        </p:nvSpPr>
        <p:spPr>
          <a:xfrm>
            <a:off x="1005840"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Mohamed Sorour</a:t>
            </a:r>
          </a:p>
        </p:txBody>
      </p:sp>
      <p:sp>
        <p:nvSpPr>
          <p:cNvPr id="8" name="TextBox 7"/>
          <p:cNvSpPr txBox="1"/>
          <p:nvPr/>
        </p:nvSpPr>
        <p:spPr>
          <a:xfrm>
            <a:off x="1005840"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Senior DevOps Engineer</a:t>
            </a:r>
          </a:p>
        </p:txBody>
      </p:sp>
      <p:sp>
        <p:nvSpPr>
          <p:cNvPr id="9" name="TextBox 8"/>
          <p:cNvSpPr txBox="1"/>
          <p:nvPr/>
        </p:nvSpPr>
        <p:spPr>
          <a:xfrm>
            <a:off x="1005840"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VEZEETA</a:t>
            </a:r>
          </a:p>
        </p:txBody>
      </p:sp>
      <p:sp>
        <p:nvSpPr>
          <p:cNvPr id="10" name="TextBox 9"/>
          <p:cNvSpPr txBox="1"/>
          <p:nvPr/>
        </p:nvSpPr>
        <p:spPr>
          <a:xfrm>
            <a:off x="1005840" y="5157216"/>
            <a:ext cx="1810512" cy="731520"/>
          </a:xfrm>
          <a:prstGeom prst="rect">
            <a:avLst/>
          </a:prstGeom>
          <a:noFill/>
        </p:spPr>
        <p:txBody>
          <a:bodyPr wrap="square">
            <a:spAutoFit/>
          </a:bodyPr>
          <a:lstStyle/>
          <a:p>
            <a:pPr algn="ctr">
              <a:lnSpc>
                <a:spcPct val="115000"/>
              </a:lnSpc>
            </a:pPr>
            <a:r>
              <a:rPr sz="1100" b="0">
                <a:solidFill>
                  <a:srgbClr val="8B97AB"/>
                </a:solidFill>
                <a:latin typeface="Helvetica Neue"/>
              </a:rPr>
              <a:t>MSc student</a:t>
            </a:r>
          </a:p>
          <a:p>
            <a:pPr algn="ctr">
              <a:lnSpc>
                <a:spcPct val="115000"/>
              </a:lnSpc>
            </a:pPr>
            <a:r>
              <a:rPr sz="1100" b="0">
                <a:solidFill>
                  <a:srgbClr val="8B97AB"/>
                </a:solidFill>
                <a:latin typeface="Helvetica Neue"/>
              </a:rPr>
              <a:t>Computer Science</a:t>
            </a:r>
          </a:p>
          <a:p>
            <a:pPr algn="ctr">
              <a:lnSpc>
                <a:spcPct val="115000"/>
              </a:lnSpc>
            </a:pPr>
            <a:r>
              <a:rPr sz="1100" b="0">
                <a:solidFill>
                  <a:srgbClr val="8B97AB"/>
                </a:solidFill>
                <a:latin typeface="Helvetica Neue"/>
              </a:rPr>
              <a:t>AI specialization</a:t>
            </a:r>
          </a:p>
          <a:p>
            <a:pPr algn="ctr">
              <a:lnSpc>
                <a:spcPct val="115000"/>
              </a:lnSpc>
            </a:pPr>
            <a:r>
              <a:rPr sz="1100" b="0">
                <a:solidFill>
                  <a:srgbClr val="8B97AB"/>
                </a:solidFill>
                <a:latin typeface="Helvetica Neue"/>
              </a:rPr>
              <a:t>Georgia Tech</a:t>
            </a:r>
          </a:p>
        </p:txBody>
      </p:sp>
      <p:pic>
        <p:nvPicPr>
          <p:cNvPr id="11" name="Picture 10" descr="mariam.jpg"/>
          <p:cNvPicPr>
            <a:picLocks noChangeAspect="1"/>
          </p:cNvPicPr>
          <p:nvPr/>
        </p:nvPicPr>
        <p:blipFill>
          <a:blip r:embed="rId3"/>
          <a:stretch>
            <a:fillRect/>
          </a:stretch>
        </p:blipFill>
        <p:spPr>
          <a:xfrm>
            <a:off x="3332988" y="2148840"/>
            <a:ext cx="1325880" cy="1325880"/>
          </a:xfrm>
          <a:prstGeom prst="ellipse">
            <a:avLst/>
          </a:prstGeom>
        </p:spPr>
      </p:pic>
      <p:sp>
        <p:nvSpPr>
          <p:cNvPr id="12" name="TextBox 11"/>
          <p:cNvSpPr txBox="1"/>
          <p:nvPr/>
        </p:nvSpPr>
        <p:spPr>
          <a:xfrm>
            <a:off x="3090672"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Mariam Abdelkader</a:t>
            </a:r>
          </a:p>
        </p:txBody>
      </p:sp>
      <p:sp>
        <p:nvSpPr>
          <p:cNvPr id="13" name="TextBox 12"/>
          <p:cNvSpPr txBox="1"/>
          <p:nvPr/>
        </p:nvSpPr>
        <p:spPr>
          <a:xfrm>
            <a:off x="3090672"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Associate Solution Engineer</a:t>
            </a:r>
          </a:p>
        </p:txBody>
      </p:sp>
      <p:sp>
        <p:nvSpPr>
          <p:cNvPr id="14" name="TextBox 13"/>
          <p:cNvSpPr txBox="1"/>
          <p:nvPr/>
        </p:nvSpPr>
        <p:spPr>
          <a:xfrm>
            <a:off x="3090672"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RENOSYSTEMS</a:t>
            </a:r>
          </a:p>
        </p:txBody>
      </p:sp>
      <p:pic>
        <p:nvPicPr>
          <p:cNvPr id="15" name="Picture 14" descr="habiba.jpg"/>
          <p:cNvPicPr>
            <a:picLocks noChangeAspect="1"/>
          </p:cNvPicPr>
          <p:nvPr/>
        </p:nvPicPr>
        <p:blipFill>
          <a:blip r:embed="rId4"/>
          <a:stretch>
            <a:fillRect/>
          </a:stretch>
        </p:blipFill>
        <p:spPr>
          <a:xfrm>
            <a:off x="5417820" y="2148840"/>
            <a:ext cx="1325880" cy="1325880"/>
          </a:xfrm>
          <a:prstGeom prst="ellipse">
            <a:avLst/>
          </a:prstGeom>
        </p:spPr>
      </p:pic>
      <p:sp>
        <p:nvSpPr>
          <p:cNvPr id="16" name="TextBox 15"/>
          <p:cNvSpPr txBox="1"/>
          <p:nvPr/>
        </p:nvSpPr>
        <p:spPr>
          <a:xfrm>
            <a:off x="5175504"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Habiba Megahed</a:t>
            </a:r>
          </a:p>
        </p:txBody>
      </p:sp>
      <p:sp>
        <p:nvSpPr>
          <p:cNvPr id="17" name="TextBox 16"/>
          <p:cNvSpPr txBox="1"/>
          <p:nvPr/>
        </p:nvSpPr>
        <p:spPr>
          <a:xfrm>
            <a:off x="5175504"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DevOps Engineer</a:t>
            </a:r>
          </a:p>
        </p:txBody>
      </p:sp>
      <p:sp>
        <p:nvSpPr>
          <p:cNvPr id="18" name="TextBox 17"/>
          <p:cNvSpPr txBox="1"/>
          <p:nvPr/>
        </p:nvSpPr>
        <p:spPr>
          <a:xfrm>
            <a:off x="5175504"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pic>
        <p:nvPicPr>
          <p:cNvPr id="19" name="Picture 18" descr="reem.jpg"/>
          <p:cNvPicPr>
            <a:picLocks noChangeAspect="1"/>
          </p:cNvPicPr>
          <p:nvPr/>
        </p:nvPicPr>
        <p:blipFill>
          <a:blip r:embed="rId5"/>
          <a:stretch>
            <a:fillRect/>
          </a:stretch>
        </p:blipFill>
        <p:spPr>
          <a:xfrm>
            <a:off x="7502652" y="2148840"/>
            <a:ext cx="1325880" cy="1325880"/>
          </a:xfrm>
          <a:prstGeom prst="ellipse">
            <a:avLst/>
          </a:prstGeom>
        </p:spPr>
      </p:pic>
      <p:sp>
        <p:nvSpPr>
          <p:cNvPr id="20" name="TextBox 19"/>
          <p:cNvSpPr txBox="1"/>
          <p:nvPr/>
        </p:nvSpPr>
        <p:spPr>
          <a:xfrm>
            <a:off x="7260336"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Reem Shkeep</a:t>
            </a:r>
          </a:p>
        </p:txBody>
      </p:sp>
      <p:sp>
        <p:nvSpPr>
          <p:cNvPr id="21" name="TextBox 20"/>
          <p:cNvSpPr txBox="1"/>
          <p:nvPr/>
        </p:nvSpPr>
        <p:spPr>
          <a:xfrm>
            <a:off x="7260336"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Testing Engineer</a:t>
            </a:r>
          </a:p>
        </p:txBody>
      </p:sp>
      <p:sp>
        <p:nvSpPr>
          <p:cNvPr id="22" name="TextBox 21"/>
          <p:cNvSpPr txBox="1"/>
          <p:nvPr/>
        </p:nvSpPr>
        <p:spPr>
          <a:xfrm>
            <a:off x="7260336"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pic>
        <p:nvPicPr>
          <p:cNvPr id="23" name="Picture 22" descr="aya.jpg"/>
          <p:cNvPicPr>
            <a:picLocks noChangeAspect="1"/>
          </p:cNvPicPr>
          <p:nvPr/>
        </p:nvPicPr>
        <p:blipFill>
          <a:blip r:embed="rId6"/>
          <a:stretch>
            <a:fillRect/>
          </a:stretch>
        </p:blipFill>
        <p:spPr>
          <a:xfrm>
            <a:off x="9587484" y="2148840"/>
            <a:ext cx="1325880" cy="1325880"/>
          </a:xfrm>
          <a:prstGeom prst="ellipse">
            <a:avLst/>
          </a:prstGeom>
        </p:spPr>
      </p:pic>
      <p:sp>
        <p:nvSpPr>
          <p:cNvPr id="24" name="TextBox 23"/>
          <p:cNvSpPr txBox="1"/>
          <p:nvPr/>
        </p:nvSpPr>
        <p:spPr>
          <a:xfrm>
            <a:off x="9345168"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Aya Ebrahim</a:t>
            </a:r>
          </a:p>
        </p:txBody>
      </p:sp>
      <p:sp>
        <p:nvSpPr>
          <p:cNvPr id="25" name="TextBox 24"/>
          <p:cNvSpPr txBox="1"/>
          <p:nvPr/>
        </p:nvSpPr>
        <p:spPr>
          <a:xfrm>
            <a:off x="9345168"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Testing Engineer</a:t>
            </a:r>
          </a:p>
        </p:txBody>
      </p:sp>
      <p:sp>
        <p:nvSpPr>
          <p:cNvPr id="26" name="TextBox 25"/>
          <p:cNvSpPr txBox="1"/>
          <p:nvPr/>
        </p:nvSpPr>
        <p:spPr>
          <a:xfrm>
            <a:off x="9345168"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sp>
        <p:nvSpPr>
          <p:cNvPr id="55" name="TextBox 5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2</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7"/>
                                        </p:tgtEl>
                                        <p:attrNameLst>
                                          <p:attrName>style.visibility</p:attrName>
                                        </p:attrNameLst>
                                      </p:cBhvr>
                                      <p:to>
                                        <p:strVal val="visible"/>
                                      </p:to>
                                    </p:set>
                                    <p:animEffect transition="in" filter="fade">
                                      <p:cBhvr>
                                        <p:cTn id="14" dur="45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16"/>
                                        </p:tgtEl>
                                        <p:attrNameLst>
                                          <p:attrName>style.visibility</p:attrName>
                                        </p:attrNameLst>
                                      </p:cBhvr>
                                      <p:to>
                                        <p:strVal val="visible"/>
                                      </p:to>
                                    </p:set>
                                    <p:animEffect transition="in" filter="fade">
                                      <p:cBhvr>
                                        <p:cTn id="34" dur="450"/>
                                        <p:tgtEl>
                                          <p:spTgt spid="1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20"/>
                                        </p:tgtEl>
                                        <p:attrNameLst>
                                          <p:attrName>style.visibility</p:attrName>
                                        </p:attrNameLst>
                                      </p:cBhvr>
                                      <p:to>
                                        <p:strVal val="visible"/>
                                      </p:to>
                                    </p:set>
                                    <p:animEffect transition="in" filter="fade">
                                      <p:cBhvr>
                                        <p:cTn id="44" dur="45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24"/>
                                        </p:tgtEl>
                                        <p:attrNameLst>
                                          <p:attrName>style.visibility</p:attrName>
                                        </p:attrNameLst>
                                      </p:cBhvr>
                                      <p:to>
                                        <p:strVal val="visible"/>
                                      </p:to>
                                    </p:set>
                                    <p:animEffect transition="in" filter="fade">
                                      <p:cBhvr>
                                        <p:cTn id="54"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AGENDA</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Twenty minutes, in this order</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548640" cy="329184"/>
          </a:xfrm>
          <a:prstGeom prst="rect">
            <a:avLst/>
          </a:prstGeom>
          <a:noFill/>
        </p:spPr>
        <p:txBody>
          <a:bodyPr wrap="square">
            <a:spAutoFit/>
          </a:bodyPr>
          <a:lstStyle/>
          <a:p>
            <a:pPr algn="l">
              <a:lnSpc>
                <a:spcPct val="120000"/>
              </a:lnSpc>
            </a:pPr>
            <a:r>
              <a:rPr sz="1400" b="1">
                <a:solidFill>
                  <a:srgbClr val="22D3EE"/>
                </a:solidFill>
                <a:latin typeface="Menlo"/>
              </a:rPr>
              <a:t>01</a:t>
            </a:r>
          </a:p>
        </p:txBody>
      </p:sp>
      <p:sp>
        <p:nvSpPr>
          <p:cNvPr id="7" name="TextBox 6"/>
          <p:cNvSpPr txBox="1"/>
          <p:nvPr/>
        </p:nvSpPr>
        <p:spPr>
          <a:xfrm>
            <a:off x="1645920" y="2103120"/>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Overview</a:t>
            </a:r>
          </a:p>
        </p:txBody>
      </p:sp>
      <p:sp>
        <p:nvSpPr>
          <p:cNvPr id="8" name="TextBox 7"/>
          <p:cNvSpPr txBox="1"/>
          <p:nvPr/>
        </p:nvSpPr>
        <p:spPr>
          <a:xfrm>
            <a:off x="4480560" y="2121408"/>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the problem, the pipeline, and why the gate is not a model</a:t>
            </a:r>
          </a:p>
        </p:txBody>
      </p:sp>
      <p:sp>
        <p:nvSpPr>
          <p:cNvPr id="9" name="TextBox 8"/>
          <p:cNvSpPr txBox="1"/>
          <p:nvPr/>
        </p:nvSpPr>
        <p:spPr>
          <a:xfrm>
            <a:off x="10058400" y="2121408"/>
            <a:ext cx="1097280" cy="329184"/>
          </a:xfrm>
          <a:prstGeom prst="rect">
            <a:avLst/>
          </a:prstGeom>
          <a:noFill/>
        </p:spPr>
        <p:txBody>
          <a:bodyPr wrap="square">
            <a:spAutoFit/>
          </a:bodyPr>
          <a:lstStyle/>
          <a:p>
            <a:pPr algn="r">
              <a:lnSpc>
                <a:spcPct val="100000"/>
              </a:lnSpc>
            </a:pPr>
            <a:r>
              <a:rPr sz="1300" b="0">
                <a:solidFill>
                  <a:srgbClr val="8B97AB"/>
                </a:solidFill>
                <a:latin typeface="Menlo"/>
              </a:rPr>
              <a:t>3 min</a:t>
            </a:r>
          </a:p>
        </p:txBody>
      </p:sp>
      <p:sp>
        <p:nvSpPr>
          <p:cNvPr id="10" name="TextBox 9"/>
          <p:cNvSpPr txBox="1"/>
          <p:nvPr/>
        </p:nvSpPr>
        <p:spPr>
          <a:xfrm>
            <a:off x="1005840" y="2596896"/>
            <a:ext cx="548640" cy="329184"/>
          </a:xfrm>
          <a:prstGeom prst="rect">
            <a:avLst/>
          </a:prstGeom>
          <a:noFill/>
        </p:spPr>
        <p:txBody>
          <a:bodyPr wrap="square">
            <a:spAutoFit/>
          </a:bodyPr>
          <a:lstStyle/>
          <a:p>
            <a:pPr algn="l">
              <a:lnSpc>
                <a:spcPct val="120000"/>
              </a:lnSpc>
            </a:pPr>
            <a:r>
              <a:rPr sz="1400" b="1">
                <a:solidFill>
                  <a:srgbClr val="22D3EE"/>
                </a:solidFill>
                <a:latin typeface="Menlo"/>
              </a:rPr>
              <a:t>02</a:t>
            </a:r>
          </a:p>
        </p:txBody>
      </p:sp>
      <p:sp>
        <p:nvSpPr>
          <p:cNvPr id="11" name="TextBox 10"/>
          <p:cNvSpPr txBox="1"/>
          <p:nvPr/>
        </p:nvSpPr>
        <p:spPr>
          <a:xfrm>
            <a:off x="1645920" y="2596896"/>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Architecture</a:t>
            </a:r>
          </a:p>
        </p:txBody>
      </p:sp>
      <p:sp>
        <p:nvSpPr>
          <p:cNvPr id="12" name="TextBox 11"/>
          <p:cNvSpPr txBox="1"/>
          <p:nvPr/>
        </p:nvSpPr>
        <p:spPr>
          <a:xfrm>
            <a:off x="4480560" y="2615184"/>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runs where, on AWS and on GitHub</a:t>
            </a:r>
          </a:p>
        </p:txBody>
      </p:sp>
      <p:sp>
        <p:nvSpPr>
          <p:cNvPr id="13" name="TextBox 12"/>
          <p:cNvSpPr txBox="1"/>
          <p:nvPr/>
        </p:nvSpPr>
        <p:spPr>
          <a:xfrm>
            <a:off x="10058400" y="2615184"/>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14" name="TextBox 13"/>
          <p:cNvSpPr txBox="1"/>
          <p:nvPr/>
        </p:nvSpPr>
        <p:spPr>
          <a:xfrm>
            <a:off x="1005840" y="3090672"/>
            <a:ext cx="548640" cy="329184"/>
          </a:xfrm>
          <a:prstGeom prst="rect">
            <a:avLst/>
          </a:prstGeom>
          <a:noFill/>
        </p:spPr>
        <p:txBody>
          <a:bodyPr wrap="square">
            <a:spAutoFit/>
          </a:bodyPr>
          <a:lstStyle/>
          <a:p>
            <a:pPr algn="l">
              <a:lnSpc>
                <a:spcPct val="120000"/>
              </a:lnSpc>
            </a:pPr>
            <a:r>
              <a:rPr sz="1400" b="1">
                <a:solidFill>
                  <a:srgbClr val="22D3EE"/>
                </a:solidFill>
                <a:latin typeface="Menlo"/>
              </a:rPr>
              <a:t>03</a:t>
            </a:r>
          </a:p>
        </p:txBody>
      </p:sp>
      <p:sp>
        <p:nvSpPr>
          <p:cNvPr id="15" name="TextBox 14"/>
          <p:cNvSpPr txBox="1"/>
          <p:nvPr/>
        </p:nvSpPr>
        <p:spPr>
          <a:xfrm>
            <a:off x="1645920" y="3090672"/>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Business impact</a:t>
            </a:r>
          </a:p>
        </p:txBody>
      </p:sp>
      <p:sp>
        <p:nvSpPr>
          <p:cNvPr id="16" name="TextBox 15"/>
          <p:cNvSpPr txBox="1"/>
          <p:nvPr/>
        </p:nvSpPr>
        <p:spPr>
          <a:xfrm>
            <a:off x="4480560" y="3108960"/>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a change costs, and what it buys</a:t>
            </a:r>
          </a:p>
        </p:txBody>
      </p:sp>
      <p:sp>
        <p:nvSpPr>
          <p:cNvPr id="17" name="TextBox 16"/>
          <p:cNvSpPr txBox="1"/>
          <p:nvPr/>
        </p:nvSpPr>
        <p:spPr>
          <a:xfrm>
            <a:off x="10058400" y="3108960"/>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18" name="TextBox 17"/>
          <p:cNvSpPr txBox="1"/>
          <p:nvPr/>
        </p:nvSpPr>
        <p:spPr>
          <a:xfrm>
            <a:off x="1005840" y="3584448"/>
            <a:ext cx="548640" cy="329184"/>
          </a:xfrm>
          <a:prstGeom prst="rect">
            <a:avLst/>
          </a:prstGeom>
          <a:noFill/>
        </p:spPr>
        <p:txBody>
          <a:bodyPr wrap="square">
            <a:spAutoFit/>
          </a:bodyPr>
          <a:lstStyle/>
          <a:p>
            <a:pPr algn="l">
              <a:lnSpc>
                <a:spcPct val="120000"/>
              </a:lnSpc>
            </a:pPr>
            <a:r>
              <a:rPr sz="1400" b="1">
                <a:solidFill>
                  <a:srgbClr val="22D3EE"/>
                </a:solidFill>
                <a:latin typeface="Menlo"/>
              </a:rPr>
              <a:t>04</a:t>
            </a:r>
          </a:p>
        </p:txBody>
      </p:sp>
      <p:sp>
        <p:nvSpPr>
          <p:cNvPr id="19" name="TextBox 18"/>
          <p:cNvSpPr txBox="1"/>
          <p:nvPr/>
        </p:nvSpPr>
        <p:spPr>
          <a:xfrm>
            <a:off x="1645920" y="3584448"/>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Differentiation</a:t>
            </a:r>
          </a:p>
        </p:txBody>
      </p:sp>
      <p:sp>
        <p:nvSpPr>
          <p:cNvPr id="20" name="TextBox 19"/>
          <p:cNvSpPr txBox="1"/>
          <p:nvPr/>
        </p:nvSpPr>
        <p:spPr>
          <a:xfrm>
            <a:off x="4480560" y="3602736"/>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vendors say about their own AI review</a:t>
            </a:r>
          </a:p>
        </p:txBody>
      </p:sp>
      <p:sp>
        <p:nvSpPr>
          <p:cNvPr id="21" name="TextBox 20"/>
          <p:cNvSpPr txBox="1"/>
          <p:nvPr/>
        </p:nvSpPr>
        <p:spPr>
          <a:xfrm>
            <a:off x="10058400" y="3602736"/>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22" name="TextBox 21"/>
          <p:cNvSpPr txBox="1"/>
          <p:nvPr/>
        </p:nvSpPr>
        <p:spPr>
          <a:xfrm>
            <a:off x="1005840" y="4078224"/>
            <a:ext cx="548640" cy="329184"/>
          </a:xfrm>
          <a:prstGeom prst="rect">
            <a:avLst/>
          </a:prstGeom>
          <a:noFill/>
        </p:spPr>
        <p:txBody>
          <a:bodyPr wrap="square">
            <a:spAutoFit/>
          </a:bodyPr>
          <a:lstStyle/>
          <a:p>
            <a:pPr algn="l">
              <a:lnSpc>
                <a:spcPct val="120000"/>
              </a:lnSpc>
            </a:pPr>
            <a:r>
              <a:rPr sz="1400" b="1">
                <a:solidFill>
                  <a:srgbClr val="22D3EE"/>
                </a:solidFill>
                <a:latin typeface="Menlo"/>
              </a:rPr>
              <a:t>05</a:t>
            </a:r>
          </a:p>
        </p:txBody>
      </p:sp>
      <p:sp>
        <p:nvSpPr>
          <p:cNvPr id="23" name="TextBox 22"/>
          <p:cNvSpPr txBox="1"/>
          <p:nvPr/>
        </p:nvSpPr>
        <p:spPr>
          <a:xfrm>
            <a:off x="1645920" y="4078224"/>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Progress</a:t>
            </a:r>
          </a:p>
        </p:txBody>
      </p:sp>
      <p:sp>
        <p:nvSpPr>
          <p:cNvPr id="24" name="TextBox 23"/>
          <p:cNvSpPr txBox="1"/>
          <p:nvPr/>
        </p:nvSpPr>
        <p:spPr>
          <a:xfrm>
            <a:off x="4480560" y="4096512"/>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is built, your ten notes, and what it does not do</a:t>
            </a:r>
          </a:p>
        </p:txBody>
      </p:sp>
      <p:sp>
        <p:nvSpPr>
          <p:cNvPr id="25" name="TextBox 24"/>
          <p:cNvSpPr txBox="1"/>
          <p:nvPr/>
        </p:nvSpPr>
        <p:spPr>
          <a:xfrm>
            <a:off x="10058400" y="4096512"/>
            <a:ext cx="1097280" cy="329184"/>
          </a:xfrm>
          <a:prstGeom prst="rect">
            <a:avLst/>
          </a:prstGeom>
          <a:noFill/>
        </p:spPr>
        <p:txBody>
          <a:bodyPr wrap="square">
            <a:spAutoFit/>
          </a:bodyPr>
          <a:lstStyle/>
          <a:p>
            <a:pPr algn="r">
              <a:lnSpc>
                <a:spcPct val="100000"/>
              </a:lnSpc>
            </a:pPr>
            <a:r>
              <a:rPr sz="1300" b="0">
                <a:solidFill>
                  <a:srgbClr val="8B97AB"/>
                </a:solidFill>
                <a:latin typeface="Menlo"/>
              </a:rPr>
              <a:t>2 min</a:t>
            </a:r>
          </a:p>
        </p:txBody>
      </p:sp>
      <p:sp>
        <p:nvSpPr>
          <p:cNvPr id="26" name="TextBox 25"/>
          <p:cNvSpPr txBox="1"/>
          <p:nvPr/>
        </p:nvSpPr>
        <p:spPr>
          <a:xfrm>
            <a:off x="1005840" y="4572000"/>
            <a:ext cx="548640" cy="329184"/>
          </a:xfrm>
          <a:prstGeom prst="rect">
            <a:avLst/>
          </a:prstGeom>
          <a:noFill/>
        </p:spPr>
        <p:txBody>
          <a:bodyPr wrap="square">
            <a:spAutoFit/>
          </a:bodyPr>
          <a:lstStyle/>
          <a:p>
            <a:pPr algn="l">
              <a:lnSpc>
                <a:spcPct val="120000"/>
              </a:lnSpc>
            </a:pPr>
            <a:r>
              <a:rPr sz="1400" b="1">
                <a:solidFill>
                  <a:srgbClr val="22D3EE"/>
                </a:solidFill>
                <a:latin typeface="Menlo"/>
              </a:rPr>
              <a:t>06</a:t>
            </a:r>
          </a:p>
        </p:txBody>
      </p:sp>
      <p:sp>
        <p:nvSpPr>
          <p:cNvPr id="27" name="TextBox 26"/>
          <p:cNvSpPr txBox="1"/>
          <p:nvPr/>
        </p:nvSpPr>
        <p:spPr>
          <a:xfrm>
            <a:off x="1645920" y="4572000"/>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Future work</a:t>
            </a:r>
          </a:p>
        </p:txBody>
      </p:sp>
      <p:sp>
        <p:nvSpPr>
          <p:cNvPr id="28" name="TextBox 27"/>
          <p:cNvSpPr txBox="1"/>
          <p:nvPr/>
        </p:nvSpPr>
        <p:spPr>
          <a:xfrm>
            <a:off x="4480560" y="4590288"/>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is next</a:t>
            </a:r>
          </a:p>
        </p:txBody>
      </p:sp>
      <p:sp>
        <p:nvSpPr>
          <p:cNvPr id="29" name="TextBox 28"/>
          <p:cNvSpPr txBox="1"/>
          <p:nvPr/>
        </p:nvSpPr>
        <p:spPr>
          <a:xfrm>
            <a:off x="10058400" y="4590288"/>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30" name="TextBox 29"/>
          <p:cNvSpPr txBox="1"/>
          <p:nvPr/>
        </p:nvSpPr>
        <p:spPr>
          <a:xfrm>
            <a:off x="1005840" y="5065776"/>
            <a:ext cx="548640" cy="329184"/>
          </a:xfrm>
          <a:prstGeom prst="rect">
            <a:avLst/>
          </a:prstGeom>
          <a:noFill/>
        </p:spPr>
        <p:txBody>
          <a:bodyPr wrap="square">
            <a:spAutoFit/>
          </a:bodyPr>
          <a:lstStyle/>
          <a:p>
            <a:pPr algn="l">
              <a:lnSpc>
                <a:spcPct val="120000"/>
              </a:lnSpc>
            </a:pPr>
            <a:r>
              <a:rPr sz="1400" b="1">
                <a:solidFill>
                  <a:srgbClr val="22D3EE"/>
                </a:solidFill>
                <a:latin typeface="Menlo"/>
              </a:rPr>
              <a:t>07</a:t>
            </a:r>
          </a:p>
        </p:txBody>
      </p:sp>
      <p:sp>
        <p:nvSpPr>
          <p:cNvPr id="31" name="TextBox 30"/>
          <p:cNvSpPr txBox="1"/>
          <p:nvPr/>
        </p:nvSpPr>
        <p:spPr>
          <a:xfrm>
            <a:off x="1645920" y="5065776"/>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Live demonstration</a:t>
            </a:r>
          </a:p>
        </p:txBody>
      </p:sp>
      <p:sp>
        <p:nvSpPr>
          <p:cNvPr id="32" name="TextBox 31"/>
          <p:cNvSpPr txBox="1"/>
          <p:nvPr/>
        </p:nvSpPr>
        <p:spPr>
          <a:xfrm>
            <a:off x="4480560" y="5084064"/>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a ticket that pins a vulnerable library, refused</a:t>
            </a:r>
          </a:p>
        </p:txBody>
      </p:sp>
      <p:sp>
        <p:nvSpPr>
          <p:cNvPr id="33" name="TextBox 32"/>
          <p:cNvSpPr txBox="1"/>
          <p:nvPr/>
        </p:nvSpPr>
        <p:spPr>
          <a:xfrm>
            <a:off x="10058400" y="5084064"/>
            <a:ext cx="1097280" cy="329184"/>
          </a:xfrm>
          <a:prstGeom prst="rect">
            <a:avLst/>
          </a:prstGeom>
          <a:noFill/>
        </p:spPr>
        <p:txBody>
          <a:bodyPr wrap="square">
            <a:spAutoFit/>
          </a:bodyPr>
          <a:lstStyle/>
          <a:p>
            <a:pPr algn="r">
              <a:lnSpc>
                <a:spcPct val="100000"/>
              </a:lnSpc>
            </a:pPr>
            <a:r>
              <a:rPr sz="1300" b="0">
                <a:solidFill>
                  <a:srgbClr val="8B97AB"/>
                </a:solidFill>
                <a:latin typeface="Menlo"/>
              </a:rPr>
              <a:t>5 min</a:t>
            </a:r>
          </a:p>
        </p:txBody>
      </p:sp>
      <p:sp>
        <p:nvSpPr>
          <p:cNvPr id="34" name="TextBox 33"/>
          <p:cNvSpPr txBox="1"/>
          <p:nvPr/>
        </p:nvSpPr>
        <p:spPr>
          <a:xfrm>
            <a:off x="1005840" y="5559552"/>
            <a:ext cx="548640" cy="329184"/>
          </a:xfrm>
          <a:prstGeom prst="rect">
            <a:avLst/>
          </a:prstGeom>
          <a:noFill/>
        </p:spPr>
        <p:txBody>
          <a:bodyPr wrap="square">
            <a:spAutoFit/>
          </a:bodyPr>
          <a:lstStyle/>
          <a:p>
            <a:pPr algn="l">
              <a:lnSpc>
                <a:spcPct val="120000"/>
              </a:lnSpc>
            </a:pPr>
            <a:r>
              <a:rPr sz="1400" b="1">
                <a:solidFill>
                  <a:srgbClr val="22D3EE"/>
                </a:solidFill>
                <a:latin typeface="Menlo"/>
              </a:rPr>
              <a:t>08</a:t>
            </a:r>
          </a:p>
        </p:txBody>
      </p:sp>
      <p:sp>
        <p:nvSpPr>
          <p:cNvPr id="35" name="TextBox 34"/>
          <p:cNvSpPr txBox="1"/>
          <p:nvPr/>
        </p:nvSpPr>
        <p:spPr>
          <a:xfrm>
            <a:off x="1645920" y="5559552"/>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Questions</a:t>
            </a:r>
          </a:p>
        </p:txBody>
      </p:sp>
      <p:sp>
        <p:nvSpPr>
          <p:cNvPr id="36" name="TextBox 35"/>
          <p:cNvSpPr txBox="1"/>
          <p:nvPr/>
        </p:nvSpPr>
        <p:spPr>
          <a:xfrm>
            <a:off x="4480560" y="5577840"/>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the rest of the slot is yours</a:t>
            </a:r>
          </a:p>
        </p:txBody>
      </p:sp>
      <p:sp>
        <p:nvSpPr>
          <p:cNvPr id="37" name="TextBox 36"/>
          <p:cNvSpPr txBox="1"/>
          <p:nvPr/>
        </p:nvSpPr>
        <p:spPr>
          <a:xfrm>
            <a:off x="10058400" y="5577840"/>
            <a:ext cx="1097280" cy="329184"/>
          </a:xfrm>
          <a:prstGeom prst="rect">
            <a:avLst/>
          </a:prstGeom>
          <a:noFill/>
        </p:spPr>
        <p:txBody>
          <a:bodyPr wrap="square">
            <a:spAutoFit/>
          </a:bodyPr>
          <a:lstStyle/>
          <a:p>
            <a:pPr algn="r">
              <a:lnSpc>
                <a:spcPct val="100000"/>
              </a:lnSpc>
            </a:pPr>
            <a:r>
              <a:rPr sz="1300" b="0">
                <a:solidFill>
                  <a:srgbClr val="8B97AB"/>
                </a:solidFill>
                <a:latin typeface="Menlo"/>
              </a:rPr>
              <a:t>5 min</a:t>
            </a:r>
          </a:p>
        </p:txBody>
      </p:sp>
      <p:sp>
        <p:nvSpPr>
          <p:cNvPr id="38" name="TextBox 37"/>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3</a:t>
            </a:r>
          </a:p>
        </p:txBody>
      </p:sp>
    </p:spTree>
  </p:cSld>
  <p:clrMapOvr>
    <a:masterClrMapping/>
  </p:clrMapOvr>
  <p:transition spd="med">
    <p:wipe dir="l"/>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An agent can write the code. Who checks it?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286000"/>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Coding agents now open pull requests without a person in the loop. The reviewer of that change is increasingly another model.</a:t>
            </a:r>
          </a:p>
        </p:txBody>
      </p:sp>
      <p:sp>
        <p:nvSpPr>
          <p:cNvPr id="7" name="TextBox 6"/>
          <p:cNvSpPr txBox="1"/>
          <p:nvPr/>
        </p:nvSpPr>
        <p:spPr>
          <a:xfrm>
            <a:off x="1005840" y="3127248"/>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A model can be persuaded, distracted or prompt-injected. It is the wrong thing to place between a committed credential and the main branch.</a:t>
            </a:r>
          </a:p>
        </p:txBody>
      </p:sp>
      <p:sp>
        <p:nvSpPr>
          <p:cNvPr id="8" name="TextBox 7"/>
          <p:cNvSpPr txBox="1"/>
          <p:nvPr/>
        </p:nvSpPr>
        <p:spPr>
          <a:xfrm>
            <a:off x="1005840" y="3968496"/>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Measured on this project's own baseline: with no checks in the loop, a poisoned change reached the branch every time it was tried.</a:t>
            </a:r>
          </a:p>
        </p:txBody>
      </p:sp>
      <p:sp>
        <p:nvSpPr>
          <p:cNvPr id="9" name="TextBox 8"/>
          <p:cNvSpPr txBox="1"/>
          <p:nvPr/>
        </p:nvSpPr>
        <p:spPr>
          <a:xfrm>
            <a:off x="1005840" y="5394960"/>
            <a:ext cx="10058400" cy="822960"/>
          </a:xfrm>
          <a:prstGeom prst="rect">
            <a:avLst/>
          </a:prstGeom>
          <a:noFill/>
        </p:spPr>
        <p:txBody>
          <a:bodyPr wrap="square">
            <a:spAutoFit/>
          </a:bodyPr>
          <a:lstStyle/>
          <a:p>
            <a:pPr algn="l">
              <a:lnSpc>
                <a:spcPct val="130000"/>
              </a:lnSpc>
            </a:pPr>
            <a:r>
              <a:rPr sz="1800" b="1">
                <a:solidFill>
                  <a:srgbClr val="E8ECF3"/>
                </a:solidFill>
                <a:latin typeface="Helvetica Neue"/>
              </a:rPr>
              <a:t>The question is not whether an agent can write the change. It is what stands between that change and production.</a:t>
            </a:r>
          </a:p>
        </p:txBody>
      </p:sp>
      <p:sp>
        <p:nvSpPr>
          <p:cNvPr id="45" name="TextBox 4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4</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Nine stages. Three of them are people.</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028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915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plan</a:t>
            </a:r>
          </a:p>
        </p:txBody>
      </p:sp>
      <p:sp>
        <p:nvSpPr>
          <p:cNvPr id="9" name="Oval 8"/>
          <p:cNvSpPr/>
          <p:nvPr/>
        </p:nvSpPr>
        <p:spPr>
          <a:xfrm>
            <a:off x="261061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434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360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gate1</a:t>
            </a:r>
          </a:p>
        </p:txBody>
      </p:sp>
      <p:sp>
        <p:nvSpPr>
          <p:cNvPr id="12" name="Oval 11"/>
          <p:cNvSpPr/>
          <p:nvPr/>
        </p:nvSpPr>
        <p:spPr>
          <a:xfrm>
            <a:off x="376580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67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136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develop</a:t>
            </a:r>
          </a:p>
        </p:txBody>
      </p:sp>
      <p:sp>
        <p:nvSpPr>
          <p:cNvPr id="15" name="Oval 14"/>
          <p:cNvSpPr/>
          <p:nvPr/>
        </p:nvSpPr>
        <p:spPr>
          <a:xfrm>
            <a:off x="489356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243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review</a:t>
            </a:r>
          </a:p>
        </p:txBody>
      </p:sp>
      <p:sp>
        <p:nvSpPr>
          <p:cNvPr id="18" name="Oval 17"/>
          <p:cNvSpPr/>
          <p:nvPr/>
        </p:nvSpPr>
        <p:spPr>
          <a:xfrm>
            <a:off x="602132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019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1688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security</a:t>
            </a:r>
          </a:p>
        </p:txBody>
      </p:sp>
      <p:sp>
        <p:nvSpPr>
          <p:cNvPr id="21" name="Oval 20"/>
          <p:cNvSpPr/>
          <p:nvPr/>
        </p:nvSpPr>
        <p:spPr>
          <a:xfrm>
            <a:off x="712165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9538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4464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gate2</a:t>
            </a:r>
          </a:p>
        </p:txBody>
      </p:sp>
      <p:sp>
        <p:nvSpPr>
          <p:cNvPr id="24" name="Oval 23"/>
          <p:cNvSpPr/>
          <p:nvPr/>
        </p:nvSpPr>
        <p:spPr>
          <a:xfrm>
            <a:off x="827684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571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sre</a:t>
            </a:r>
          </a:p>
        </p:txBody>
      </p:sp>
      <p:sp>
        <p:nvSpPr>
          <p:cNvPr id="27" name="Oval 26"/>
          <p:cNvSpPr/>
          <p:nvPr/>
        </p:nvSpPr>
        <p:spPr>
          <a:xfrm>
            <a:off x="937717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5090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016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gate3</a:t>
            </a:r>
          </a:p>
        </p:txBody>
      </p:sp>
      <p:sp>
        <p:nvSpPr>
          <p:cNvPr id="30" name="Oval 29"/>
          <p:cNvSpPr/>
          <p:nvPr/>
        </p:nvSpPr>
        <p:spPr>
          <a:xfrm>
            <a:off x="1053236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792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promote</a:t>
            </a:r>
          </a:p>
        </p:txBody>
      </p:sp>
      <p:sp>
        <p:nvSpPr>
          <p:cNvPr id="32" name="TextBox 31"/>
          <p:cNvSpPr txBox="1"/>
          <p:nvPr/>
        </p:nvSpPr>
        <p:spPr>
          <a:xfrm>
            <a:off x="1005840" y="3063240"/>
            <a:ext cx="10058400" cy="640080"/>
          </a:xfrm>
          <a:prstGeom prst="rect">
            <a:avLst/>
          </a:prstGeom>
          <a:noFill/>
        </p:spPr>
        <p:txBody>
          <a:bodyPr wrap="square">
            <a:spAutoFit/>
          </a:bodyPr>
          <a:lstStyle/>
          <a:p>
            <a:pPr algn="l">
              <a:lnSpc>
                <a:spcPct val="130000"/>
              </a:lnSpc>
            </a:pPr>
            <a:r>
              <a:rPr sz="1500" b="0">
                <a:solidFill>
                  <a:srgbClr val="8B97AB"/>
                </a:solidFill>
                <a:latin typeface="Helvetica Neue"/>
              </a:rPr>
              <a:t>A filled dot is an agent. A ring is a gate: the pipeline stops there until a named person approves it.</a:t>
            </a:r>
          </a:p>
        </p:txBody>
      </p:sp>
      <p:sp>
        <p:nvSpPr>
          <p:cNvPr id="33" name="Rectangle 32"/>
          <p:cNvSpPr/>
          <p:nvPr/>
        </p:nvSpPr>
        <p:spPr>
          <a:xfrm>
            <a:off x="1005840"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20"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Five agents</a:t>
            </a:r>
          </a:p>
        </p:txBody>
      </p:sp>
      <p:sp>
        <p:nvSpPr>
          <p:cNvPr id="35" name="TextBox 34"/>
          <p:cNvSpPr txBox="1"/>
          <p:nvPr/>
        </p:nvSpPr>
        <p:spPr>
          <a:xfrm>
            <a:off x="1188720"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planner, developer, reviewer, security and SRE, each in its own isolated runtime on AWS.</a:t>
            </a:r>
          </a:p>
        </p:txBody>
      </p:sp>
      <p:sp>
        <p:nvSpPr>
          <p:cNvPr id="36" name="Rectangle 35"/>
          <p:cNvSpPr/>
          <p:nvPr/>
        </p:nvSpPr>
        <p:spPr>
          <a:xfrm>
            <a:off x="4468368"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51248"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Three human gates</a:t>
            </a:r>
          </a:p>
        </p:txBody>
      </p:sp>
      <p:sp>
        <p:nvSpPr>
          <p:cNvPr id="38" name="TextBox 37"/>
          <p:cNvSpPr txBox="1"/>
          <p:nvPr/>
        </p:nvSpPr>
        <p:spPr>
          <a:xfrm>
            <a:off x="4651248"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a required reviewer in GitHub. The run waits at each gate until a named person approves it.</a:t>
            </a:r>
          </a:p>
        </p:txBody>
      </p:sp>
      <p:sp>
        <p:nvSpPr>
          <p:cNvPr id="39" name="Rectangle 38"/>
          <p:cNvSpPr/>
          <p:nvPr/>
        </p:nvSpPr>
        <p:spPr>
          <a:xfrm>
            <a:off x="7930896"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3776"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One rule that is not a model</a:t>
            </a:r>
          </a:p>
        </p:txBody>
      </p:sp>
      <p:sp>
        <p:nvSpPr>
          <p:cNvPr id="41" name="TextBox 40"/>
          <p:cNvSpPr txBox="1"/>
          <p:nvPr/>
        </p:nvSpPr>
        <p:spPr>
          <a:xfrm>
            <a:off x="8113776"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three scanners and a fixed severity threshold. Same input, same answer, every time.</a:t>
            </a:r>
          </a:p>
        </p:txBody>
      </p:sp>
      <p:sp>
        <p:nvSpPr>
          <p:cNvPr id="285" name="TextBox 2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5</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8"/>
                                        </p:tgtEl>
                                        <p:attrNameLst>
                                          <p:attrName>style.visibility</p:attrName>
                                        </p:attrNameLst>
                                      </p:cBhvr>
                                      <p:to>
                                        <p:strVal val="visible"/>
                                      </p:to>
                                    </p:set>
                                    <p:animEffect transition="in" filter="fade">
                                      <p:cBhvr>
                                        <p:cTn id="24" dur="45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1"/>
                                        </p:tgtEl>
                                        <p:attrNameLst>
                                          <p:attrName>style.visibility</p:attrName>
                                        </p:attrNameLst>
                                      </p:cBhvr>
                                      <p:to>
                                        <p:strVal val="visible"/>
                                      </p:to>
                                    </p:set>
                                    <p:animEffect transition="in" filter="fade">
                                      <p:cBhvr>
                                        <p:cTn id="44" dur="45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4"/>
                                        </p:tgtEl>
                                        <p:attrNameLst>
                                          <p:attrName>style.visibility</p:attrName>
                                        </p:attrNameLst>
                                      </p:cBhvr>
                                      <p:to>
                                        <p:strVal val="visible"/>
                                      </p:to>
                                    </p:set>
                                    <p:animEffect transition="in" filter="fade">
                                      <p:cBhvr>
                                        <p:cTn id="64" dur="450"/>
                                        <p:tgtEl>
                                          <p:spTgt spid="1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7"/>
                                        </p:tgtEl>
                                        <p:attrNameLst>
                                          <p:attrName>style.visibility</p:attrName>
                                        </p:attrNameLst>
                                      </p:cBhvr>
                                      <p:to>
                                        <p:strVal val="visible"/>
                                      </p:to>
                                    </p:set>
                                    <p:animEffect transition="in" filter="fade">
                                      <p:cBhvr>
                                        <p:cTn id="84" dur="450"/>
                                        <p:tgtEl>
                                          <p:spTgt spid="17"/>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8"/>
                                        </p:tgtEl>
                                        <p:attrNameLst>
                                          <p:attrName>style.visibility</p:attrName>
                                        </p:attrNameLst>
                                      </p:cBhvr>
                                      <p:to>
                                        <p:strVal val="visible"/>
                                      </p:to>
                                    </p:set>
                                    <p:animEffect transition="in" filter="fade">
                                      <p:cBhvr>
                                        <p:cTn id="94" dur="450"/>
                                        <p:tgtEl>
                                          <p:spTgt spid="18"/>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20"/>
                                        </p:tgtEl>
                                        <p:attrNameLst>
                                          <p:attrName>style.visibility</p:attrName>
                                        </p:attrNameLst>
                                      </p:cBhvr>
                                      <p:to>
                                        <p:strVal val="visible"/>
                                      </p:to>
                                    </p:set>
                                    <p:animEffect transition="in" filter="fade">
                                      <p:cBhvr>
                                        <p:cTn id="104" dur="450"/>
                                        <p:tgtEl>
                                          <p:spTgt spid="20"/>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21"/>
                                        </p:tgtEl>
                                        <p:attrNameLst>
                                          <p:attrName>style.visibility</p:attrName>
                                        </p:attrNameLst>
                                      </p:cBhvr>
                                      <p:to>
                                        <p:strVal val="visible"/>
                                      </p:to>
                                    </p:set>
                                    <p:animEffect transition="in" filter="fade">
                                      <p:cBhvr>
                                        <p:cTn id="114" dur="450"/>
                                        <p:tgtEl>
                                          <p:spTgt spid="2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23"/>
                                        </p:tgtEl>
                                        <p:attrNameLst>
                                          <p:attrName>style.visibility</p:attrName>
                                        </p:attrNameLst>
                                      </p:cBhvr>
                                      <p:to>
                                        <p:strVal val="visible"/>
                                      </p:to>
                                    </p:set>
                                    <p:animEffect transition="in" filter="fade">
                                      <p:cBhvr>
                                        <p:cTn id="124" dur="450"/>
                                        <p:tgtEl>
                                          <p:spTgt spid="23"/>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24"/>
                                        </p:tgtEl>
                                        <p:attrNameLst>
                                          <p:attrName>style.visibility</p:attrName>
                                        </p:attrNameLst>
                                      </p:cBhvr>
                                      <p:to>
                                        <p:strVal val="visible"/>
                                      </p:to>
                                    </p:set>
                                    <p:animEffect transition="in" filter="fade">
                                      <p:cBhvr>
                                        <p:cTn id="134" dur="450"/>
                                        <p:tgtEl>
                                          <p:spTgt spid="24"/>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26"/>
                                        </p:tgtEl>
                                        <p:attrNameLst>
                                          <p:attrName>style.visibility</p:attrName>
                                        </p:attrNameLst>
                                      </p:cBhvr>
                                      <p:to>
                                        <p:strVal val="visible"/>
                                      </p:to>
                                    </p:set>
                                    <p:animEffect transition="in" filter="fade">
                                      <p:cBhvr>
                                        <p:cTn id="144" dur="450"/>
                                        <p:tgtEl>
                                          <p:spTgt spid="26"/>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7"/>
                                        </p:tgtEl>
                                        <p:attrNameLst>
                                          <p:attrName>style.visibility</p:attrName>
                                        </p:attrNameLst>
                                      </p:cBhvr>
                                      <p:to>
                                        <p:strVal val="visible"/>
                                      </p:to>
                                    </p:set>
                                    <p:animEffect transition="in" filter="fade">
                                      <p:cBhvr>
                                        <p:cTn id="154" dur="450"/>
                                        <p:tgtEl>
                                          <p:spTgt spid="27"/>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9"/>
                                        </p:tgtEl>
                                        <p:attrNameLst>
                                          <p:attrName>style.visibility</p:attrName>
                                        </p:attrNameLst>
                                      </p:cBhvr>
                                      <p:to>
                                        <p:strVal val="visible"/>
                                      </p:to>
                                    </p:set>
                                    <p:animEffect transition="in" filter="fade">
                                      <p:cBhvr>
                                        <p:cTn id="164" dur="450"/>
                                        <p:tgtEl>
                                          <p:spTgt spid="29"/>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grpId="0" nodeType="afterEffect">
                                  <p:stCondLst>
                                    <p:cond delay="0"/>
                                  </p:stCondLst>
                                  <p:childTnLst>
                                    <p:set>
                                      <p:cBhvr>
                                        <p:cTn id="173" dur="1" fill="hold"/>
                                        <p:tgtEl>
                                          <p:spTgt spid="30"/>
                                        </p:tgtEl>
                                        <p:attrNameLst>
                                          <p:attrName>style.visibility</p:attrName>
                                        </p:attrNameLst>
                                      </p:cBhvr>
                                      <p:to>
                                        <p:strVal val="visible"/>
                                      </p:to>
                                    </p:set>
                                    <p:animEffect transition="in" filter="fade">
                                      <p:cBhvr>
                                        <p:cTn id="174" dur="450"/>
                                        <p:tgtEl>
                                          <p:spTgt spid="30"/>
                                        </p:tgtEl>
                                      </p:cBhvr>
                                    </p:animEffect>
                                  </p:childTnLst>
                                </p:cTn>
                              </p:par>
                            </p:childTnLst>
                          </p:cTn>
                        </p:par>
                      </p:childTnLst>
                    </p:cTn>
                  </p:par>
                  <p:par>
                    <p:cTn id="180" fill="hold">
                      <p:stCondLst>
                        <p:cond delay="indefinite"/>
                      </p:stCondLst>
                      <p:childTnLst>
                        <p:par>
                          <p:cTn id="181" fill="hold">
                            <p:stCondLst>
                              <p:cond delay="0"/>
                            </p:stCondLst>
                            <p:childTnLst>
                              <p:par>
                                <p:cTn id="182" presetID="10" presetClass="entr" presetSubtype="0" fill="hold" grpId="0" nodeType="afterEffect">
                                  <p:stCondLst>
                                    <p:cond delay="0"/>
                                  </p:stCondLst>
                                  <p:childTnLst>
                                    <p:set>
                                      <p:cBhvr>
                                        <p:cTn id="183" dur="1" fill="hold"/>
                                        <p:tgtEl>
                                          <p:spTgt spid="31"/>
                                        </p:tgtEl>
                                        <p:attrNameLst>
                                          <p:attrName>style.visibility</p:attrName>
                                        </p:attrNameLst>
                                      </p:cBhvr>
                                      <p:to>
                                        <p:strVal val="visible"/>
                                      </p:to>
                                    </p:set>
                                    <p:animEffect transition="in" filter="fade">
                                      <p:cBhvr>
                                        <p:cTn id="184" dur="450"/>
                                        <p:tgtEl>
                                          <p:spTgt spid="31"/>
                                        </p:tgtEl>
                                      </p:cBhvr>
                                    </p:animEffect>
                                  </p:childTnLst>
                                </p:cTn>
                              </p:par>
                            </p:childTnLst>
                          </p:cTn>
                        </p:par>
                      </p:childTnLst>
                    </p:cTn>
                  </p:par>
                  <p:par>
                    <p:cTn id="190" fill="hold">
                      <p:stCondLst>
                        <p:cond delay="indefinite"/>
                      </p:stCondLst>
                      <p:childTnLst>
                        <p:par>
                          <p:cTn id="191" fill="hold">
                            <p:stCondLst>
                              <p:cond delay="0"/>
                            </p:stCondLst>
                            <p:childTnLst>
                              <p:par>
                                <p:cTn id="192" presetID="10" presetClass="entr" presetSubtype="0" fill="hold" grpId="0" nodeType="afterEffect">
                                  <p:stCondLst>
                                    <p:cond delay="0"/>
                                  </p:stCondLst>
                                  <p:childTnLst>
                                    <p:set>
                                      <p:cBhvr>
                                        <p:cTn id="193" dur="1" fill="hold"/>
                                        <p:tgtEl>
                                          <p:spTgt spid="32"/>
                                        </p:tgtEl>
                                        <p:attrNameLst>
                                          <p:attrName>style.visibility</p:attrName>
                                        </p:attrNameLst>
                                      </p:cBhvr>
                                      <p:to>
                                        <p:strVal val="visible"/>
                                      </p:to>
                                    </p:set>
                                    <p:animEffect transition="in" filter="fade">
                                      <p:cBhvr>
                                        <p:cTn id="194" dur="450"/>
                                        <p:tgtEl>
                                          <p:spTgt spid="32"/>
                                        </p:tgtEl>
                                      </p:cBhvr>
                                    </p:animEffect>
                                  </p:childTnLst>
                                </p:cTn>
                              </p:par>
                            </p:childTnLst>
                          </p:cTn>
                        </p:par>
                      </p:childTnLst>
                    </p:cTn>
                  </p:par>
                  <p:par>
                    <p:cTn id="200" fill="hold">
                      <p:stCondLst>
                        <p:cond delay="indefinite"/>
                      </p:stCondLst>
                      <p:childTnLst>
                        <p:par>
                          <p:cTn id="201" fill="hold">
                            <p:stCondLst>
                              <p:cond delay="0"/>
                            </p:stCondLst>
                            <p:childTnLst>
                              <p:par>
                                <p:cTn id="202" presetID="10" presetClass="entr" presetSubtype="0" fill="hold" grpId="0" nodeType="afterEffect">
                                  <p:stCondLst>
                                    <p:cond delay="0"/>
                                  </p:stCondLst>
                                  <p:childTnLst>
                                    <p:set>
                                      <p:cBhvr>
                                        <p:cTn id="203" dur="1" fill="hold"/>
                                        <p:tgtEl>
                                          <p:spTgt spid="33"/>
                                        </p:tgtEl>
                                        <p:attrNameLst>
                                          <p:attrName>style.visibility</p:attrName>
                                        </p:attrNameLst>
                                      </p:cBhvr>
                                      <p:to>
                                        <p:strVal val="visible"/>
                                      </p:to>
                                    </p:set>
                                    <p:animEffect transition="in" filter="fade">
                                      <p:cBhvr>
                                        <p:cTn id="204" dur="450"/>
                                        <p:tgtEl>
                                          <p:spTgt spid="33"/>
                                        </p:tgtEl>
                                      </p:cBhvr>
                                    </p:animEffect>
                                  </p:childTnLst>
                                </p:cTn>
                              </p:par>
                            </p:childTnLst>
                          </p:cTn>
                        </p:par>
                      </p:childTnLst>
                    </p:cTn>
                  </p:par>
                  <p:par>
                    <p:cTn id="210" fill="hold">
                      <p:stCondLst>
                        <p:cond delay="indefinite"/>
                      </p:stCondLst>
                      <p:childTnLst>
                        <p:par>
                          <p:cTn id="211" fill="hold">
                            <p:stCondLst>
                              <p:cond delay="0"/>
                            </p:stCondLst>
                            <p:childTnLst>
                              <p:par>
                                <p:cTn id="212" presetID="10" presetClass="entr" presetSubtype="0" fill="hold" grpId="0" nodeType="afterEffect">
                                  <p:stCondLst>
                                    <p:cond delay="0"/>
                                  </p:stCondLst>
                                  <p:childTnLst>
                                    <p:set>
                                      <p:cBhvr>
                                        <p:cTn id="213" dur="1" fill="hold"/>
                                        <p:tgtEl>
                                          <p:spTgt spid="34"/>
                                        </p:tgtEl>
                                        <p:attrNameLst>
                                          <p:attrName>style.visibility</p:attrName>
                                        </p:attrNameLst>
                                      </p:cBhvr>
                                      <p:to>
                                        <p:strVal val="visible"/>
                                      </p:to>
                                    </p:set>
                                    <p:animEffect transition="in" filter="fade">
                                      <p:cBhvr>
                                        <p:cTn id="214" dur="450"/>
                                        <p:tgtEl>
                                          <p:spTgt spid="34"/>
                                        </p:tgtEl>
                                      </p:cBhvr>
                                    </p:animEffect>
                                  </p:childTnLst>
                                </p:cTn>
                              </p:par>
                            </p:childTnLst>
                          </p:cTn>
                        </p:par>
                      </p:childTnLst>
                    </p:cTn>
                  </p:par>
                  <p:par>
                    <p:cTn id="220" fill="hold">
                      <p:stCondLst>
                        <p:cond delay="indefinite"/>
                      </p:stCondLst>
                      <p:childTnLst>
                        <p:par>
                          <p:cTn id="221" fill="hold">
                            <p:stCondLst>
                              <p:cond delay="0"/>
                            </p:stCondLst>
                            <p:childTnLst>
                              <p:par>
                                <p:cTn id="222" presetID="10" presetClass="entr" presetSubtype="0" fill="hold" grpId="0" nodeType="afterEffect">
                                  <p:stCondLst>
                                    <p:cond delay="0"/>
                                  </p:stCondLst>
                                  <p:childTnLst>
                                    <p:set>
                                      <p:cBhvr>
                                        <p:cTn id="223" dur="1" fill="hold"/>
                                        <p:tgtEl>
                                          <p:spTgt spid="35"/>
                                        </p:tgtEl>
                                        <p:attrNameLst>
                                          <p:attrName>style.visibility</p:attrName>
                                        </p:attrNameLst>
                                      </p:cBhvr>
                                      <p:to>
                                        <p:strVal val="visible"/>
                                      </p:to>
                                    </p:set>
                                    <p:animEffect transition="in" filter="fade">
                                      <p:cBhvr>
                                        <p:cTn id="224" dur="450"/>
                                        <p:tgtEl>
                                          <p:spTgt spid="35"/>
                                        </p:tgtEl>
                                      </p:cBhvr>
                                    </p:animEffect>
                                  </p:childTnLst>
                                </p:cTn>
                              </p:par>
                            </p:childTnLst>
                          </p:cTn>
                        </p:par>
                      </p:childTnLst>
                    </p:cTn>
                  </p:par>
                  <p:par>
                    <p:cTn id="230" fill="hold">
                      <p:stCondLst>
                        <p:cond delay="indefinite"/>
                      </p:stCondLst>
                      <p:childTnLst>
                        <p:par>
                          <p:cTn id="231" fill="hold">
                            <p:stCondLst>
                              <p:cond delay="0"/>
                            </p:stCondLst>
                            <p:childTnLst>
                              <p:par>
                                <p:cTn id="232" presetID="10" presetClass="entr" presetSubtype="0" fill="hold" grpId="0" nodeType="afterEffect">
                                  <p:stCondLst>
                                    <p:cond delay="0"/>
                                  </p:stCondLst>
                                  <p:childTnLst>
                                    <p:set>
                                      <p:cBhvr>
                                        <p:cTn id="233" dur="1" fill="hold"/>
                                        <p:tgtEl>
                                          <p:spTgt spid="36"/>
                                        </p:tgtEl>
                                        <p:attrNameLst>
                                          <p:attrName>style.visibility</p:attrName>
                                        </p:attrNameLst>
                                      </p:cBhvr>
                                      <p:to>
                                        <p:strVal val="visible"/>
                                      </p:to>
                                    </p:set>
                                    <p:animEffect transition="in" filter="fade">
                                      <p:cBhvr>
                                        <p:cTn id="234" dur="450"/>
                                        <p:tgtEl>
                                          <p:spTgt spid="36"/>
                                        </p:tgtEl>
                                      </p:cBhvr>
                                    </p:animEffect>
                                  </p:childTnLst>
                                </p:cTn>
                              </p:par>
                            </p:childTnLst>
                          </p:cTn>
                        </p:par>
                      </p:childTnLst>
                    </p:cTn>
                  </p:par>
                  <p:par>
                    <p:cTn id="240" fill="hold">
                      <p:stCondLst>
                        <p:cond delay="indefinite"/>
                      </p:stCondLst>
                      <p:childTnLst>
                        <p:par>
                          <p:cTn id="241" fill="hold">
                            <p:stCondLst>
                              <p:cond delay="0"/>
                            </p:stCondLst>
                            <p:childTnLst>
                              <p:par>
                                <p:cTn id="242" presetID="10" presetClass="entr" presetSubtype="0" fill="hold" grpId="0" nodeType="afterEffect">
                                  <p:stCondLst>
                                    <p:cond delay="0"/>
                                  </p:stCondLst>
                                  <p:childTnLst>
                                    <p:set>
                                      <p:cBhvr>
                                        <p:cTn id="243" dur="1" fill="hold"/>
                                        <p:tgtEl>
                                          <p:spTgt spid="37"/>
                                        </p:tgtEl>
                                        <p:attrNameLst>
                                          <p:attrName>style.visibility</p:attrName>
                                        </p:attrNameLst>
                                      </p:cBhvr>
                                      <p:to>
                                        <p:strVal val="visible"/>
                                      </p:to>
                                    </p:set>
                                    <p:animEffect transition="in" filter="fade">
                                      <p:cBhvr>
                                        <p:cTn id="244" dur="450"/>
                                        <p:tgtEl>
                                          <p:spTgt spid="37"/>
                                        </p:tgtEl>
                                      </p:cBhvr>
                                    </p:animEffect>
                                  </p:childTnLst>
                                </p:cTn>
                              </p:par>
                            </p:childTnLst>
                          </p:cTn>
                        </p:par>
                      </p:childTnLst>
                    </p:cTn>
                  </p:par>
                  <p:par>
                    <p:cTn id="250" fill="hold">
                      <p:stCondLst>
                        <p:cond delay="indefinite"/>
                      </p:stCondLst>
                      <p:childTnLst>
                        <p:par>
                          <p:cTn id="251" fill="hold">
                            <p:stCondLst>
                              <p:cond delay="0"/>
                            </p:stCondLst>
                            <p:childTnLst>
                              <p:par>
                                <p:cTn id="252" presetID="10" presetClass="entr" presetSubtype="0" fill="hold" grpId="0" nodeType="afterEffect">
                                  <p:stCondLst>
                                    <p:cond delay="0"/>
                                  </p:stCondLst>
                                  <p:childTnLst>
                                    <p:set>
                                      <p:cBhvr>
                                        <p:cTn id="253" dur="1" fill="hold"/>
                                        <p:tgtEl>
                                          <p:spTgt spid="38"/>
                                        </p:tgtEl>
                                        <p:attrNameLst>
                                          <p:attrName>style.visibility</p:attrName>
                                        </p:attrNameLst>
                                      </p:cBhvr>
                                      <p:to>
                                        <p:strVal val="visible"/>
                                      </p:to>
                                    </p:set>
                                    <p:animEffect transition="in" filter="fade">
                                      <p:cBhvr>
                                        <p:cTn id="254" dur="450"/>
                                        <p:tgtEl>
                                          <p:spTgt spid="38"/>
                                        </p:tgtEl>
                                      </p:cBhvr>
                                    </p:animEffect>
                                  </p:childTnLst>
                                </p:cTn>
                              </p:par>
                            </p:childTnLst>
                          </p:cTn>
                        </p:par>
                      </p:childTnLst>
                    </p:cTn>
                  </p:par>
                  <p:par>
                    <p:cTn id="260" fill="hold">
                      <p:stCondLst>
                        <p:cond delay="indefinite"/>
                      </p:stCondLst>
                      <p:childTnLst>
                        <p:par>
                          <p:cTn id="261" fill="hold">
                            <p:stCondLst>
                              <p:cond delay="0"/>
                            </p:stCondLst>
                            <p:childTnLst>
                              <p:par>
                                <p:cTn id="262" presetID="10" presetClass="entr" presetSubtype="0" fill="hold" grpId="0" nodeType="afterEffect">
                                  <p:stCondLst>
                                    <p:cond delay="0"/>
                                  </p:stCondLst>
                                  <p:childTnLst>
                                    <p:set>
                                      <p:cBhvr>
                                        <p:cTn id="263" dur="1" fill="hold"/>
                                        <p:tgtEl>
                                          <p:spTgt spid="39"/>
                                        </p:tgtEl>
                                        <p:attrNameLst>
                                          <p:attrName>style.visibility</p:attrName>
                                        </p:attrNameLst>
                                      </p:cBhvr>
                                      <p:to>
                                        <p:strVal val="visible"/>
                                      </p:to>
                                    </p:set>
                                    <p:animEffect transition="in" filter="fade">
                                      <p:cBhvr>
                                        <p:cTn id="264" dur="450"/>
                                        <p:tgtEl>
                                          <p:spTgt spid="39"/>
                                        </p:tgtEl>
                                      </p:cBhvr>
                                    </p:animEffect>
                                  </p:childTnLst>
                                </p:cTn>
                              </p:par>
                            </p:childTnLst>
                          </p:cTn>
                        </p:par>
                      </p:childTnLst>
                    </p:cTn>
                  </p:par>
                  <p:par>
                    <p:cTn id="270" fill="hold">
                      <p:stCondLst>
                        <p:cond delay="indefinite"/>
                      </p:stCondLst>
                      <p:childTnLst>
                        <p:par>
                          <p:cTn id="271" fill="hold">
                            <p:stCondLst>
                              <p:cond delay="0"/>
                            </p:stCondLst>
                            <p:childTnLst>
                              <p:par>
                                <p:cTn id="272" presetID="10" presetClass="entr" presetSubtype="0" fill="hold" grpId="0" nodeType="afterEffect">
                                  <p:stCondLst>
                                    <p:cond delay="0"/>
                                  </p:stCondLst>
                                  <p:childTnLst>
                                    <p:set>
                                      <p:cBhvr>
                                        <p:cTn id="273" dur="1" fill="hold"/>
                                        <p:tgtEl>
                                          <p:spTgt spid="40"/>
                                        </p:tgtEl>
                                        <p:attrNameLst>
                                          <p:attrName>style.visibility</p:attrName>
                                        </p:attrNameLst>
                                      </p:cBhvr>
                                      <p:to>
                                        <p:strVal val="visible"/>
                                      </p:to>
                                    </p:set>
                                    <p:animEffect transition="in" filter="fade">
                                      <p:cBhvr>
                                        <p:cTn id="274" dur="450"/>
                                        <p:tgtEl>
                                          <p:spTgt spid="40"/>
                                        </p:tgtEl>
                                      </p:cBhvr>
                                    </p:animEffect>
                                  </p:childTnLst>
                                </p:cTn>
                              </p:par>
                            </p:childTnLst>
                          </p:cTn>
                        </p:par>
                      </p:childTnLst>
                    </p:cTn>
                  </p:par>
                  <p:par>
                    <p:cTn id="280" fill="hold">
                      <p:stCondLst>
                        <p:cond delay="indefinite"/>
                      </p:stCondLst>
                      <p:childTnLst>
                        <p:par>
                          <p:cTn id="281" fill="hold">
                            <p:stCondLst>
                              <p:cond delay="0"/>
                            </p:stCondLst>
                            <p:childTnLst>
                              <p:par>
                                <p:cTn id="282" presetID="10" presetClass="entr" presetSubtype="0" fill="hold" grpId="0" nodeType="afterEffect">
                                  <p:stCondLst>
                                    <p:cond delay="0"/>
                                  </p:stCondLst>
                                  <p:childTnLst>
                                    <p:set>
                                      <p:cBhvr>
                                        <p:cTn id="283" dur="1" fill="hold"/>
                                        <p:tgtEl>
                                          <p:spTgt spid="41"/>
                                        </p:tgtEl>
                                        <p:attrNameLst>
                                          <p:attrName>style.visibility</p:attrName>
                                        </p:attrNameLst>
                                      </p:cBhvr>
                                      <p:to>
                                        <p:strVal val="visible"/>
                                      </p:to>
                                    </p:set>
                                    <p:animEffect transition="in" filter="fade">
                                      <p:cBhvr>
                                        <p:cTn id="284" dur="45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Non-deterministic models. A deterministic gate.</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10058400" cy="685800"/>
          </a:xfrm>
          <a:prstGeom prst="rect">
            <a:avLst/>
          </a:prstGeom>
          <a:noFill/>
        </p:spPr>
        <p:txBody>
          <a:bodyPr wrap="square">
            <a:spAutoFit/>
          </a:bodyPr>
          <a:lstStyle/>
          <a:p>
            <a:pPr algn="l">
              <a:lnSpc>
                <a:spcPct val="130000"/>
              </a:lnSpc>
            </a:pPr>
            <a:r>
              <a:rPr sz="1700" b="0">
                <a:solidFill>
                  <a:srgbClr val="8B97AB"/>
                </a:solidFill>
                <a:latin typeface="Helvetica Neue"/>
              </a:rPr>
              <a:t>Every agent here is a language model, and any of them can be wrong. The component that stops a change is not one of them.</a:t>
            </a:r>
          </a:p>
        </p:txBody>
      </p:sp>
      <p:sp>
        <p:nvSpPr>
          <p:cNvPr id="7" name="TextBox 6"/>
          <p:cNvSpPr txBox="1"/>
          <p:nvPr/>
        </p:nvSpPr>
        <p:spPr>
          <a:xfrm>
            <a:off x="1005840" y="2926080"/>
            <a:ext cx="2468880" cy="292608"/>
          </a:xfrm>
          <a:prstGeom prst="rect">
            <a:avLst/>
          </a:prstGeom>
          <a:noFill/>
        </p:spPr>
        <p:txBody>
          <a:bodyPr wrap="square">
            <a:spAutoFit/>
          </a:bodyPr>
          <a:lstStyle/>
          <a:p>
            <a:pPr algn="l">
              <a:lnSpc>
                <a:spcPct val="100000"/>
              </a:lnSpc>
            </a:pPr>
            <a:r>
              <a:rPr sz="1100" b="1">
                <a:solidFill>
                  <a:srgbClr val="22D3EE"/>
                </a:solidFill>
                <a:latin typeface="Helvetica Neue"/>
              </a:rPr>
              <a:t/>
            </a:r>
          </a:p>
        </p:txBody>
      </p:sp>
      <p:sp>
        <p:nvSpPr>
          <p:cNvPr id="8" name="TextBox 7"/>
          <p:cNvSpPr txBox="1"/>
          <p:nvPr/>
        </p:nvSpPr>
        <p:spPr>
          <a:xfrm>
            <a:off x="3474720" y="2926080"/>
            <a:ext cx="3840480" cy="292608"/>
          </a:xfrm>
          <a:prstGeom prst="rect">
            <a:avLst/>
          </a:prstGeom>
          <a:noFill/>
        </p:spPr>
        <p:txBody>
          <a:bodyPr wrap="square">
            <a:spAutoFit/>
          </a:bodyPr>
          <a:lstStyle/>
          <a:p>
            <a:pPr algn="l">
              <a:lnSpc>
                <a:spcPct val="100000"/>
              </a:lnSpc>
            </a:pPr>
            <a:r>
              <a:rPr sz="1100" b="1">
                <a:solidFill>
                  <a:srgbClr val="22D3EE"/>
                </a:solidFill>
                <a:latin typeface="Helvetica Neue"/>
              </a:rPr>
              <a:t>THE REVIEWER</a:t>
            </a:r>
          </a:p>
        </p:txBody>
      </p:sp>
      <p:sp>
        <p:nvSpPr>
          <p:cNvPr id="9" name="TextBox 8"/>
          <p:cNvSpPr txBox="1"/>
          <p:nvPr/>
        </p:nvSpPr>
        <p:spPr>
          <a:xfrm>
            <a:off x="7315200" y="2926080"/>
            <a:ext cx="3840480" cy="292608"/>
          </a:xfrm>
          <a:prstGeom prst="rect">
            <a:avLst/>
          </a:prstGeom>
          <a:noFill/>
        </p:spPr>
        <p:txBody>
          <a:bodyPr wrap="square">
            <a:spAutoFit/>
          </a:bodyPr>
          <a:lstStyle/>
          <a:p>
            <a:pPr algn="l">
              <a:lnSpc>
                <a:spcPct val="100000"/>
              </a:lnSpc>
            </a:pPr>
            <a:r>
              <a:rPr sz="1100" b="1">
                <a:solidFill>
                  <a:srgbClr val="22D3EE"/>
                </a:solidFill>
                <a:latin typeface="Helvetica Neue"/>
              </a:rPr>
              <a:t>THE SECURITY STAGE</a:t>
            </a:r>
          </a:p>
        </p:txBody>
      </p:sp>
      <p:sp>
        <p:nvSpPr>
          <p:cNvPr id="10" name="Rectangle 9"/>
          <p:cNvSpPr/>
          <p:nvPr/>
        </p:nvSpPr>
        <p:spPr>
          <a:xfrm>
            <a:off x="1005840" y="325526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3832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what it is</a:t>
            </a:r>
          </a:p>
        </p:txBody>
      </p:sp>
      <p:sp>
        <p:nvSpPr>
          <p:cNvPr id="12" name="TextBox 11"/>
          <p:cNvSpPr txBox="1"/>
          <p:nvPr/>
        </p:nvSpPr>
        <p:spPr>
          <a:xfrm>
            <a:off x="3474720" y="33832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a model reading the change</a:t>
            </a:r>
          </a:p>
        </p:txBody>
      </p:sp>
      <p:sp>
        <p:nvSpPr>
          <p:cNvPr id="13" name="TextBox 12"/>
          <p:cNvSpPr txBox="1"/>
          <p:nvPr/>
        </p:nvSpPr>
        <p:spPr>
          <a:xfrm>
            <a:off x="7315200" y="33832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three scanners and a fixed rule</a:t>
            </a:r>
          </a:p>
        </p:txBody>
      </p:sp>
      <p:sp>
        <p:nvSpPr>
          <p:cNvPr id="14" name="TextBox 13"/>
          <p:cNvSpPr txBox="1"/>
          <p:nvPr/>
        </p:nvSpPr>
        <p:spPr>
          <a:xfrm>
            <a:off x="1005840" y="38404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what it catches</a:t>
            </a:r>
          </a:p>
        </p:txBody>
      </p:sp>
      <p:sp>
        <p:nvSpPr>
          <p:cNvPr id="15" name="TextBox 14"/>
          <p:cNvSpPr txBox="1"/>
          <p:nvPr/>
        </p:nvSpPr>
        <p:spPr>
          <a:xfrm>
            <a:off x="3474720" y="38404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intent, logic, a plan mismatch</a:t>
            </a:r>
          </a:p>
        </p:txBody>
      </p:sp>
      <p:sp>
        <p:nvSpPr>
          <p:cNvPr id="16" name="TextBox 15"/>
          <p:cNvSpPr txBox="1"/>
          <p:nvPr/>
        </p:nvSpPr>
        <p:spPr>
          <a:xfrm>
            <a:off x="7315200" y="38404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credentials, known CVEs, unsafe code</a:t>
            </a:r>
          </a:p>
        </p:txBody>
      </p:sp>
      <p:sp>
        <p:nvSpPr>
          <p:cNvPr id="17" name="TextBox 16"/>
          <p:cNvSpPr txBox="1"/>
          <p:nvPr/>
        </p:nvSpPr>
        <p:spPr>
          <a:xfrm>
            <a:off x="1005840" y="42976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its authority</a:t>
            </a:r>
          </a:p>
        </p:txBody>
      </p:sp>
      <p:sp>
        <p:nvSpPr>
          <p:cNvPr id="18" name="TextBox 17"/>
          <p:cNvSpPr txBox="1"/>
          <p:nvPr/>
        </p:nvSpPr>
        <p:spPr>
          <a:xfrm>
            <a:off x="3474720" y="42976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advisory: it sends the change back</a:t>
            </a:r>
          </a:p>
        </p:txBody>
      </p:sp>
      <p:sp>
        <p:nvSpPr>
          <p:cNvPr id="19" name="TextBox 18"/>
          <p:cNvSpPr txBox="1"/>
          <p:nvPr/>
        </p:nvSpPr>
        <p:spPr>
          <a:xfrm>
            <a:off x="7315200" y="42976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binding: it stops the run</a:t>
            </a:r>
          </a:p>
        </p:txBody>
      </p:sp>
      <p:sp>
        <p:nvSpPr>
          <p:cNvPr id="20" name="TextBox 19"/>
          <p:cNvSpPr txBox="1"/>
          <p:nvPr/>
        </p:nvSpPr>
        <p:spPr>
          <a:xfrm>
            <a:off x="1005840" y="47548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same input twice</a:t>
            </a:r>
          </a:p>
        </p:txBody>
      </p:sp>
      <p:sp>
        <p:nvSpPr>
          <p:cNvPr id="21" name="TextBox 20"/>
          <p:cNvSpPr txBox="1"/>
          <p:nvPr/>
        </p:nvSpPr>
        <p:spPr>
          <a:xfrm>
            <a:off x="3474720" y="47548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may answer differently</a:t>
            </a:r>
          </a:p>
        </p:txBody>
      </p:sp>
      <p:sp>
        <p:nvSpPr>
          <p:cNvPr id="22" name="TextBox 21"/>
          <p:cNvSpPr txBox="1"/>
          <p:nvPr/>
        </p:nvSpPr>
        <p:spPr>
          <a:xfrm>
            <a:off x="7315200" y="47548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the same answer, always</a:t>
            </a:r>
          </a:p>
        </p:txBody>
      </p:sp>
      <p:sp>
        <p:nvSpPr>
          <p:cNvPr id="23" name="TextBox 22"/>
          <p:cNvSpPr txBox="1"/>
          <p:nvPr/>
        </p:nvSpPr>
        <p:spPr>
          <a:xfrm>
            <a:off x="1005840" y="52120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can be talked out of it</a:t>
            </a:r>
          </a:p>
        </p:txBody>
      </p:sp>
      <p:sp>
        <p:nvSpPr>
          <p:cNvPr id="24" name="TextBox 23"/>
          <p:cNvSpPr txBox="1"/>
          <p:nvPr/>
        </p:nvSpPr>
        <p:spPr>
          <a:xfrm>
            <a:off x="3474720" y="52120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yes, it reads a prompt</a:t>
            </a:r>
          </a:p>
        </p:txBody>
      </p:sp>
      <p:sp>
        <p:nvSpPr>
          <p:cNvPr id="25" name="TextBox 24"/>
          <p:cNvSpPr txBox="1"/>
          <p:nvPr/>
        </p:nvSpPr>
        <p:spPr>
          <a:xfrm>
            <a:off x="7315200" y="52120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no, no model takes part in the decision</a:t>
            </a:r>
          </a:p>
        </p:txBody>
      </p:sp>
      <p:sp>
        <p:nvSpPr>
          <p:cNvPr id="26" name="TextBox 25"/>
          <p:cNvSpPr txBox="1"/>
          <p:nvPr/>
        </p:nvSpPr>
        <p:spPr>
          <a:xfrm>
            <a:off x="1005840" y="5669280"/>
            <a:ext cx="10058400" cy="640080"/>
          </a:xfrm>
          <a:prstGeom prst="rect">
            <a:avLst/>
          </a:prstGeom>
          <a:noFill/>
        </p:spPr>
        <p:txBody>
          <a:bodyPr wrap="square">
            <a:spAutoFit/>
          </a:bodyPr>
          <a:lstStyle/>
          <a:p>
            <a:pPr algn="l">
              <a:lnSpc>
                <a:spcPct val="130000"/>
              </a:lnSpc>
            </a:pPr>
            <a:r>
              <a:rPr sz="1500" b="0">
                <a:solidFill>
                  <a:srgbClr val="E8ECF3"/>
                </a:solidFill>
                <a:latin typeface="Helvetica Neue"/>
              </a:rPr>
              <a:t>The block is built into the pipeline, not added as a status check: when security refuses, its job fails and the next gate cannot start.</a:t>
            </a:r>
          </a:p>
        </p:txBody>
      </p:sp>
      <p:sp>
        <p:nvSpPr>
          <p:cNvPr id="27" name="TextBox 26"/>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6</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26"/>
                                        </p:tgtEl>
                                        <p:attrNameLst>
                                          <p:attrName>style.visibility</p:attrName>
                                        </p:attrNameLst>
                                      </p:cBhvr>
                                      <p:to>
                                        <p:strVal val="visible"/>
                                      </p:to>
                                    </p:set>
                                    <p:animEffect transition="in" filter="fade">
                                      <p:cBhvr>
                                        <p:cTn id="14"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 · SCORING</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How a finding becomes a verdict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2377440" cy="292608"/>
          </a:xfrm>
          <a:prstGeom prst="rect">
            <a:avLst/>
          </a:prstGeom>
          <a:noFill/>
        </p:spPr>
        <p:txBody>
          <a:bodyPr wrap="square">
            <a:spAutoFit/>
          </a:bodyPr>
          <a:lstStyle/>
          <a:p>
            <a:pPr algn="l">
              <a:lnSpc>
                <a:spcPct val="100000"/>
              </a:lnSpc>
            </a:pPr>
            <a:r>
              <a:rPr sz="1100" b="1">
                <a:solidFill>
                  <a:srgbClr val="22D3EE"/>
                </a:solidFill>
                <a:latin typeface="Helvetica Neue"/>
              </a:rPr>
              <a:t>SCANNER</a:t>
            </a:r>
          </a:p>
        </p:txBody>
      </p:sp>
      <p:sp>
        <p:nvSpPr>
          <p:cNvPr id="7" name="TextBox 6"/>
          <p:cNvSpPr txBox="1"/>
          <p:nvPr/>
        </p:nvSpPr>
        <p:spPr>
          <a:xfrm>
            <a:off x="3383280" y="2148840"/>
            <a:ext cx="7772400" cy="292608"/>
          </a:xfrm>
          <a:prstGeom prst="rect">
            <a:avLst/>
          </a:prstGeom>
          <a:noFill/>
        </p:spPr>
        <p:txBody>
          <a:bodyPr wrap="square">
            <a:spAutoFit/>
          </a:bodyPr>
          <a:lstStyle/>
          <a:p>
            <a:pPr algn="l">
              <a:lnSpc>
                <a:spcPct val="100000"/>
              </a:lnSpc>
            </a:pPr>
            <a:r>
              <a:rPr sz="1100" b="1">
                <a:solidFill>
                  <a:srgbClr val="22D3EE"/>
                </a:solidFill>
                <a:latin typeface="Helvetica Neue"/>
              </a:rPr>
              <a:t>HOW ITS SEVERITY IS DECIDED</a:t>
            </a:r>
          </a:p>
        </p:txBody>
      </p:sp>
      <p:sp>
        <p:nvSpPr>
          <p:cNvPr id="8" name="Rectangle 7"/>
          <p:cNvSpPr/>
          <p:nvPr/>
        </p:nvSpPr>
        <p:spPr>
          <a:xfrm>
            <a:off x="1005840" y="247802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Semgrep</a:t>
            </a:r>
          </a:p>
        </p:txBody>
      </p:sp>
      <p:sp>
        <p:nvSpPr>
          <p:cNvPr id="10" name="TextBox 9"/>
          <p:cNvSpPr txBox="1"/>
          <p:nvPr/>
        </p:nvSpPr>
        <p:spPr>
          <a:xfrm>
            <a:off x="3383280" y="26060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its own severity, translated through one table</a:t>
            </a:r>
          </a:p>
        </p:txBody>
      </p:sp>
      <p:sp>
        <p:nvSpPr>
          <p:cNvPr id="11" name="TextBox 10"/>
          <p:cNvSpPr txBox="1"/>
          <p:nvPr/>
        </p:nvSpPr>
        <p:spPr>
          <a:xfrm>
            <a:off x="1005840" y="30632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Trivy</a:t>
            </a:r>
          </a:p>
        </p:txBody>
      </p:sp>
      <p:sp>
        <p:nvSpPr>
          <p:cNvPr id="12" name="TextBox 11"/>
          <p:cNvSpPr txBox="1"/>
          <p:nvPr/>
        </p:nvSpPr>
        <p:spPr>
          <a:xfrm>
            <a:off x="3383280" y="30632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its own severity, translated through the same table</a:t>
            </a:r>
          </a:p>
        </p:txBody>
      </p:sp>
      <p:sp>
        <p:nvSpPr>
          <p:cNvPr id="13" name="TextBox 12"/>
          <p:cNvSpPr txBox="1"/>
          <p:nvPr/>
        </p:nvSpPr>
        <p:spPr>
          <a:xfrm>
            <a:off x="1005840" y="35204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gitleaks</a:t>
            </a:r>
          </a:p>
        </p:txBody>
      </p:sp>
      <p:sp>
        <p:nvSpPr>
          <p:cNvPr id="14" name="TextBox 13"/>
          <p:cNvSpPr txBox="1"/>
          <p:nvPr/>
        </p:nvSpPr>
        <p:spPr>
          <a:xfrm>
            <a:off x="3383280" y="35204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 reports no severity, so every secret is critical, by policy</a:t>
            </a:r>
          </a:p>
        </p:txBody>
      </p:sp>
      <p:sp>
        <p:nvSpPr>
          <p:cNvPr id="15" name="TextBox 14"/>
          <p:cNvSpPr txBox="1"/>
          <p:nvPr/>
        </p:nvSpPr>
        <p:spPr>
          <a:xfrm>
            <a:off x="1005840" y="4160520"/>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One comparison decides: block when any finding is at or above the threshold.</a:t>
            </a:r>
          </a:p>
        </p:txBody>
      </p:sp>
      <p:sp>
        <p:nvSpPr>
          <p:cNvPr id="16" name="TextBox 15"/>
          <p:cNvSpPr txBox="1"/>
          <p:nvPr/>
        </p:nvSpPr>
        <p:spPr>
          <a:xfrm>
            <a:off x="1005840" y="4727448"/>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severity the table does not recognise counts as high, the blocking level, so an unknown can never pass.</a:t>
            </a:r>
          </a:p>
        </p:txBody>
      </p:sp>
      <p:sp>
        <p:nvSpPr>
          <p:cNvPr id="17" name="TextBox 16"/>
          <p:cNvSpPr txBox="1"/>
          <p:nvPr/>
        </p:nvSpPr>
        <p:spPr>
          <a:xfrm>
            <a:off x="1005840" y="5294376"/>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secret is always critical, so no threshold setting lets a committed credential through.</a:t>
            </a:r>
          </a:p>
        </p:txBody>
      </p:sp>
      <p:sp>
        <p:nvSpPr>
          <p:cNvPr id="18" name="TextBox 17"/>
          <p:cNvSpPr txBox="1"/>
          <p:nvPr/>
        </p:nvSpPr>
        <p:spPr>
          <a:xfrm>
            <a:off x="1005840" y="5861304"/>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threshold outside the allowed values is rejected, never quietly adjusted.</a:t>
            </a:r>
          </a:p>
        </p:txBody>
      </p:sp>
      <p:sp>
        <p:nvSpPr>
          <p:cNvPr id="45" name="TextBox 4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7</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15"/>
                                        </p:tgtEl>
                                        <p:attrNameLst>
                                          <p:attrName>style.visibility</p:attrName>
                                        </p:attrNameLst>
                                      </p:cBhvr>
                                      <p:to>
                                        <p:strVal val="visible"/>
                                      </p:to>
                                    </p:set>
                                    <p:animEffect transition="in" filter="fade">
                                      <p:cBhvr>
                                        <p:cTn id="14" dur="450"/>
                                        <p:tgtEl>
                                          <p:spTgt spid="1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16"/>
                                        </p:tgtEl>
                                        <p:attrNameLst>
                                          <p:attrName>style.visibility</p:attrName>
                                        </p:attrNameLst>
                                      </p:cBhvr>
                                      <p:to>
                                        <p:strVal val="visible"/>
                                      </p:to>
                                    </p:set>
                                    <p:animEffect transition="in" filter="fade">
                                      <p:cBhvr>
                                        <p:cTn id="24" dur="450"/>
                                        <p:tgtEl>
                                          <p:spTgt spid="1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17"/>
                                        </p:tgtEl>
                                        <p:attrNameLst>
                                          <p:attrName>style.visibility</p:attrName>
                                        </p:attrNameLst>
                                      </p:cBhvr>
                                      <p:to>
                                        <p:strVal val="visible"/>
                                      </p:to>
                                    </p:set>
                                    <p:animEffect transition="in" filter="fade">
                                      <p:cBhvr>
                                        <p:cTn id="34" dur="450"/>
                                        <p:tgtEl>
                                          <p:spTgt spid="1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8"/>
                                        </p:tgtEl>
                                        <p:attrNameLst>
                                          <p:attrName>style.visibility</p:attrName>
                                        </p:attrNameLst>
                                      </p:cBhvr>
                                      <p:to>
                                        <p:strVal val="visible"/>
                                      </p:to>
                                    </p:set>
                                    <p:animEffect transition="in" filter="fade">
                                      <p:cBhvr>
                                        <p:cTn id="44" dur="4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3657600" cy="274320"/>
          </a:xfrm>
          <a:prstGeom prst="rect">
            <a:avLst/>
          </a:prstGeom>
          <a:noFill/>
        </p:spPr>
        <p:txBody>
          <a:bodyPr wrap="square">
            <a:spAutoFit/>
          </a:bodyPr>
          <a:lstStyle/>
          <a:p>
            <a:pPr algn="l">
              <a:lnSpc>
                <a:spcPct val="100000"/>
              </a:lnSpc>
            </a:pPr>
            <a:r>
              <a:rPr sz="1200" b="1">
                <a:solidFill>
                  <a:srgbClr val="22D3EE"/>
                </a:solidFill>
                <a:latin typeface="Helvetica Neue"/>
              </a:rPr>
              <a:t>ARCHITECTURE</a:t>
            </a:r>
          </a:p>
        </p:txBody>
      </p:sp>
      <p:sp>
        <p:nvSpPr>
          <p:cNvPr id="4" name="TextBox 3"/>
          <p:cNvSpPr txBox="1"/>
          <p:nvPr/>
        </p:nvSpPr>
        <p:spPr>
          <a:xfrm>
            <a:off x="731520" y="566928"/>
            <a:ext cx="10698480" cy="548640"/>
          </a:xfrm>
          <a:prstGeom prst="rect">
            <a:avLst/>
          </a:prstGeom>
          <a:noFill/>
        </p:spPr>
        <p:txBody>
          <a:bodyPr wrap="square">
            <a:spAutoFit/>
          </a:bodyPr>
          <a:lstStyle/>
          <a:p>
            <a:pPr algn="l">
              <a:lnSpc>
                <a:spcPct val="100000"/>
              </a:lnSpc>
            </a:pPr>
            <a:r>
              <a:rPr sz="2600" b="1">
                <a:solidFill>
                  <a:srgbClr val="E8ECF3"/>
                </a:solidFill>
                <a:latin typeface="Helvetica Neue"/>
              </a:rPr>
              <a:t>What runs where — follow the numbers</a:t>
            </a:r>
          </a:p>
        </p:txBody>
      </p:sp>
      <p:pic>
        <p:nvPicPr>
          <p:cNvPr id="5" name="Picture 4" descr="architecture.png"/>
          <p:cNvPicPr>
            <a:picLocks noChangeAspect="1"/>
          </p:cNvPicPr>
          <p:nvPr/>
        </p:nvPicPr>
        <p:blipFill>
          <a:blip r:embed="rId2"/>
          <a:stretch>
            <a:fillRect/>
          </a:stretch>
        </p:blipFill>
        <p:spPr>
          <a:xfrm>
            <a:off x="743431" y="1243584"/>
            <a:ext cx="10704832" cy="5504688"/>
          </a:xfrm>
          <a:prstGeom prst="rect">
            <a:avLst/>
          </a:prstGeom>
        </p:spPr>
      </p:pic>
      <p:sp>
        <p:nvSpPr>
          <p:cNvPr id="6" name="TextBox 5"/>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8</a:t>
            </a:r>
          </a:p>
        </p:txBody>
      </p:sp>
    </p:spTree>
  </p:cSld>
  <p:clrMapOvr>
    <a:masterClrMapping/>
  </p:clrMapOvr>
  <p:transition spd="med">
    <p:wipe dir="l"/>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BUSINESS IMPACT</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it costs, and what it buys</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1.3–1.7¢</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model cost per change</a:t>
            </a:r>
          </a:p>
          <a:p>
            <a:pPr algn="l">
              <a:lnSpc>
                <a:spcPct val="125000"/>
              </a:lnSpc>
            </a:pPr>
            <a:r>
              <a:rPr sz="1500" b="0">
                <a:solidFill>
                  <a:srgbClr val="8B97AB"/>
                </a:solidFill>
                <a:latin typeface="Helvetica Neue"/>
              </a:rPr>
              <a:t>three measured runs</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7.88 min</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median ticket to merge</a:t>
            </a:r>
          </a:p>
          <a:p>
            <a:pPr algn="l">
              <a:lnSpc>
                <a:spcPct val="125000"/>
              </a:lnSpc>
            </a:pPr>
            <a:r>
              <a:rPr sz="1500" b="0">
                <a:solidFill>
                  <a:srgbClr val="8B97AB"/>
                </a:solidFill>
                <a:latin typeface="Helvetica Neue"/>
              </a:rPr>
              <a:t>12 merges</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0 of 12</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merged changes carrying</a:t>
            </a:r>
          </a:p>
          <a:p>
            <a:pPr algn="l">
              <a:lnSpc>
                <a:spcPct val="125000"/>
              </a:lnSpc>
            </a:pPr>
            <a:r>
              <a:rPr sz="1500" b="0">
                <a:solidFill>
                  <a:srgbClr val="8B97AB"/>
                </a:solidFill>
                <a:latin typeface="Helvetica Neue"/>
              </a:rPr>
              <a:t>a credential</a:t>
            </a:r>
          </a:p>
        </p:txBody>
      </p:sp>
      <p:sp>
        <p:nvSpPr>
          <p:cNvPr id="12" name="TextBox 11"/>
          <p:cNvSpPr txBox="1"/>
          <p:nvPr/>
        </p:nvSpPr>
        <p:spPr>
          <a:xfrm>
            <a:off x="1005840" y="4069080"/>
            <a:ext cx="10149840" cy="868680"/>
          </a:xfrm>
          <a:prstGeom prst="rect">
            <a:avLst/>
          </a:prstGeom>
          <a:noFill/>
        </p:spPr>
        <p:txBody>
          <a:bodyPr wrap="square">
            <a:spAutoFit/>
          </a:bodyPr>
          <a:lstStyle/>
          <a:p>
            <a:pPr algn="l">
              <a:lnSpc>
                <a:spcPct val="120000"/>
              </a:lnSpc>
            </a:pPr>
            <a:r>
              <a:rPr sz="1600" b="0">
                <a:solidFill>
                  <a:srgbClr val="E8ECF3"/>
                </a:solidFill>
                <a:latin typeface="Helvetica Neue"/>
              </a:rPr>
              <a:t>The model is 99.9% of what a change costs. Lambda, EventBridge and DynamoDB together came to twelve millionths of a dollar. The only cost work worth doing is prompt caching.</a:t>
            </a:r>
          </a:p>
        </p:txBody>
      </p:sp>
      <p:sp>
        <p:nvSpPr>
          <p:cNvPr id="13" name="TextBox 12"/>
          <p:cNvSpPr txBox="1"/>
          <p:nvPr/>
        </p:nvSpPr>
        <p:spPr>
          <a:xfrm>
            <a:off x="1005840" y="4937760"/>
            <a:ext cx="10149840" cy="868680"/>
          </a:xfrm>
          <a:prstGeom prst="rect">
            <a:avLst/>
          </a:prstGeom>
          <a:noFill/>
        </p:spPr>
        <p:txBody>
          <a:bodyPr wrap="square">
            <a:spAutoFit/>
          </a:bodyPr>
          <a:lstStyle/>
          <a:p>
            <a:pPr algn="l">
              <a:lnSpc>
                <a:spcPct val="120000"/>
              </a:lnSpc>
            </a:pPr>
            <a:r>
              <a:rPr sz="1600" b="0">
                <a:solidFill>
                  <a:srgbClr val="E8ECF3"/>
                </a:solidFill>
                <a:latin typeface="Helvetica Neue"/>
              </a:rPr>
              <a:t>The value is not the cents. A credential cannot reach the main branch by being approved quickly, and that refusal has no model in it.</a:t>
            </a:r>
          </a:p>
        </p:txBody>
      </p:sp>
      <p:sp>
        <p:nvSpPr>
          <p:cNvPr id="14" name="TextBox 13"/>
          <p:cNvSpPr txBox="1"/>
          <p:nvPr/>
        </p:nvSpPr>
        <p:spPr>
          <a:xfrm>
            <a:off x="1005840" y="5806440"/>
            <a:ext cx="10058400" cy="640080"/>
          </a:xfrm>
          <a:prstGeom prst="rect">
            <a:avLst/>
          </a:prstGeom>
          <a:noFill/>
        </p:spPr>
        <p:txBody>
          <a:bodyPr wrap="square">
            <a:spAutoFit/>
          </a:bodyPr>
          <a:lstStyle/>
          <a:p>
            <a:pPr algn="l">
              <a:lnSpc>
                <a:spcPct val="125000"/>
              </a:lnSpc>
            </a:pPr>
            <a:r>
              <a:rPr sz="1300" b="0">
                <a:solidFill>
                  <a:srgbClr val="8B97AB"/>
                </a:solidFill>
                <a:latin typeface="Helvetica Neue"/>
              </a:rPr>
              <a:t>12 of 57 runs merged, so the median covers the runs that finished. The same scan finds 3 credentials in unmerged pull request #72, so the zero is a real result.</a:t>
            </a:r>
          </a:p>
        </p:txBody>
      </p:sp>
      <p:sp>
        <p:nvSpPr>
          <p:cNvPr id="95" name="TextBox 9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9</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DIFFERENTIATION</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2800" b="1">
                <a:solidFill>
                  <a:srgbClr val="E8ECF3"/>
                </a:solidFill>
                <a:latin typeface="Helvetica Neue"/>
              </a:rPr>
              <a:t>Every vendor's AI review is advisory. They say so.</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017520" cy="292608"/>
          </a:xfrm>
          <a:prstGeom prst="rect">
            <a:avLst/>
          </a:prstGeom>
          <a:noFill/>
        </p:spPr>
        <p:txBody>
          <a:bodyPr wrap="square">
            <a:spAutoFit/>
          </a:bodyPr>
          <a:lstStyle/>
          <a:p>
            <a:pPr algn="l">
              <a:lnSpc>
                <a:spcPct val="100000"/>
              </a:lnSpc>
            </a:pPr>
            <a:r>
              <a:rPr sz="1100" b="1">
                <a:solidFill>
                  <a:srgbClr val="22D3EE"/>
                </a:solidFill>
                <a:latin typeface="Helvetica Neue"/>
              </a:rPr>
              <a:t>PRODUCT</a:t>
            </a:r>
          </a:p>
        </p:txBody>
      </p:sp>
      <p:sp>
        <p:nvSpPr>
          <p:cNvPr id="7" name="TextBox 6"/>
          <p:cNvSpPr txBox="1"/>
          <p:nvPr/>
        </p:nvSpPr>
        <p:spPr>
          <a:xfrm>
            <a:off x="4023360" y="2148840"/>
            <a:ext cx="7132320" cy="292608"/>
          </a:xfrm>
          <a:prstGeom prst="rect">
            <a:avLst/>
          </a:prstGeom>
          <a:noFill/>
        </p:spPr>
        <p:txBody>
          <a:bodyPr wrap="square">
            <a:spAutoFit/>
          </a:bodyPr>
          <a:lstStyle/>
          <a:p>
            <a:pPr algn="l">
              <a:lnSpc>
                <a:spcPct val="100000"/>
              </a:lnSpc>
            </a:pPr>
            <a:r>
              <a:rPr sz="1100" b="1">
                <a:solidFill>
                  <a:srgbClr val="22D3EE"/>
                </a:solidFill>
                <a:latin typeface="Helvetica Neue"/>
              </a:rPr>
              <a:t>FROM THEIR OWN DOCUMENTATION</a:t>
            </a:r>
          </a:p>
        </p:txBody>
      </p:sp>
      <p:sp>
        <p:nvSpPr>
          <p:cNvPr id="8" name="Rectangle 7"/>
          <p:cNvSpPr/>
          <p:nvPr/>
        </p:nvSpPr>
        <p:spPr>
          <a:xfrm>
            <a:off x="1005840" y="247802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GitHub Copilot review</a:t>
            </a:r>
          </a:p>
        </p:txBody>
      </p:sp>
      <p:sp>
        <p:nvSpPr>
          <p:cNvPr id="10" name="TextBox 9"/>
          <p:cNvSpPr txBox="1"/>
          <p:nvPr/>
        </p:nvSpPr>
        <p:spPr>
          <a:xfrm>
            <a:off x="4023360" y="2606040"/>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by default “a ‘Comment’ review, not … a ‘Request changes’ review”</a:t>
            </a:r>
          </a:p>
        </p:txBody>
      </p:sp>
      <p:sp>
        <p:nvSpPr>
          <p:cNvPr id="11" name="TextBox 10"/>
          <p:cNvSpPr txBox="1"/>
          <p:nvPr/>
        </p:nvSpPr>
        <p:spPr>
          <a:xfrm>
            <a:off x="1005840" y="3044952"/>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Anthropic Code Review</a:t>
            </a:r>
          </a:p>
        </p:txBody>
      </p:sp>
      <p:sp>
        <p:nvSpPr>
          <p:cNvPr id="12" name="TextBox 11"/>
          <p:cNvSpPr txBox="1"/>
          <p:nvPr/>
        </p:nvSpPr>
        <p:spPr>
          <a:xfrm>
            <a:off x="4023360" y="3044952"/>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“always completes with a neutral conclusion so it never blocks merging”</a:t>
            </a:r>
          </a:p>
        </p:txBody>
      </p:sp>
      <p:sp>
        <p:nvSpPr>
          <p:cNvPr id="13" name="TextBox 12"/>
          <p:cNvSpPr txBox="1"/>
          <p:nvPr/>
        </p:nvSpPr>
        <p:spPr>
          <a:xfrm>
            <a:off x="1005840" y="3483864"/>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OpenAI Codex</a:t>
            </a:r>
          </a:p>
        </p:txBody>
      </p:sp>
      <p:sp>
        <p:nvSpPr>
          <p:cNvPr id="14" name="TextBox 13"/>
          <p:cNvSpPr txBox="1"/>
          <p:nvPr/>
        </p:nvSpPr>
        <p:spPr>
          <a:xfrm>
            <a:off x="4023360" y="3483864"/>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“don't replace tests, branch protections, or required approvals”</a:t>
            </a:r>
          </a:p>
        </p:txBody>
      </p:sp>
      <p:sp>
        <p:nvSpPr>
          <p:cNvPr id="15" name="TextBox 14"/>
          <p:cNvSpPr txBox="1"/>
          <p:nvPr/>
        </p:nvSpPr>
        <p:spPr>
          <a:xfrm>
            <a:off x="1005840" y="3922776"/>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Cursor Bugbot</a:t>
            </a:r>
          </a:p>
        </p:txBody>
      </p:sp>
      <p:sp>
        <p:nvSpPr>
          <p:cNvPr id="16" name="TextBox 15"/>
          <p:cNvSpPr txBox="1"/>
          <p:nvPr/>
        </p:nvSpPr>
        <p:spPr>
          <a:xfrm>
            <a:off x="4023360" y="3922776"/>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findings “default to neutral”</a:t>
            </a:r>
          </a:p>
        </p:txBody>
      </p:sp>
      <p:sp>
        <p:nvSpPr>
          <p:cNvPr id="17" name="TextBox 16"/>
          <p:cNvSpPr txBox="1"/>
          <p:nvPr/>
        </p:nvSpPr>
        <p:spPr>
          <a:xfrm>
            <a:off x="1005840" y="4361688"/>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Snyk</a:t>
            </a:r>
          </a:p>
        </p:txBody>
      </p:sp>
      <p:sp>
        <p:nvSpPr>
          <p:cNvPr id="18" name="TextBox 17"/>
          <p:cNvSpPr txBox="1"/>
          <p:nvPr/>
        </p:nvSpPr>
        <p:spPr>
          <a:xfrm>
            <a:off x="4023360" y="4361688"/>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“The generator cannot be the validator.”</a:t>
            </a:r>
          </a:p>
        </p:txBody>
      </p:sp>
      <p:sp>
        <p:nvSpPr>
          <p:cNvPr id="19" name="TextBox 18"/>
          <p:cNvSpPr txBox="1"/>
          <p:nvPr/>
        </p:nvSpPr>
        <p:spPr>
          <a:xfrm>
            <a:off x="1005840" y="4983480"/>
            <a:ext cx="10058400" cy="1188720"/>
          </a:xfrm>
          <a:prstGeom prst="rect">
            <a:avLst/>
          </a:prstGeom>
          <a:noFill/>
        </p:spPr>
        <p:txBody>
          <a:bodyPr wrap="square">
            <a:spAutoFit/>
          </a:bodyPr>
          <a:lstStyle/>
          <a:p>
            <a:pPr algn="l">
              <a:lnSpc>
                <a:spcPct val="130000"/>
              </a:lnSpc>
            </a:pPr>
            <a:r>
              <a:rPr sz="1600" b="0">
                <a:solidFill>
                  <a:srgbClr val="E8ECF3"/>
                </a:solidFill>
                <a:latin typeface="Helvetica Neue"/>
              </a:rPr>
              <a:t>Some vendors do enforce rules outside the model: Claude Code's permission rules, Factory's commit blocks. The difference is where the check sits. Theirs guard one agent's actions; ours guards the hand-off between agents, with a named person approving each stage.</a:t>
            </a:r>
          </a:p>
        </p:txBody>
      </p:sp>
      <p:sp>
        <p:nvSpPr>
          <p:cNvPr id="20" name="TextBox 19"/>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10</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19"/>
                                        </p:tgtEl>
                                        <p:attrNameLst>
                                          <p:attrName>style.visibility</p:attrName>
                                        </p:attrNameLst>
                                      </p:cBhvr>
                                      <p:to>
                                        <p:strVal val="visible"/>
                                      </p:to>
                                    </p:set>
                                    <p:animEffect transition="in" filter="fade">
                                      <p:cBhvr>
                                        <p:cTn id="14"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DIFFERENTIATION</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When their check breaks, the change goes through</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Cursor hooks</a:t>
            </a:r>
          </a:p>
        </p:txBody>
      </p:sp>
      <p:sp>
        <p:nvSpPr>
          <p:cNvPr id="8" name="TextBox 7"/>
          <p:cNvSpPr txBox="1"/>
          <p:nvPr/>
        </p:nvSpPr>
        <p:spPr>
          <a:xfrm>
            <a:off x="1188720"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If a hook itself fails, the action goes ahead. Their documentation calls it “fail-open by default”.</a:t>
            </a:r>
          </a:p>
        </p:txBody>
      </p:sp>
      <p:sp>
        <p:nvSpPr>
          <p:cNvPr id="9" name="Rectangle 8"/>
          <p:cNvSpPr/>
          <p:nvPr/>
        </p:nvSpPr>
        <p:spPr>
          <a:xfrm>
            <a:off x="4468368"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1248"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Claude Code hooks</a:t>
            </a:r>
          </a:p>
        </p:txBody>
      </p:sp>
      <p:sp>
        <p:nvSpPr>
          <p:cNvPr id="11" name="TextBox 10"/>
          <p:cNvSpPr txBox="1"/>
          <p:nvPr/>
        </p:nvSpPr>
        <p:spPr>
          <a:xfrm>
            <a:off x="4651248"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Only one specific failure blocks; any other lets the action through. Their documentation: “a mistyped path in settings.json leaves the gate silently disabled”.</a:t>
            </a:r>
          </a:p>
        </p:txBody>
      </p:sp>
      <p:sp>
        <p:nvSpPr>
          <p:cNvPr id="12" name="Rectangle 11"/>
          <p:cNvSpPr/>
          <p:nvPr/>
        </p:nvSpPr>
        <p:spPr>
          <a:xfrm>
            <a:off x="7930896"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3776"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Semgrep</a:t>
            </a:r>
          </a:p>
        </p:txBody>
      </p:sp>
      <p:sp>
        <p:nvSpPr>
          <p:cNvPr id="14" name="TextBox 13"/>
          <p:cNvSpPr txBox="1"/>
          <p:nvPr/>
        </p:nvSpPr>
        <p:spPr>
          <a:xfrm>
            <a:off x="8113776"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By default, if the scanner crashes it still reports success, so a crash reads like a clean scan.</a:t>
            </a:r>
          </a:p>
        </p:txBody>
      </p:sp>
      <p:sp>
        <p:nvSpPr>
          <p:cNvPr id="15" name="TextBox 14"/>
          <p:cNvSpPr txBox="1"/>
          <p:nvPr/>
        </p:nvSpPr>
        <p:spPr>
          <a:xfrm>
            <a:off x="1005840" y="4709160"/>
            <a:ext cx="10058400" cy="1097280"/>
          </a:xfrm>
          <a:prstGeom prst="rect">
            <a:avLst/>
          </a:prstGeom>
          <a:noFill/>
        </p:spPr>
        <p:txBody>
          <a:bodyPr wrap="square">
            <a:spAutoFit/>
          </a:bodyPr>
          <a:lstStyle/>
          <a:p>
            <a:pPr algn="l">
              <a:lnSpc>
                <a:spcPct val="135000"/>
              </a:lnSpc>
            </a:pPr>
            <a:r>
              <a:rPr sz="1800" b="0">
                <a:solidFill>
                  <a:srgbClr val="E8ECF3"/>
                </a:solidFill>
                <a:latin typeface="Helvetica Neue"/>
              </a:rPr>
              <a:t>A check that did not run, reading as a check that passed. That is the failure this project is built to refuse: in our pipeline a missing or crashed scanner blocks the change.</a:t>
            </a:r>
          </a:p>
        </p:txBody>
      </p:sp>
      <p:sp>
        <p:nvSpPr>
          <p:cNvPr id="105" name="TextBox 10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11</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is built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2182</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automated tests</a:t>
            </a:r>
          </a:p>
          <a:p>
            <a:pPr algn="l">
              <a:lnSpc>
                <a:spcPct val="125000"/>
              </a:lnSpc>
            </a:pPr>
            <a:r>
              <a:rPr sz="1500" b="0">
                <a:solidFill>
                  <a:srgbClr val="8B97AB"/>
                </a:solidFill>
                <a:latin typeface="Helvetica Neue"/>
              </a:rPr>
              <a:t>across 96 files</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338</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more for the web app</a:t>
            </a:r>
          </a:p>
          <a:p>
            <a:pPr algn="l">
              <a:lnSpc>
                <a:spcPct val="125000"/>
              </a:lnSpc>
            </a:pPr>
            <a:r>
              <a:rPr sz="1500" b="0">
                <a:solidFill>
                  <a:srgbClr val="8B97AB"/>
                </a:solidFill>
                <a:latin typeface="Helvetica Neue"/>
              </a:rPr>
              <a:t>across 26 files</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v56</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five agent runtimes</a:t>
            </a:r>
          </a:p>
          <a:p>
            <a:pPr algn="l">
              <a:lnSpc>
                <a:spcPct val="125000"/>
              </a:lnSpc>
            </a:pPr>
            <a:r>
              <a:rPr sz="1500" b="0">
                <a:solidFill>
                  <a:srgbClr val="8B97AB"/>
                </a:solidFill>
                <a:latin typeface="Helvetica Neue"/>
              </a:rPr>
              <a:t>all ready, one version</a:t>
            </a:r>
          </a:p>
        </p:txBody>
      </p:sp>
      <p:sp>
        <p:nvSpPr>
          <p:cNvPr id="12" name="Rectangle 11"/>
          <p:cNvSpPr/>
          <p:nvPr/>
        </p:nvSpPr>
        <p:spPr>
          <a:xfrm>
            <a:off x="1005840"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Running in the cloud</a:t>
            </a:r>
          </a:p>
        </p:txBody>
      </p:sp>
      <p:sp>
        <p:nvSpPr>
          <p:cNvPr id="14" name="TextBox 13"/>
          <p:cNvSpPr txBox="1"/>
          <p:nvPr/>
        </p:nvSpPr>
        <p:spPr>
          <a:xfrm>
            <a:off x="1188720"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An issue triggers a Lambda, an event bus starts the pipeline, five runtimes answer, and three gates wait for a person.</a:t>
            </a:r>
          </a:p>
        </p:txBody>
      </p:sp>
      <p:sp>
        <p:nvSpPr>
          <p:cNvPr id="15" name="Rectangle 14"/>
          <p:cNvSpPr/>
          <p:nvPr/>
        </p:nvSpPr>
        <p:spPr>
          <a:xfrm>
            <a:off x="4468368"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248"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A product, not a script</a:t>
            </a:r>
          </a:p>
        </p:txBody>
      </p:sp>
      <p:sp>
        <p:nvSpPr>
          <p:cNvPr id="17" name="TextBox 16"/>
          <p:cNvSpPr txBox="1"/>
          <p:nvPr/>
        </p:nvSpPr>
        <p:spPr>
          <a:xfrm>
            <a:off x="4651248"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Sign in, pick a repository, start a run, watch each stage, approve a gate, read the cost.</a:t>
            </a:r>
          </a:p>
        </p:txBody>
      </p:sp>
      <p:sp>
        <p:nvSpPr>
          <p:cNvPr id="18" name="Rectangle 17"/>
          <p:cNvSpPr/>
          <p:nvPr/>
        </p:nvSpPr>
        <p:spPr>
          <a:xfrm>
            <a:off x="7930896"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13776"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Multi-tenant</a:t>
            </a:r>
          </a:p>
        </p:txBody>
      </p:sp>
      <p:sp>
        <p:nvSpPr>
          <p:cNvPr id="20" name="TextBox 19"/>
          <p:cNvSpPr txBox="1"/>
          <p:nvPr/>
        </p:nvSpPr>
        <p:spPr>
          <a:xfrm>
            <a:off x="8113776"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Each customer's data sits in its own partition, and AWS itself refuses a read of anyone else's.</a:t>
            </a:r>
          </a:p>
        </p:txBody>
      </p:sp>
      <p:sp>
        <p:nvSpPr>
          <p:cNvPr id="155" name="TextBox 15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12</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16"/>
                                        </p:tgtEl>
                                        <p:attrNameLst>
                                          <p:attrName>style.visibility</p:attrName>
                                        </p:attrNameLst>
                                      </p:cBhvr>
                                      <p:to>
                                        <p:strVal val="visible"/>
                                      </p:to>
                                    </p:set>
                                    <p:animEffect transition="in" filter="fade">
                                      <p:cBhvr>
                                        <p:cTn id="114" dur="450"/>
                                        <p:tgtEl>
                                          <p:spTgt spid="16"/>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17"/>
                                        </p:tgtEl>
                                        <p:attrNameLst>
                                          <p:attrName>style.visibility</p:attrName>
                                        </p:attrNameLst>
                                      </p:cBhvr>
                                      <p:to>
                                        <p:strVal val="visible"/>
                                      </p:to>
                                    </p:set>
                                    <p:animEffect transition="in" filter="fade">
                                      <p:cBhvr>
                                        <p:cTn id="124" dur="450"/>
                                        <p:tgtEl>
                                          <p:spTgt spid="17"/>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18"/>
                                        </p:tgtEl>
                                        <p:attrNameLst>
                                          <p:attrName>style.visibility</p:attrName>
                                        </p:attrNameLst>
                                      </p:cBhvr>
                                      <p:to>
                                        <p:strVal val="visible"/>
                                      </p:to>
                                    </p:set>
                                    <p:animEffect transition="in" filter="fade">
                                      <p:cBhvr>
                                        <p:cTn id="134" dur="450"/>
                                        <p:tgtEl>
                                          <p:spTgt spid="18"/>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19"/>
                                        </p:tgtEl>
                                        <p:attrNameLst>
                                          <p:attrName>style.visibility</p:attrName>
                                        </p:attrNameLst>
                                      </p:cBhvr>
                                      <p:to>
                                        <p:strVal val="visible"/>
                                      </p:to>
                                    </p:set>
                                    <p:animEffect transition="in" filter="fade">
                                      <p:cBhvr>
                                        <p:cTn id="144" dur="450"/>
                                        <p:tgtEl>
                                          <p:spTgt spid="19"/>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0"/>
                                        </p:tgtEl>
                                        <p:attrNameLst>
                                          <p:attrName>style.visibility</p:attrName>
                                        </p:attrNameLst>
                                      </p:cBhvr>
                                      <p:to>
                                        <p:strVal val="visible"/>
                                      </p:to>
                                    </p:set>
                                    <p:animEffect transition="in" filter="fade">
                                      <p:cBhvr>
                                        <p:cTn id="154"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Your ten notes from the pre-final</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3474720" cy="292608"/>
          </a:xfrm>
          <a:prstGeom prst="rect">
            <a:avLst/>
          </a:prstGeom>
          <a:noFill/>
        </p:spPr>
        <p:txBody>
          <a:bodyPr wrap="square">
            <a:spAutoFit/>
          </a:bodyPr>
          <a:lstStyle/>
          <a:p>
            <a:pPr algn="l">
              <a:lnSpc>
                <a:spcPct val="100000"/>
              </a:lnSpc>
            </a:pPr>
            <a:r>
              <a:rPr sz="1100" b="1">
                <a:solidFill>
                  <a:srgbClr val="22D3EE"/>
                </a:solidFill>
                <a:latin typeface="Helvetica Neue"/>
              </a:rPr>
              <a:t>WHAT YOU ASKED FOR</a:t>
            </a:r>
          </a:p>
        </p:txBody>
      </p:sp>
      <p:sp>
        <p:nvSpPr>
          <p:cNvPr id="7" name="TextBox 6"/>
          <p:cNvSpPr txBox="1"/>
          <p:nvPr/>
        </p:nvSpPr>
        <p:spPr>
          <a:xfrm>
            <a:off x="4480560" y="2103120"/>
            <a:ext cx="6675120" cy="292608"/>
          </a:xfrm>
          <a:prstGeom prst="rect">
            <a:avLst/>
          </a:prstGeom>
          <a:noFill/>
        </p:spPr>
        <p:txBody>
          <a:bodyPr wrap="square">
            <a:spAutoFit/>
          </a:bodyPr>
          <a:lstStyle/>
          <a:p>
            <a:pPr algn="l">
              <a:lnSpc>
                <a:spcPct val="100000"/>
              </a:lnSpc>
            </a:pPr>
            <a:r>
              <a:rPr sz="1100" b="1">
                <a:solidFill>
                  <a:srgbClr val="22D3EE"/>
                </a:solidFill>
                <a:latin typeface="Helvetica Neue"/>
              </a:rPr>
              <a:t>WHAT EXISTS NOW</a:t>
            </a:r>
          </a:p>
        </p:txBody>
      </p:sp>
      <p:sp>
        <p:nvSpPr>
          <p:cNvPr id="8" name="Rectangle 7"/>
          <p:cNvSpPr/>
          <p:nvPr/>
        </p:nvSpPr>
        <p:spPr>
          <a:xfrm>
            <a:off x="1005840" y="243230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560320"/>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Evaluation criteria</a:t>
            </a:r>
          </a:p>
        </p:txBody>
      </p:sp>
      <p:sp>
        <p:nvSpPr>
          <p:cNvPr id="10" name="TextBox 9"/>
          <p:cNvSpPr txBox="1"/>
          <p:nvPr/>
        </p:nvSpPr>
        <p:spPr>
          <a:xfrm>
            <a:off x="4480560" y="2560320"/>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measured before and after: plan-mismatch catches went 6/8 → 8/8</a:t>
            </a:r>
          </a:p>
        </p:txBody>
      </p:sp>
      <p:sp>
        <p:nvSpPr>
          <p:cNvPr id="11" name="TextBox 10"/>
          <p:cNvSpPr txBox="1"/>
          <p:nvPr/>
        </p:nvSpPr>
        <p:spPr>
          <a:xfrm>
            <a:off x="1005840" y="2944368"/>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Time and cost vs a coding agent</a:t>
            </a:r>
          </a:p>
        </p:txBody>
      </p:sp>
      <p:sp>
        <p:nvSpPr>
          <p:cNvPr id="12" name="TextBox 11"/>
          <p:cNvSpPr txBox="1"/>
          <p:nvPr/>
        </p:nvSpPr>
        <p:spPr>
          <a:xfrm>
            <a:off x="4480560" y="2944368"/>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1.3–1.7¢ of model time per change, priced from the AWS Pricing API</a:t>
            </a:r>
          </a:p>
        </p:txBody>
      </p:sp>
      <p:sp>
        <p:nvSpPr>
          <p:cNvPr id="13" name="TextBox 12"/>
          <p:cNvSpPr txBox="1"/>
          <p:nvPr/>
        </p:nvSpPr>
        <p:spPr>
          <a:xfrm>
            <a:off x="1005840" y="3328416"/>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External dependency</a:t>
            </a:r>
          </a:p>
        </p:txBody>
      </p:sp>
      <p:sp>
        <p:nvSpPr>
          <p:cNvPr id="14" name="TextBox 13"/>
          <p:cNvSpPr txBox="1"/>
          <p:nvPr/>
        </p:nvSpPr>
        <p:spPr>
          <a:xfrm>
            <a:off x="4480560" y="3328416"/>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8 of 83 modules touch a vendor SDK; 2 load one at start-up</a:t>
            </a:r>
          </a:p>
        </p:txBody>
      </p:sp>
      <p:sp>
        <p:nvSpPr>
          <p:cNvPr id="15" name="TextBox 14"/>
          <p:cNvSpPr txBox="1"/>
          <p:nvPr/>
        </p:nvSpPr>
        <p:spPr>
          <a:xfrm>
            <a:off x="1005840" y="3712464"/>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Self-hosted</a:t>
            </a:r>
          </a:p>
        </p:txBody>
      </p:sp>
      <p:sp>
        <p:nvSpPr>
          <p:cNvPr id="16" name="TextBox 15"/>
          <p:cNvSpPr txBox="1"/>
          <p:nvPr/>
        </p:nvSpPr>
        <p:spPr>
          <a:xfrm>
            <a:off x="4480560" y="3712464"/>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one compose file runs the web app, the API, the worker and a local model</a:t>
            </a:r>
          </a:p>
        </p:txBody>
      </p:sp>
      <p:sp>
        <p:nvSpPr>
          <p:cNvPr id="17" name="TextBox 16"/>
          <p:cNvSpPr txBox="1"/>
          <p:nvPr/>
        </p:nvSpPr>
        <p:spPr>
          <a:xfrm>
            <a:off x="1005840" y="4096512"/>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Competitive advantage</a:t>
            </a:r>
          </a:p>
        </p:txBody>
      </p:sp>
      <p:sp>
        <p:nvSpPr>
          <p:cNvPr id="18" name="TextBox 17"/>
          <p:cNvSpPr txBox="1"/>
          <p:nvPr/>
        </p:nvSpPr>
        <p:spPr>
          <a:xfrm>
            <a:off x="4480560" y="4096512"/>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commissioned research, which disproved five of our own claims</a:t>
            </a:r>
          </a:p>
        </p:txBody>
      </p:sp>
      <p:sp>
        <p:nvSpPr>
          <p:cNvPr id="19" name="TextBox 18"/>
          <p:cNvSpPr txBox="1"/>
          <p:nvPr/>
        </p:nvSpPr>
        <p:spPr>
          <a:xfrm>
            <a:off x="1005840" y="4480560"/>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Scanner scoring → go / no-go</a:t>
            </a:r>
          </a:p>
        </p:txBody>
      </p:sp>
      <p:sp>
        <p:nvSpPr>
          <p:cNvPr id="20" name="TextBox 19"/>
          <p:cNvSpPr txBox="1"/>
          <p:nvPr/>
        </p:nvSpPr>
        <p:spPr>
          <a:xfrm>
            <a:off x="4480560" y="4480560"/>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one scoring table for all three scanners, built because of this note</a:t>
            </a:r>
          </a:p>
        </p:txBody>
      </p:sp>
      <p:sp>
        <p:nvSpPr>
          <p:cNvPr id="21" name="TextBox 20"/>
          <p:cNvSpPr txBox="1"/>
          <p:nvPr/>
        </p:nvSpPr>
        <p:spPr>
          <a:xfrm>
            <a:off x="1005840" y="4864608"/>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Generated tests + Selenium</a:t>
            </a:r>
          </a:p>
        </p:txBody>
      </p:sp>
      <p:sp>
        <p:nvSpPr>
          <p:cNvPr id="22" name="TextBox 21"/>
          <p:cNvSpPr txBox="1"/>
          <p:nvPr/>
        </p:nvSpPr>
        <p:spPr>
          <a:xfrm>
            <a:off x="4480560" y="4864608"/>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an agent writes tests from the ticket; Selenium runs in CI</a:t>
            </a:r>
          </a:p>
        </p:txBody>
      </p:sp>
      <p:sp>
        <p:nvSpPr>
          <p:cNvPr id="23" name="TextBox 22"/>
          <p:cNvSpPr txBox="1"/>
          <p:nvPr/>
        </p:nvSpPr>
        <p:spPr>
          <a:xfrm>
            <a:off x="1005840" y="5248656"/>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RAG / knowledge lake</a:t>
            </a:r>
          </a:p>
        </p:txBody>
      </p:sp>
      <p:sp>
        <p:nvSpPr>
          <p:cNvPr id="24" name="TextBox 23"/>
          <p:cNvSpPr txBox="1"/>
          <p:nvPr/>
        </p:nvSpPr>
        <p:spPr>
          <a:xfrm>
            <a:off x="4480560" y="5248656"/>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three curated knowledge bases, used by four of the agents</a:t>
            </a:r>
          </a:p>
        </p:txBody>
      </p:sp>
      <p:sp>
        <p:nvSpPr>
          <p:cNvPr id="25" name="TextBox 24"/>
          <p:cNvSpPr txBox="1"/>
          <p:nvPr/>
        </p:nvSpPr>
        <p:spPr>
          <a:xfrm>
            <a:off x="1005840" y="5632704"/>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A real UI</a:t>
            </a:r>
          </a:p>
        </p:txBody>
      </p:sp>
      <p:sp>
        <p:nvSpPr>
          <p:cNvPr id="26" name="TextBox 25"/>
          <p:cNvSpPr txBox="1"/>
          <p:nvPr/>
        </p:nvSpPr>
        <p:spPr>
          <a:xfrm>
            <a:off x="4480560" y="5632704"/>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sign-in, a live view of each run, gate approval, and cost</a:t>
            </a:r>
          </a:p>
        </p:txBody>
      </p:sp>
      <p:sp>
        <p:nvSpPr>
          <p:cNvPr id="27" name="TextBox 26"/>
          <p:cNvSpPr txBox="1"/>
          <p:nvPr/>
        </p:nvSpPr>
        <p:spPr>
          <a:xfrm>
            <a:off x="1005840" y="6016752"/>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Restructure as SaaS</a:t>
            </a:r>
          </a:p>
        </p:txBody>
      </p:sp>
      <p:sp>
        <p:nvSpPr>
          <p:cNvPr id="28" name="TextBox 27"/>
          <p:cNvSpPr txBox="1"/>
          <p:nvPr/>
        </p:nvSpPr>
        <p:spPr>
          <a:xfrm>
            <a:off x="4480560" y="6016752"/>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multi-tenant, with a control-plane API and per-tenant isolation</a:t>
            </a:r>
          </a:p>
        </p:txBody>
      </p:sp>
      <p:sp>
        <p:nvSpPr>
          <p:cNvPr id="29" name="TextBox 28"/>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13</a:t>
            </a:r>
          </a:p>
        </p:txBody>
      </p:sp>
    </p:spTree>
  </p:cSld>
  <p:clrMapOvr>
    <a:masterClrMapping/>
  </p:clrMapOvr>
  <p:transition spd="med">
    <p:wipe dir="l"/>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 · LIMITS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What this does not do</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640080" cy="365760"/>
          </a:xfrm>
          <a:prstGeom prst="rect">
            <a:avLst/>
          </a:prstGeom>
          <a:noFill/>
        </p:spPr>
        <p:txBody>
          <a:bodyPr wrap="square">
            <a:spAutoFit/>
          </a:bodyPr>
          <a:lstStyle/>
          <a:p>
            <a:pPr algn="l">
              <a:lnSpc>
                <a:spcPct val="120000"/>
              </a:lnSpc>
            </a:pPr>
            <a:r>
              <a:rPr sz="1500" b="1">
                <a:solidFill>
                  <a:srgbClr val="22D3EE"/>
                </a:solidFill>
                <a:latin typeface="Menlo"/>
              </a:rPr>
              <a:t>01</a:t>
            </a:r>
          </a:p>
        </p:txBody>
      </p:sp>
      <p:sp>
        <p:nvSpPr>
          <p:cNvPr id="7" name="TextBox 6"/>
          <p:cNvSpPr txBox="1"/>
          <p:nvPr/>
        </p:nvSpPr>
        <p:spPr>
          <a:xfrm>
            <a:off x="1737360" y="2103120"/>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An admin can bypass a gate</a:t>
            </a:r>
          </a:p>
        </p:txBody>
      </p:sp>
      <p:sp>
        <p:nvSpPr>
          <p:cNvPr id="8" name="TextBox 7"/>
          <p:cNvSpPr txBox="1"/>
          <p:nvPr/>
        </p:nvSpPr>
        <p:spPr>
          <a:xfrm>
            <a:off x="5852160" y="2103120"/>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A repository setting, not a code path. Our pre-flight check reports it on every run.</a:t>
            </a:r>
          </a:p>
        </p:txBody>
      </p:sp>
      <p:sp>
        <p:nvSpPr>
          <p:cNvPr id="9" name="TextBox 8"/>
          <p:cNvSpPr txBox="1"/>
          <p:nvPr/>
        </p:nvSpPr>
        <p:spPr>
          <a:xfrm>
            <a:off x="1005840" y="3127248"/>
            <a:ext cx="640080" cy="365760"/>
          </a:xfrm>
          <a:prstGeom prst="rect">
            <a:avLst/>
          </a:prstGeom>
          <a:noFill/>
        </p:spPr>
        <p:txBody>
          <a:bodyPr wrap="square">
            <a:spAutoFit/>
          </a:bodyPr>
          <a:lstStyle/>
          <a:p>
            <a:pPr algn="l">
              <a:lnSpc>
                <a:spcPct val="120000"/>
              </a:lnSpc>
            </a:pPr>
            <a:r>
              <a:rPr sz="1500" b="1">
                <a:solidFill>
                  <a:srgbClr val="22D3EE"/>
                </a:solidFill>
                <a:latin typeface="Menlo"/>
              </a:rPr>
              <a:t>02</a:t>
            </a:r>
          </a:p>
        </p:txBody>
      </p:sp>
      <p:sp>
        <p:nvSpPr>
          <p:cNvPr id="10" name="TextBox 9"/>
          <p:cNvSpPr txBox="1"/>
          <p:nvPr/>
        </p:nvSpPr>
        <p:spPr>
          <a:xfrm>
            <a:off x="1737360" y="3127248"/>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The reviewer is advisory</a:t>
            </a:r>
          </a:p>
        </p:txBody>
      </p:sp>
      <p:sp>
        <p:nvSpPr>
          <p:cNvPr id="11" name="TextBox 10"/>
          <p:cNvSpPr txBox="1"/>
          <p:nvPr/>
        </p:nvSpPr>
        <p:spPr>
          <a:xfrm>
            <a:off x="5852160" y="3127248"/>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If the scanners miss something, only the reviewer saw it, and it cannot stop the run. The human gates are the last line.</a:t>
            </a:r>
          </a:p>
        </p:txBody>
      </p:sp>
      <p:sp>
        <p:nvSpPr>
          <p:cNvPr id="12" name="TextBox 11"/>
          <p:cNvSpPr txBox="1"/>
          <p:nvPr/>
        </p:nvSpPr>
        <p:spPr>
          <a:xfrm>
            <a:off x="1005840" y="4151376"/>
            <a:ext cx="640080" cy="365760"/>
          </a:xfrm>
          <a:prstGeom prst="rect">
            <a:avLst/>
          </a:prstGeom>
          <a:noFill/>
        </p:spPr>
        <p:txBody>
          <a:bodyPr wrap="square">
            <a:spAutoFit/>
          </a:bodyPr>
          <a:lstStyle/>
          <a:p>
            <a:pPr algn="l">
              <a:lnSpc>
                <a:spcPct val="120000"/>
              </a:lnSpc>
            </a:pPr>
            <a:r>
              <a:rPr sz="1500" b="1">
                <a:solidFill>
                  <a:srgbClr val="22D3EE"/>
                </a:solidFill>
                <a:latin typeface="Menlo"/>
              </a:rPr>
              <a:t>03</a:t>
            </a:r>
          </a:p>
        </p:txBody>
      </p:sp>
      <p:sp>
        <p:nvSpPr>
          <p:cNvPr id="13" name="TextBox 12"/>
          <p:cNvSpPr txBox="1"/>
          <p:nvPr/>
        </p:nvSpPr>
        <p:spPr>
          <a:xfrm>
            <a:off x="1737360" y="4151376"/>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One language, three scanners</a:t>
            </a:r>
          </a:p>
        </p:txBody>
      </p:sp>
      <p:sp>
        <p:nvSpPr>
          <p:cNvPr id="14" name="TextBox 13"/>
          <p:cNvSpPr txBox="1"/>
          <p:nvPr/>
        </p:nvSpPr>
        <p:spPr>
          <a:xfrm>
            <a:off x="5852160" y="4151376"/>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One Python target today. Breadth is where every competitor is ahead.</a:t>
            </a:r>
          </a:p>
        </p:txBody>
      </p:sp>
      <p:sp>
        <p:nvSpPr>
          <p:cNvPr id="15" name="TextBox 14"/>
          <p:cNvSpPr txBox="1"/>
          <p:nvPr/>
        </p:nvSpPr>
        <p:spPr>
          <a:xfrm>
            <a:off x="1005840" y="5175504"/>
            <a:ext cx="640080" cy="365760"/>
          </a:xfrm>
          <a:prstGeom prst="rect">
            <a:avLst/>
          </a:prstGeom>
          <a:noFill/>
        </p:spPr>
        <p:txBody>
          <a:bodyPr wrap="square">
            <a:spAutoFit/>
          </a:bodyPr>
          <a:lstStyle/>
          <a:p>
            <a:pPr algn="l">
              <a:lnSpc>
                <a:spcPct val="120000"/>
              </a:lnSpc>
            </a:pPr>
            <a:r>
              <a:rPr sz="1500" b="1">
                <a:solidFill>
                  <a:srgbClr val="22D3EE"/>
                </a:solidFill>
                <a:latin typeface="Menlo"/>
              </a:rPr>
              <a:t>04</a:t>
            </a:r>
          </a:p>
        </p:txBody>
      </p:sp>
      <p:sp>
        <p:nvSpPr>
          <p:cNvPr id="16" name="TextBox 15"/>
          <p:cNvSpPr txBox="1"/>
          <p:nvPr/>
        </p:nvSpPr>
        <p:spPr>
          <a:xfrm>
            <a:off x="1737360" y="5175504"/>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The change is carried, not applied</a:t>
            </a:r>
          </a:p>
        </p:txBody>
      </p:sp>
      <p:sp>
        <p:nvSpPr>
          <p:cNvPr id="17" name="TextBox 16"/>
          <p:cNvSpPr txBox="1"/>
          <p:nvPr/>
        </p:nvSpPr>
        <p:spPr>
          <a:xfrm>
            <a:off x="5852160" y="5175504"/>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A merged pull request carries the reviewed diff as a file. Applying it to the source is next.</a:t>
            </a:r>
          </a:p>
        </p:txBody>
      </p:sp>
      <p:sp>
        <p:nvSpPr>
          <p:cNvPr id="85" name="TextBox 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14</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0"/>
                                        </p:tgtEl>
                                        <p:attrNameLst>
                                          <p:attrName>style.visibility</p:attrName>
                                        </p:attrNameLst>
                                      </p:cBhvr>
                                      <p:to>
                                        <p:strVal val="visible"/>
                                      </p:to>
                                    </p:set>
                                    <p:animEffect transition="in" filter="fade">
                                      <p:cBhvr>
                                        <p:cTn id="44" dur="45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3"/>
                                        </p:tgtEl>
                                        <p:attrNameLst>
                                          <p:attrName>style.visibility</p:attrName>
                                        </p:attrNameLst>
                                      </p:cBhvr>
                                      <p:to>
                                        <p:strVal val="visible"/>
                                      </p:to>
                                    </p:set>
                                    <p:animEffect transition="in" filter="fade">
                                      <p:cBhvr>
                                        <p:cTn id="64" dur="450"/>
                                        <p:tgtEl>
                                          <p:spTgt spid="1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6"/>
                                        </p:tgtEl>
                                        <p:attrNameLst>
                                          <p:attrName>style.visibility</p:attrName>
                                        </p:attrNameLst>
                                      </p:cBhvr>
                                      <p:to>
                                        <p:strVal val="visible"/>
                                      </p:to>
                                    </p:set>
                                    <p:animEffect transition="in" filter="fade">
                                      <p:cBhvr>
                                        <p:cTn id="8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FUTURE WORK</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is next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640080" cy="365760"/>
          </a:xfrm>
          <a:prstGeom prst="rect">
            <a:avLst/>
          </a:prstGeom>
          <a:noFill/>
        </p:spPr>
        <p:txBody>
          <a:bodyPr wrap="square">
            <a:spAutoFit/>
          </a:bodyPr>
          <a:lstStyle/>
          <a:p>
            <a:pPr algn="l">
              <a:lnSpc>
                <a:spcPct val="120000"/>
              </a:lnSpc>
            </a:pPr>
            <a:r>
              <a:rPr sz="1500" b="1">
                <a:solidFill>
                  <a:srgbClr val="22D3EE"/>
                </a:solidFill>
                <a:latin typeface="Menlo"/>
              </a:rPr>
              <a:t>01</a:t>
            </a:r>
          </a:p>
        </p:txBody>
      </p:sp>
      <p:sp>
        <p:nvSpPr>
          <p:cNvPr id="7" name="TextBox 6"/>
          <p:cNvSpPr txBox="1"/>
          <p:nvPr/>
        </p:nvSpPr>
        <p:spPr>
          <a:xfrm>
            <a:off x="1737360" y="2103120"/>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Apply the change, not just carry it</a:t>
            </a:r>
          </a:p>
        </p:txBody>
      </p:sp>
      <p:sp>
        <p:nvSpPr>
          <p:cNvPr id="8" name="TextBox 7"/>
          <p:cNvSpPr txBox="1"/>
          <p:nvPr/>
        </p:nvSpPr>
        <p:spPr>
          <a:xfrm>
            <a:off x="5852160" y="2103120"/>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Today a merged pull request carries the reviewed diff as a file. Applying it to the source is next, and lets a generated test run against the change.</a:t>
            </a:r>
          </a:p>
        </p:txBody>
      </p:sp>
      <p:sp>
        <p:nvSpPr>
          <p:cNvPr id="9" name="TextBox 8"/>
          <p:cNvSpPr txBox="1"/>
          <p:nvPr/>
        </p:nvSpPr>
        <p:spPr>
          <a:xfrm>
            <a:off x="1005840" y="3127248"/>
            <a:ext cx="640080" cy="365760"/>
          </a:xfrm>
          <a:prstGeom prst="rect">
            <a:avLst/>
          </a:prstGeom>
          <a:noFill/>
        </p:spPr>
        <p:txBody>
          <a:bodyPr wrap="square">
            <a:spAutoFit/>
          </a:bodyPr>
          <a:lstStyle/>
          <a:p>
            <a:pPr algn="l">
              <a:lnSpc>
                <a:spcPct val="120000"/>
              </a:lnSpc>
            </a:pPr>
            <a:r>
              <a:rPr sz="1500" b="1">
                <a:solidFill>
                  <a:srgbClr val="22D3EE"/>
                </a:solidFill>
                <a:latin typeface="Menlo"/>
              </a:rPr>
              <a:t>02</a:t>
            </a:r>
          </a:p>
        </p:txBody>
      </p:sp>
      <p:sp>
        <p:nvSpPr>
          <p:cNvPr id="10" name="TextBox 9"/>
          <p:cNvSpPr txBox="1"/>
          <p:nvPr/>
        </p:nvSpPr>
        <p:spPr>
          <a:xfrm>
            <a:off x="1737360" y="3127248"/>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Join the two test layers</a:t>
            </a:r>
          </a:p>
        </p:txBody>
      </p:sp>
      <p:sp>
        <p:nvSpPr>
          <p:cNvPr id="11" name="TextBox 10"/>
          <p:cNvSpPr txBox="1"/>
          <p:nvPr/>
        </p:nvSpPr>
        <p:spPr>
          <a:xfrm>
            <a:off x="5852160" y="3127248"/>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Tests are generated from each ticket and Selenium runs in CI; neither checks the other yet.</a:t>
            </a:r>
          </a:p>
        </p:txBody>
      </p:sp>
      <p:sp>
        <p:nvSpPr>
          <p:cNvPr id="12" name="TextBox 11"/>
          <p:cNvSpPr txBox="1"/>
          <p:nvPr/>
        </p:nvSpPr>
        <p:spPr>
          <a:xfrm>
            <a:off x="1005840" y="4151376"/>
            <a:ext cx="640080" cy="365760"/>
          </a:xfrm>
          <a:prstGeom prst="rect">
            <a:avLst/>
          </a:prstGeom>
          <a:noFill/>
        </p:spPr>
        <p:txBody>
          <a:bodyPr wrap="square">
            <a:spAutoFit/>
          </a:bodyPr>
          <a:lstStyle/>
          <a:p>
            <a:pPr algn="l">
              <a:lnSpc>
                <a:spcPct val="120000"/>
              </a:lnSpc>
            </a:pPr>
            <a:r>
              <a:rPr sz="1500" b="1">
                <a:solidFill>
                  <a:srgbClr val="22D3EE"/>
                </a:solidFill>
                <a:latin typeface="Menlo"/>
              </a:rPr>
              <a:t>03</a:t>
            </a:r>
          </a:p>
        </p:txBody>
      </p:sp>
      <p:sp>
        <p:nvSpPr>
          <p:cNvPr id="13" name="TextBox 12"/>
          <p:cNvSpPr txBox="1"/>
          <p:nvPr/>
        </p:nvSpPr>
        <p:spPr>
          <a:xfrm>
            <a:off x="1737360" y="4151376"/>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Prompt caching</a:t>
            </a:r>
          </a:p>
        </p:txBody>
      </p:sp>
      <p:sp>
        <p:nvSpPr>
          <p:cNvPr id="14" name="TextBox 13"/>
          <p:cNvSpPr txBox="1"/>
          <p:nvPr/>
        </p:nvSpPr>
        <p:spPr>
          <a:xfrm>
            <a:off x="5852160" y="4151376"/>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Nothing is cached today: every agent re-sends the same repository snapshot at full price. Cached input costs a quarter as much.</a:t>
            </a:r>
          </a:p>
        </p:txBody>
      </p:sp>
      <p:sp>
        <p:nvSpPr>
          <p:cNvPr id="15" name="TextBox 14"/>
          <p:cNvSpPr txBox="1"/>
          <p:nvPr/>
        </p:nvSpPr>
        <p:spPr>
          <a:xfrm>
            <a:off x="1005840" y="5175504"/>
            <a:ext cx="640080" cy="365760"/>
          </a:xfrm>
          <a:prstGeom prst="rect">
            <a:avLst/>
          </a:prstGeom>
          <a:noFill/>
        </p:spPr>
        <p:txBody>
          <a:bodyPr wrap="square">
            <a:spAutoFit/>
          </a:bodyPr>
          <a:lstStyle/>
          <a:p>
            <a:pPr algn="l">
              <a:lnSpc>
                <a:spcPct val="120000"/>
              </a:lnSpc>
            </a:pPr>
            <a:r>
              <a:rPr sz="1500" b="1">
                <a:solidFill>
                  <a:srgbClr val="22D3EE"/>
                </a:solidFill>
                <a:latin typeface="Menlo"/>
              </a:rPr>
              <a:t>04</a:t>
            </a:r>
          </a:p>
        </p:txBody>
      </p:sp>
      <p:sp>
        <p:nvSpPr>
          <p:cNvPr id="16" name="TextBox 15"/>
          <p:cNvSpPr txBox="1"/>
          <p:nvPr/>
        </p:nvSpPr>
        <p:spPr>
          <a:xfrm>
            <a:off x="1737360" y="5175504"/>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More languages, more scanners</a:t>
            </a:r>
          </a:p>
        </p:txBody>
      </p:sp>
      <p:sp>
        <p:nvSpPr>
          <p:cNvPr id="17" name="TextBox 16"/>
          <p:cNvSpPr txBox="1"/>
          <p:nvPr/>
        </p:nvSpPr>
        <p:spPr>
          <a:xfrm>
            <a:off x="5852160" y="5175504"/>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One Python target and three scanners today. The scoring is a table, so a new scanner is one row.</a:t>
            </a:r>
          </a:p>
        </p:txBody>
      </p:sp>
      <p:sp>
        <p:nvSpPr>
          <p:cNvPr id="85" name="TextBox 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15</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0"/>
                                        </p:tgtEl>
                                        <p:attrNameLst>
                                          <p:attrName>style.visibility</p:attrName>
                                        </p:attrNameLst>
                                      </p:cBhvr>
                                      <p:to>
                                        <p:strVal val="visible"/>
                                      </p:to>
                                    </p:set>
                                    <p:animEffect transition="in" filter="fade">
                                      <p:cBhvr>
                                        <p:cTn id="44" dur="45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3"/>
                                        </p:tgtEl>
                                        <p:attrNameLst>
                                          <p:attrName>style.visibility</p:attrName>
                                        </p:attrNameLst>
                                      </p:cBhvr>
                                      <p:to>
                                        <p:strVal val="visible"/>
                                      </p:to>
                                    </p:set>
                                    <p:animEffect transition="in" filter="fade">
                                      <p:cBhvr>
                                        <p:cTn id="64" dur="450"/>
                                        <p:tgtEl>
                                          <p:spTgt spid="1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6"/>
                                        </p:tgtEl>
                                        <p:attrNameLst>
                                          <p:attrName>style.visibility</p:attrName>
                                        </p:attrNameLst>
                                      </p:cBhvr>
                                      <p:to>
                                        <p:strVal val="visible"/>
                                      </p:to>
                                    </p:set>
                                    <p:animEffect transition="in" filter="fade">
                                      <p:cBhvr>
                                        <p:cTn id="8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10149840" cy="822960"/>
          </a:xfrm>
          <a:prstGeom prst="rect">
            <a:avLst/>
          </a:prstGeom>
          <a:noFill/>
        </p:spPr>
        <p:txBody>
          <a:bodyPr wrap="square">
            <a:spAutoFit/>
          </a:bodyPr>
          <a:lstStyle/>
          <a:p>
            <a:pPr algn="l">
              <a:lnSpc>
                <a:spcPct val="120000"/>
              </a:lnSpc>
            </a:pPr>
            <a:r>
              <a:rPr sz="4400" b="1">
                <a:solidFill>
                  <a:srgbClr val="E8ECF3"/>
                </a:solidFill>
                <a:latin typeface="Helvetica Neue"/>
              </a:rPr>
              <a:t>The demonstration</a:t>
            </a:r>
          </a:p>
        </p:txBody>
      </p:sp>
      <p:sp>
        <p:nvSpPr>
          <p:cNvPr id="5" name="deckkit-rule"/>
          <p:cNvSpPr/>
          <p:nvPr/>
        </p:nvSpPr>
        <p:spPr>
          <a:xfrm>
            <a:off x="1005840" y="2834640"/>
            <a:ext cx="201168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028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915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plan</a:t>
            </a:r>
          </a:p>
        </p:txBody>
      </p:sp>
      <p:sp>
        <p:nvSpPr>
          <p:cNvPr id="9" name="Oval 8"/>
          <p:cNvSpPr/>
          <p:nvPr/>
        </p:nvSpPr>
        <p:spPr>
          <a:xfrm>
            <a:off x="2610612" y="338328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4348" y="346100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360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gate1</a:t>
            </a:r>
          </a:p>
        </p:txBody>
      </p:sp>
      <p:sp>
        <p:nvSpPr>
          <p:cNvPr id="12" name="Oval 11"/>
          <p:cNvSpPr/>
          <p:nvPr/>
        </p:nvSpPr>
        <p:spPr>
          <a:xfrm>
            <a:off x="376580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67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136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develop</a:t>
            </a:r>
          </a:p>
        </p:txBody>
      </p:sp>
      <p:sp>
        <p:nvSpPr>
          <p:cNvPr id="15" name="Oval 14"/>
          <p:cNvSpPr/>
          <p:nvPr/>
        </p:nvSpPr>
        <p:spPr>
          <a:xfrm>
            <a:off x="489356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243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review</a:t>
            </a:r>
          </a:p>
        </p:txBody>
      </p:sp>
      <p:sp>
        <p:nvSpPr>
          <p:cNvPr id="18" name="Oval 17"/>
          <p:cNvSpPr/>
          <p:nvPr/>
        </p:nvSpPr>
        <p:spPr>
          <a:xfrm>
            <a:off x="6021324" y="3383280"/>
            <a:ext cx="118872" cy="118872"/>
          </a:xfrm>
          <a:prstGeom prst="ellipse">
            <a:avLst/>
          </a:prstGeom>
          <a:solidFill>
            <a:srgbClr val="FB7185"/>
          </a:solidFill>
          <a:ln w="254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0196" y="3433572"/>
            <a:ext cx="1008888"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1688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security</a:t>
            </a:r>
          </a:p>
        </p:txBody>
      </p:sp>
      <p:sp>
        <p:nvSpPr>
          <p:cNvPr id="21" name="Oval 20"/>
          <p:cNvSpPr/>
          <p:nvPr/>
        </p:nvSpPr>
        <p:spPr>
          <a:xfrm>
            <a:off x="7121652" y="3383280"/>
            <a:ext cx="173736" cy="173736"/>
          </a:xfrm>
          <a:prstGeom prst="ellipse">
            <a:avLst/>
          </a:prstGeom>
          <a:solidFill>
            <a:srgbClr val="0B0F1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95388" y="3461004"/>
            <a:ext cx="954024"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4464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gate2</a:t>
            </a:r>
          </a:p>
        </p:txBody>
      </p:sp>
      <p:sp>
        <p:nvSpPr>
          <p:cNvPr id="24" name="Oval 23"/>
          <p:cNvSpPr/>
          <p:nvPr/>
        </p:nvSpPr>
        <p:spPr>
          <a:xfrm>
            <a:off x="8276844" y="3383280"/>
            <a:ext cx="118872" cy="118872"/>
          </a:xfrm>
          <a:prstGeom prst="ellipse">
            <a:avLst/>
          </a:prstGeom>
          <a:solidFill>
            <a:srgbClr val="1F293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5716" y="3433572"/>
            <a:ext cx="1008888"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sre</a:t>
            </a:r>
          </a:p>
        </p:txBody>
      </p:sp>
      <p:sp>
        <p:nvSpPr>
          <p:cNvPr id="27" name="Oval 26"/>
          <p:cNvSpPr/>
          <p:nvPr/>
        </p:nvSpPr>
        <p:spPr>
          <a:xfrm>
            <a:off x="9377172" y="3383280"/>
            <a:ext cx="173736" cy="173736"/>
          </a:xfrm>
          <a:prstGeom prst="ellipse">
            <a:avLst/>
          </a:prstGeom>
          <a:solidFill>
            <a:srgbClr val="0B0F1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50908" y="3461004"/>
            <a:ext cx="954024"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016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gate3</a:t>
            </a:r>
          </a:p>
        </p:txBody>
      </p:sp>
      <p:sp>
        <p:nvSpPr>
          <p:cNvPr id="30" name="Oval 29"/>
          <p:cNvSpPr/>
          <p:nvPr/>
        </p:nvSpPr>
        <p:spPr>
          <a:xfrm>
            <a:off x="10532364" y="3383280"/>
            <a:ext cx="118872" cy="118872"/>
          </a:xfrm>
          <a:prstGeom prst="ellipse">
            <a:avLst/>
          </a:prstGeom>
          <a:solidFill>
            <a:srgbClr val="1F293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792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promote</a:t>
            </a:r>
          </a:p>
        </p:txBody>
      </p:sp>
      <p:sp>
        <p:nvSpPr>
          <p:cNvPr id="32" name="TextBox 31"/>
          <p:cNvSpPr txBox="1"/>
          <p:nvPr/>
        </p:nvSpPr>
        <p:spPr>
          <a:xfrm>
            <a:off x="1005840" y="4206240"/>
            <a:ext cx="10058400" cy="731520"/>
          </a:xfrm>
          <a:prstGeom prst="rect">
            <a:avLst/>
          </a:prstGeom>
          <a:noFill/>
        </p:spPr>
        <p:txBody>
          <a:bodyPr wrap="square">
            <a:spAutoFit/>
          </a:bodyPr>
          <a:lstStyle/>
          <a:p>
            <a:pPr algn="l">
              <a:lnSpc>
                <a:spcPct val="130000"/>
              </a:lnSpc>
            </a:pPr>
            <a:r>
              <a:rPr sz="1700" b="0">
                <a:solidFill>
                  <a:srgbClr val="8B97AB"/>
                </a:solidFill>
                <a:latin typeface="Helvetica Neue"/>
              </a:rPr>
              <a:t>A real ticket: pin an old version of a library for a legacy system. Nothing is planted and no demo flag is set. Trivy finds a known vulnerability, the run stops at the security stage, and nothing after it runs.</a:t>
            </a:r>
          </a:p>
        </p:txBody>
      </p:sp>
      <p:sp>
        <p:nvSpPr>
          <p:cNvPr id="33" name="TextBox 32"/>
          <p:cNvSpPr txBox="1"/>
          <p:nvPr/>
        </p:nvSpPr>
        <p:spPr>
          <a:xfrm>
            <a:off x="1005840" y="5120640"/>
            <a:ext cx="10058400" cy="731520"/>
          </a:xfrm>
          <a:prstGeom prst="rect">
            <a:avLst/>
          </a:prstGeom>
          <a:noFill/>
        </p:spPr>
        <p:txBody>
          <a:bodyPr wrap="square">
            <a:spAutoFit/>
          </a:bodyPr>
          <a:lstStyle/>
          <a:p>
            <a:pPr algn="l">
              <a:lnSpc>
                <a:spcPct val="130000"/>
              </a:lnSpc>
            </a:pPr>
            <a:r>
              <a:rPr sz="1500" b="0">
                <a:solidFill>
                  <a:srgbClr val="E8ECF3"/>
                </a:solidFill>
                <a:latin typeface="Helvetica Neue"/>
              </a:rPr>
              <a:t>Watch the threshold: the high-severity finding stops the run, and the medium ones do not. The same comparison, per scanner, is on the screen.</a:t>
            </a:r>
          </a:p>
        </p:txBody>
      </p:sp>
      <p:sp>
        <p:nvSpPr>
          <p:cNvPr id="185" name="TextBox 1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8"/>
                                        </p:tgtEl>
                                        <p:attrNameLst>
                                          <p:attrName>style.visibility</p:attrName>
                                        </p:attrNameLst>
                                      </p:cBhvr>
                                      <p:to>
                                        <p:strVal val="visible"/>
                                      </p:to>
                                    </p:set>
                                    <p:animEffect transition="in" filter="fade">
                                      <p:cBhvr>
                                        <p:cTn id="24" dur="45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1"/>
                                        </p:tgtEl>
                                        <p:attrNameLst>
                                          <p:attrName>style.visibility</p:attrName>
                                        </p:attrNameLst>
                                      </p:cBhvr>
                                      <p:to>
                                        <p:strVal val="visible"/>
                                      </p:to>
                                    </p:set>
                                    <p:animEffect transition="in" filter="fade">
                                      <p:cBhvr>
                                        <p:cTn id="44" dur="45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4"/>
                                        </p:tgtEl>
                                        <p:attrNameLst>
                                          <p:attrName>style.visibility</p:attrName>
                                        </p:attrNameLst>
                                      </p:cBhvr>
                                      <p:to>
                                        <p:strVal val="visible"/>
                                      </p:to>
                                    </p:set>
                                    <p:animEffect transition="in" filter="fade">
                                      <p:cBhvr>
                                        <p:cTn id="64" dur="450"/>
                                        <p:tgtEl>
                                          <p:spTgt spid="1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7"/>
                                        </p:tgtEl>
                                        <p:attrNameLst>
                                          <p:attrName>style.visibility</p:attrName>
                                        </p:attrNameLst>
                                      </p:cBhvr>
                                      <p:to>
                                        <p:strVal val="visible"/>
                                      </p:to>
                                    </p:set>
                                    <p:animEffect transition="in" filter="fade">
                                      <p:cBhvr>
                                        <p:cTn id="84" dur="450"/>
                                        <p:tgtEl>
                                          <p:spTgt spid="17"/>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8"/>
                                        </p:tgtEl>
                                        <p:attrNameLst>
                                          <p:attrName>style.visibility</p:attrName>
                                        </p:attrNameLst>
                                      </p:cBhvr>
                                      <p:to>
                                        <p:strVal val="visible"/>
                                      </p:to>
                                    </p:set>
                                    <p:animEffect transition="in" filter="fade">
                                      <p:cBhvr>
                                        <p:cTn id="94" dur="450"/>
                                        <p:tgtEl>
                                          <p:spTgt spid="18"/>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20"/>
                                        </p:tgtEl>
                                        <p:attrNameLst>
                                          <p:attrName>style.visibility</p:attrName>
                                        </p:attrNameLst>
                                      </p:cBhvr>
                                      <p:to>
                                        <p:strVal val="visible"/>
                                      </p:to>
                                    </p:set>
                                    <p:animEffect transition="in" filter="fade">
                                      <p:cBhvr>
                                        <p:cTn id="104" dur="450"/>
                                        <p:tgtEl>
                                          <p:spTgt spid="20"/>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21"/>
                                        </p:tgtEl>
                                        <p:attrNameLst>
                                          <p:attrName>style.visibility</p:attrName>
                                        </p:attrNameLst>
                                      </p:cBhvr>
                                      <p:to>
                                        <p:strVal val="visible"/>
                                      </p:to>
                                    </p:set>
                                    <p:animEffect transition="in" filter="fade">
                                      <p:cBhvr>
                                        <p:cTn id="114" dur="450"/>
                                        <p:tgtEl>
                                          <p:spTgt spid="2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23"/>
                                        </p:tgtEl>
                                        <p:attrNameLst>
                                          <p:attrName>style.visibility</p:attrName>
                                        </p:attrNameLst>
                                      </p:cBhvr>
                                      <p:to>
                                        <p:strVal val="visible"/>
                                      </p:to>
                                    </p:set>
                                    <p:animEffect transition="in" filter="fade">
                                      <p:cBhvr>
                                        <p:cTn id="124" dur="450"/>
                                        <p:tgtEl>
                                          <p:spTgt spid="23"/>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24"/>
                                        </p:tgtEl>
                                        <p:attrNameLst>
                                          <p:attrName>style.visibility</p:attrName>
                                        </p:attrNameLst>
                                      </p:cBhvr>
                                      <p:to>
                                        <p:strVal val="visible"/>
                                      </p:to>
                                    </p:set>
                                    <p:animEffect transition="in" filter="fade">
                                      <p:cBhvr>
                                        <p:cTn id="134" dur="450"/>
                                        <p:tgtEl>
                                          <p:spTgt spid="24"/>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26"/>
                                        </p:tgtEl>
                                        <p:attrNameLst>
                                          <p:attrName>style.visibility</p:attrName>
                                        </p:attrNameLst>
                                      </p:cBhvr>
                                      <p:to>
                                        <p:strVal val="visible"/>
                                      </p:to>
                                    </p:set>
                                    <p:animEffect transition="in" filter="fade">
                                      <p:cBhvr>
                                        <p:cTn id="144" dur="450"/>
                                        <p:tgtEl>
                                          <p:spTgt spid="26"/>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7"/>
                                        </p:tgtEl>
                                        <p:attrNameLst>
                                          <p:attrName>style.visibility</p:attrName>
                                        </p:attrNameLst>
                                      </p:cBhvr>
                                      <p:to>
                                        <p:strVal val="visible"/>
                                      </p:to>
                                    </p:set>
                                    <p:animEffect transition="in" filter="fade">
                                      <p:cBhvr>
                                        <p:cTn id="154" dur="450"/>
                                        <p:tgtEl>
                                          <p:spTgt spid="27"/>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9"/>
                                        </p:tgtEl>
                                        <p:attrNameLst>
                                          <p:attrName>style.visibility</p:attrName>
                                        </p:attrNameLst>
                                      </p:cBhvr>
                                      <p:to>
                                        <p:strVal val="visible"/>
                                      </p:to>
                                    </p:set>
                                    <p:animEffect transition="in" filter="fade">
                                      <p:cBhvr>
                                        <p:cTn id="164" dur="450"/>
                                        <p:tgtEl>
                                          <p:spTgt spid="29"/>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grpId="0" nodeType="afterEffect">
                                  <p:stCondLst>
                                    <p:cond delay="0"/>
                                  </p:stCondLst>
                                  <p:childTnLst>
                                    <p:set>
                                      <p:cBhvr>
                                        <p:cTn id="173" dur="1" fill="hold"/>
                                        <p:tgtEl>
                                          <p:spTgt spid="30"/>
                                        </p:tgtEl>
                                        <p:attrNameLst>
                                          <p:attrName>style.visibility</p:attrName>
                                        </p:attrNameLst>
                                      </p:cBhvr>
                                      <p:to>
                                        <p:strVal val="visible"/>
                                      </p:to>
                                    </p:set>
                                    <p:animEffect transition="in" filter="fade">
                                      <p:cBhvr>
                                        <p:cTn id="174" dur="450"/>
                                        <p:tgtEl>
                                          <p:spTgt spid="30"/>
                                        </p:tgtEl>
                                      </p:cBhvr>
                                    </p:animEffect>
                                  </p:childTnLst>
                                </p:cTn>
                              </p:par>
                            </p:childTnLst>
                          </p:cTn>
                        </p:par>
                      </p:childTnLst>
                    </p:cTn>
                  </p:par>
                  <p:par>
                    <p:cTn id="180" fill="hold">
                      <p:stCondLst>
                        <p:cond delay="indefinite"/>
                      </p:stCondLst>
                      <p:childTnLst>
                        <p:par>
                          <p:cTn id="181" fill="hold">
                            <p:stCondLst>
                              <p:cond delay="0"/>
                            </p:stCondLst>
                            <p:childTnLst>
                              <p:par>
                                <p:cTn id="182" presetID="10" presetClass="entr" presetSubtype="0" fill="hold" grpId="0" nodeType="afterEffect">
                                  <p:stCondLst>
                                    <p:cond delay="0"/>
                                  </p:stCondLst>
                                  <p:childTnLst>
                                    <p:set>
                                      <p:cBhvr>
                                        <p:cTn id="183" dur="1" fill="hold"/>
                                        <p:tgtEl>
                                          <p:spTgt spid="31"/>
                                        </p:tgtEl>
                                        <p:attrNameLst>
                                          <p:attrName>style.visibility</p:attrName>
                                        </p:attrNameLst>
                                      </p:cBhvr>
                                      <p:to>
                                        <p:strVal val="visible"/>
                                      </p:to>
                                    </p:set>
                                    <p:animEffect transition="in" filter="fade">
                                      <p:cBhvr>
                                        <p:cTn id="1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149840" cy="914400"/>
          </a:xfrm>
          <a:prstGeom prst="rect">
            <a:avLst/>
          </a:prstGeom>
          <a:noFill/>
        </p:spPr>
        <p:txBody>
          <a:bodyPr wrap="square">
            <a:spAutoFit/>
          </a:bodyPr>
          <a:lstStyle/>
          <a:p>
            <a:pPr algn="l">
              <a:lnSpc>
                <a:spcPct val="120000"/>
              </a:lnSpc>
            </a:pPr>
            <a:r>
              <a:rPr sz="4800" b="1">
                <a:solidFill>
                  <a:srgbClr val="E8ECF3"/>
                </a:solidFill>
                <a:latin typeface="Helvetica Neue"/>
              </a:rPr>
              <a:t>Thank you</a:t>
            </a:r>
          </a:p>
        </p:txBody>
      </p:sp>
      <p:sp>
        <p:nvSpPr>
          <p:cNvPr id="5" name="deckkit-rule"/>
          <p:cNvSpPr/>
          <p:nvPr/>
        </p:nvSpPr>
        <p:spPr>
          <a:xfrm>
            <a:off x="1005840" y="3200400"/>
            <a:ext cx="201168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57600"/>
            <a:ext cx="5486400" cy="594360"/>
          </a:xfrm>
          <a:prstGeom prst="rect">
            <a:avLst/>
          </a:prstGeom>
          <a:noFill/>
        </p:spPr>
        <p:txBody>
          <a:bodyPr wrap="square">
            <a:spAutoFit/>
          </a:bodyPr>
          <a:lstStyle/>
          <a:p>
            <a:pPr algn="l">
              <a:lnSpc>
                <a:spcPct val="120000"/>
              </a:lnSpc>
            </a:pPr>
            <a:r>
              <a:rPr sz="2800" b="1">
                <a:solidFill>
                  <a:srgbClr val="22D3EE"/>
                </a:solidFill>
                <a:latin typeface="Helvetica Neue"/>
              </a:rPr>
              <a:t>Questions</a:t>
            </a:r>
          </a:p>
        </p:txBody>
      </p:sp>
      <p:sp>
        <p:nvSpPr>
          <p:cNvPr id="7" name="TextBox 6"/>
          <p:cNvSpPr txBox="1"/>
          <p:nvPr/>
        </p:nvSpPr>
        <p:spPr>
          <a:xfrm>
            <a:off x="1005840" y="5577840"/>
            <a:ext cx="10149840" cy="914400"/>
          </a:xfrm>
          <a:prstGeom prst="rect">
            <a:avLst/>
          </a:prstGeom>
          <a:noFill/>
        </p:spPr>
        <p:txBody>
          <a:bodyPr wrap="square">
            <a:spAutoFit/>
          </a:bodyPr>
          <a:lstStyle/>
          <a:p>
            <a:pPr algn="l">
              <a:lnSpc>
                <a:spcPct val="140000"/>
              </a:lnSpc>
            </a:pPr>
            <a:r>
              <a:rPr sz="1500" b="0">
                <a:solidFill>
                  <a:srgbClr val="8B97AB"/>
                </a:solidFill>
                <a:latin typeface="Helvetica Neue"/>
              </a:rPr>
              <a:t>theagentorg.rosettacloud.app</a:t>
            </a:r>
          </a:p>
          <a:p>
            <a:pPr algn="l">
              <a:lnSpc>
                <a:spcPct val="140000"/>
              </a:lnSpc>
            </a:pPr>
            <a:r>
              <a:rPr sz="1500" b="0">
                <a:solidFill>
                  <a:srgbClr val="8B97AB"/>
                </a:solidFill>
                <a:latin typeface="Helvetica Neue"/>
              </a:rPr>
              <a:t>DevOps Hackathon Finals 2026 · TD63 RosettaTeam</a:t>
            </a:r>
          </a:p>
        </p:txBody>
      </p:sp>
      <p:sp>
        <p:nvSpPr>
          <p:cNvPr id="8" name="TextBox 7"/>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17</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