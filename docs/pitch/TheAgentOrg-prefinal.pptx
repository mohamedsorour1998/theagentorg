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1A1F2B"/>
                </a:solidFill>
                <a:latin typeface="Helvetica Neue"/>
              </a:rPr>
              <a:t>THE AGENT 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27248"/>
            <a:ext cx="23774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93008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6B7485"/>
                </a:solidFill>
                <a:latin typeface="Helvetica Neue"/>
              </a:rPr>
              <a:t>AI agents that ship code the way an engineering team does —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6B7485"/>
                </a:solidFill>
                <a:latin typeface="Helvetica Neue"/>
              </a:rPr>
              <a:t>with a safety check they cannot argue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485"/>
                </a:solidFill>
                <a:latin typeface="Helvetica Neue"/>
              </a:rPr>
              <a:t>RosettaTeam   ·   DevOps Hackathon, pre-final evaluation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485"/>
                </a:solidFill>
                <a:latin typeface="Helvetica Neue"/>
              </a:rPr>
              <a:t>25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1A1F2B"/>
                </a:solidFill>
                <a:latin typeface="Helvetica Neue"/>
              </a:rPr>
              <a:t>AI writes code faster than anyone</a:t>
            </a:r>
          </a:p>
          <a:p>
            <a:pPr algn="l">
              <a:lnSpc>
                <a:spcPct val="106000"/>
              </a:lnSpc>
            </a:pPr>
            <a:r>
              <a:rPr sz="3600" b="1">
                <a:solidFill>
                  <a:srgbClr val="1A1F2B"/>
                </a:solidFill>
                <a:latin typeface="Helvetica Neue"/>
              </a:rPr>
              <a:t>can review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487168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Teams are already letting AI agents open pull requests.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Review is the bottleneck — so the temptation is to trust and merge.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256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We built that unchecked pipeline first, on purpose, to see what happens.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C84B3A"/>
                </a:solidFill>
                <a:latin typeface="Helvetica Neue"/>
              </a:rPr>
              <a:t>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25312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Helvetica Neue"/>
              </a:rPr>
              <a:t>changes carrying hardcoded cloud credentials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Helvetica Neue"/>
              </a:rPr>
              <a:t>were merged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84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A1F2B"/>
                </a:solidFill>
                <a:latin typeface="Helvetica Neue"/>
              </a:rPr>
              <a:t>And nobody noticed.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828800" cy="38100"/>
          </a:xfrm>
          <a:prstGeom prst="rect">
            <a:avLst/>
          </a:prstGeom>
          <a:solidFill>
            <a:srgbClr val="C84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1A1F2B"/>
                </a:solidFill>
                <a:latin typeface="Helvetica Neue"/>
              </a:rPr>
              <a:t>Every job passed. Every dashboard was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1A1F2B"/>
                </a:solidFill>
                <a:latin typeface="Helvetica Neue"/>
              </a:rPr>
              <a:t>The credential reached the main branch and the pipeline reported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1A1F2B"/>
                </a:solidFill>
                <a:latin typeface="Helvetica Neue"/>
              </a:rPr>
              <a:t>A check that never ran looks exactly like a check that passed.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1A1F2B"/>
                </a:solidFill>
                <a:latin typeface="Helvetica Neue"/>
              </a:rPr>
              <a:t>So we gave the agents an organisation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6B7485"/>
                </a:solidFill>
                <a:latin typeface="Helvetica Neue"/>
              </a:rPr>
              <a:t>A ticket walks the same path it would in a real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880360"/>
            <a:ext cx="1783080" cy="786384"/>
          </a:xfrm>
          <a:prstGeom prst="rect">
            <a:avLst/>
          </a:prstGeom>
          <a:solidFill>
            <a:srgbClr val="FAF8F5"/>
          </a:solidFill>
          <a:ln w="158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F6E6E"/>
                </a:solidFill>
                <a:latin typeface="Helvetica Neue"/>
              </a:rPr>
              <a:t>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1" y="2880360"/>
            <a:ext cx="1783080" cy="786384"/>
          </a:xfrm>
          <a:prstGeom prst="rect">
            <a:avLst/>
          </a:prstGeom>
          <a:solidFill>
            <a:srgbClr val="FAF8F5"/>
          </a:solidFill>
          <a:ln w="158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F6E6E"/>
                </a:solidFill>
                <a:latin typeface="Helvetica Neue"/>
              </a:rPr>
              <a:t>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02" y="2880360"/>
            <a:ext cx="1783080" cy="786384"/>
          </a:xfrm>
          <a:prstGeom prst="rect">
            <a:avLst/>
          </a:prstGeom>
          <a:solidFill>
            <a:srgbClr val="FAF8F5"/>
          </a:solidFill>
          <a:ln w="158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F6E6E"/>
                </a:solidFill>
                <a:latin typeface="Helvetica Neue"/>
              </a:rPr>
              <a:t>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333" y="2880360"/>
            <a:ext cx="1783080" cy="786384"/>
          </a:xfrm>
          <a:prstGeom prst="rect">
            <a:avLst/>
          </a:prstGeom>
          <a:solidFill>
            <a:srgbClr val="FAF8F5"/>
          </a:solidFill>
          <a:ln w="158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F6E6E"/>
                </a:solidFill>
                <a:latin typeface="Helvetica Neue"/>
              </a:rPr>
              <a:t>SCAN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4" y="2880360"/>
            <a:ext cx="1783080" cy="786384"/>
          </a:xfrm>
          <a:prstGeom prst="rect">
            <a:avLst/>
          </a:prstGeom>
          <a:solidFill>
            <a:srgbClr val="FAF8F5"/>
          </a:solidFill>
          <a:ln w="15875">
            <a:solidFill>
              <a:srgbClr val="0F6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F6E6E"/>
                </a:solidFill>
                <a:latin typeface="Helvetica Neue"/>
              </a:rPr>
              <a:t>RELEASE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94760"/>
            <a:ext cx="10241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485"/>
                </a:solidFill>
                <a:latin typeface="Helvetica Neue"/>
              </a:rPr>
              <a:t>human approval              human approval              human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262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F2B"/>
                </a:solidFill>
                <a:latin typeface="Helvetica Neue"/>
              </a:rPr>
              <a:t>Five specialist agents: they plan, write, critique, scan and sign off.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663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F2B"/>
                </a:solidFill>
                <a:latin typeface="Helvetica Neue"/>
              </a:rPr>
              <a:t>Three points where a named human must approve before anything moves.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806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F2B"/>
                </a:solidFill>
                <a:latin typeface="Helvetica Neue"/>
              </a:rPr>
              <a:t>And a safety check that is ordinary arithmetic, not judgement.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1A1F2B"/>
                </a:solidFill>
                <a:latin typeface="Helvetica Neue"/>
              </a:rPr>
              <a:t>The safety check cannot be persuaded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Real scanners read the change and report what they find.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A fixed severity threshold decides: at or above it, the change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That decision is arithmetic. There is nothing in it to convince.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0F6E6E"/>
                </a:solidFill>
                <a:latin typeface="Helvetica Neue"/>
              </a:rPr>
              <a:t>We tried talking it out of a block. The reply insisted the change was safe and the scanners were wrong — and the change stayed blocked, because those words were never part of the decision.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1A1F2B"/>
                </a:solidFill>
                <a:latin typeface="Helvetica Neue"/>
              </a:rPr>
              <a:t>Cloud-native, start to finish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0F6E6E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1A1F2B"/>
                </a:solidFill>
                <a:latin typeface="Helvetica Neue"/>
              </a:rPr>
              <a:t>A ticket is opened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7485"/>
                </a:solidFill>
                <a:latin typeface="Helvetica Neue"/>
              </a:rPr>
              <a:t>a GitHub issue — the only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0F6E6E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99923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1A1F2B"/>
                </a:solidFill>
                <a:latin typeface="Helvetica Neue"/>
              </a:rPr>
              <a:t>Signed and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99923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7485"/>
                </a:solidFill>
                <a:latin typeface="Helvetica Neue"/>
              </a:rPr>
              <a:t>authenticated before anything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0F6E6E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1246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1A1F2B"/>
                </a:solidFill>
                <a:latin typeface="Helvetica Neue"/>
              </a:rPr>
              <a:t>Routed to the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7124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7485"/>
                </a:solidFill>
                <a:latin typeface="Helvetica Neue"/>
              </a:rPr>
              <a:t>an event bus, with a dead-letter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256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0F6E6E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256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1A1F2B"/>
                </a:solidFill>
                <a:latin typeface="Helvetica Neue"/>
              </a:rPr>
              <a:t>Five agents, five runtimes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4256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7485"/>
                </a:solidFill>
                <a:latin typeface="Helvetica Neue"/>
              </a:rPr>
              <a:t>each isolated, all from one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38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0F6E6E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138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1A1F2B"/>
                </a:solidFill>
                <a:latin typeface="Helvetica Neue"/>
              </a:rPr>
              <a:t>Three approval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1389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7485"/>
                </a:solidFill>
                <a:latin typeface="Helvetica Neue"/>
              </a:rPr>
              <a:t>the run pauses until a human 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0F6E6E"/>
                </a:solidFill>
                <a:latin typeface="Helvetica Neue"/>
              </a:rPr>
              <a:t>20 infrastructure resources, all defined as code   ·   no long-lived cloud credentials anywhere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1A1F2B"/>
                </a:solidFill>
                <a:latin typeface="Helvetica Neue"/>
              </a:rPr>
              <a:t>The humans are not a formality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Each gate is a platform-level approval, not a step the pipeline can skip.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284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Until someone clicks, the next stage does not exist — it is never queued.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65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Refusing is recorded on the ticket: who refused, and when.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0F6E6E"/>
                </a:solidFill>
                <a:latin typeface="Helvetica Neue"/>
              </a:rPr>
              <a:t>When the safety check stops a change, the stages after it are never created. There is no branch to take and no flag to flip — the refusal is structural.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1A1F2B"/>
                </a:solidFill>
                <a:latin typeface="Helvetica Neue"/>
              </a:rPr>
              <a:t>Working today,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F2B"/>
                </a:solidFill>
                <a:latin typeface="Helvetica Neue"/>
              </a:rPr>
              <a:t>The full pipeline runs in the cloud on every ticket.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62656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F2B"/>
                </a:solidFill>
                <a:latin typeface="Helvetica Neue"/>
              </a:rPr>
              <a:t>Three real scanners run inside the agents' own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39312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F2B"/>
                </a:solidFill>
                <a:latin typeface="Helvetica Neue"/>
              </a:rPr>
              <a:t>Both outcomes verified this week against the live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15967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1A1F2B"/>
                </a:solidFill>
                <a:latin typeface="Helvetica Neue"/>
              </a:rPr>
              <a:t>Every run leaves a readable record on the ticket it came from.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1A1F2B"/>
                </a:solidFill>
                <a:latin typeface="Helvetica Neue"/>
              </a:rPr>
              <a:t>1102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906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Helvetica Neue"/>
              </a:rPr>
              <a:t>automated tests passing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Helvetica Neue"/>
              </a:rPr>
              <a:t>across 41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1A1F2B"/>
                </a:solidFill>
                <a:latin typeface="Helvetica Neue"/>
              </a:rPr>
              <a:t>~5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194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Helvetica Neue"/>
              </a:rPr>
              <a:t>from ticket opened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485"/>
                </a:solidFill>
                <a:latin typeface="Helvetica Neue"/>
              </a:rPr>
              <a:t>to change merged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1A1F2B"/>
                </a:solidFill>
                <a:latin typeface="Helvetica Neue"/>
              </a:rPr>
              <a:t>The same request,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6B7485"/>
                </a:solidFill>
                <a:latin typeface="Helvetica Neue"/>
              </a:rPr>
              <a:t>One ticket is clean. One carries a hardcoded credential. Nothing else differs.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2F7D5C"/>
                </a:solidFill>
                <a:latin typeface="Helvetica Neue"/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Helvetica Neue"/>
              </a:rPr>
              <a:t>Planned, written, reviewed, scanned,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Helvetica Neue"/>
              </a:rPr>
              <a:t>approved three times, merged.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Helvetica Neue"/>
              </a:rPr>
              <a:t>The ticket closed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1752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C84B3A"/>
                </a:solidFill>
                <a:latin typeface="Helvetica Neue"/>
              </a:rPr>
              <a:t>REFUSED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Helvetica Neue"/>
              </a:rPr>
              <a:t>Two credentials found in the change.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Helvetica Neue"/>
              </a:rPr>
              <a:t>Stopped before anyone could approve it,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1A1F2B"/>
                </a:solidFill>
                <a:latin typeface="Helvetica Neue"/>
              </a:rPr>
              <a:t>and the ticket says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7485"/>
                </a:solidFill>
                <a:latin typeface="Helvetica Neue"/>
              </a:rPr>
              <a:t>About 3 minutes to refuse. Nothing merged, and the reason is on the ticket in plain English.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F7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1A1F2B"/>
                </a:solidFill>
                <a:latin typeface="Helvetica Neue"/>
              </a:rPr>
              <a:t>What this is worth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Review capacity stops being the limit on how fast a team can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107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The checks that matter run on every change, not when someone remembers.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153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A refusal is auditable: what was found, who approved, and when.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02005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1A1F2B"/>
                </a:solidFill>
                <a:latin typeface="Helvetica Neue"/>
              </a:rPr>
              <a:t>It bolts onto the tools a team already uses — issues, branches, approvals.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6E6E"/>
                </a:solidFill>
                <a:latin typeface="Helvetica Neue"/>
              </a:rPr>
              <a:t>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1A1F2B"/>
                </a:solidFill>
                <a:latin typeface="Helvetica Neue"/>
              </a:rPr>
              <a:t>Roadmap to the final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F2B"/>
                </a:solidFill>
                <a:latin typeface="Helvetica Neue"/>
              </a:rPr>
              <a:t>BROADEN THE CHECKS — dependency and licence scanning, and per-project thresholds.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64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F2B"/>
                </a:solidFill>
                <a:latin typeface="Helvetica Neue"/>
              </a:rPr>
              <a:t>HARDEN THE RECORD — durable run history, and a timeline a reviewer can read.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35254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F2B"/>
                </a:solidFill>
                <a:latin typeface="Helvetica Neue"/>
              </a:rPr>
              <a:t>SCALE OUT — many repositories at once, and a queue so runs never contend.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400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1A1F2B"/>
                </a:solidFill>
                <a:latin typeface="Helvetica Neue"/>
              </a:rPr>
              <a:t>PROVE IT AT VOLUME — ten times the sample behind the numbers on slide eight.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0F6E6E"/>
                </a:solidFill>
                <a:latin typeface="Helvetica Neue"/>
              </a:rPr>
              <a:t>Every item is a gap we have already written down. We would rather show you a known limitation than discover one on stage.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A1F2B"/>
                </a:solidFill>
                <a:latin typeface="Helvetica Neue"/>
              </a:rPr>
              <a:t>Let us show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182880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6B7485"/>
                </a:solidFill>
                <a:latin typeface="Helvetica Neue"/>
              </a:rPr>
              <a:t>Two tickets. The same feature request.</a:t>
            </a:r>
          </a:p>
          <a:p>
            <a:pPr algn="l">
              <a:lnSpc>
                <a:spcPct val="120000"/>
              </a:lnSpc>
            </a:pPr>
            <a:r>
              <a:rPr sz="2600" b="0">
                <a:solidFill>
                  <a:srgbClr val="6B7485"/>
                </a:solidFill>
                <a:latin typeface="Helvetica Neue"/>
              </a:rPr>
              <a:t>One ships itself. One is refused.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400" b="1">
                <a:solidFill>
                  <a:srgbClr val="1A1F2B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2700" b="0">
                <a:solidFill>
                  <a:srgbClr val="1A1F2B"/>
                </a:solidFill>
                <a:latin typeface="Helvetica Neue"/>
              </a:rPr>
              <a:t>Agents did the work.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1A1F2B"/>
                </a:solidFill>
                <a:latin typeface="Helvetica Neue"/>
              </a:rPr>
              <a:t>Humans stayed in control of what shipped.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1A1F2B"/>
                </a:solidFill>
                <a:latin typeface="Helvetica Neue"/>
              </a:rPr>
              <a:t>And the change that should not have shipped,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6B7485"/>
                </a:solidFill>
                <a:latin typeface="Helvetica Neue"/>
              </a:rPr>
              <a:t>RosettaTeam   ·   questions welcome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B7485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