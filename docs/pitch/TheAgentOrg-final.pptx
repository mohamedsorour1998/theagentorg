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574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E8EDF4"/>
                </a:solidFill>
                <a:latin typeface="Helvetica Neue"/>
              </a:rPr>
              <a:t>THE AGENT ORG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127248"/>
            <a:ext cx="23774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93008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8A94A6"/>
                </a:solidFill>
                <a:latin typeface="Helvetica Neue"/>
              </a:rPr>
              <a:t>AI agents that ship code the way an engineering team does —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8A94A6"/>
                </a:solidFill>
                <a:latin typeface="Helvetica Neue"/>
              </a:rPr>
              <a:t>with a safety check they cannot argue with.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RosettaTeam   ·   DevOps Hackathon, final evaluation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28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Twenty minutes, five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FD1C5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774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DF4"/>
                </a:solidFill>
                <a:latin typeface="Helvetica Neue"/>
              </a:rPr>
              <a:t>The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who built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FD1C5"/>
                </a:solidFill>
                <a:latin typeface="Menl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272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DF4"/>
                </a:solidFill>
                <a:latin typeface="Helvetica Neue"/>
              </a:rPr>
              <a:t>The problem, and 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272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why an AI pipeline needs a gate it cannot argue 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FD1C5"/>
                </a:solidFill>
                <a:latin typeface="Menl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87705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DF4"/>
                </a:solidFill>
                <a:latin typeface="Helvetica Neue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8770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how a ticket becomes a merged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268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FD1C5"/>
                </a:solidFill>
                <a:latin typeface="Menl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2686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DF4"/>
                </a:solidFill>
                <a:latin typeface="Helvetica Neue"/>
              </a:rPr>
              <a:t>Progress to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6268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what runs today, what it costs, and what does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766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FD1C5"/>
                </a:solidFill>
                <a:latin typeface="Menlo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7667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DF4"/>
                </a:solidFill>
                <a:latin typeface="Helvetica Neue"/>
              </a:rPr>
              <a:t>Roadmap, then a live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two tickets: one ships, one is refused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MEET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RosettaTeam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or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3" y="2395728"/>
            <a:ext cx="1481328" cy="1481328"/>
          </a:xfrm>
          <a:prstGeom prst="ellipse">
            <a:avLst/>
          </a:prstGeom>
          <a:ln w="19050">
            <a:solidFill>
              <a:srgbClr val="2A324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59536" y="4096512"/>
            <a:ext cx="20848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E8EDF4"/>
                </a:solidFill>
                <a:latin typeface="Helvetica Neue"/>
              </a:rPr>
              <a:t>Mohamed Sorour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64515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8A94A6"/>
                </a:solidFill>
                <a:latin typeface="Helvetica Neue"/>
              </a:rPr>
              <a:t>Senior DevOps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2486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VEZEETA</a:t>
            </a:r>
          </a:p>
        </p:txBody>
      </p:sp>
      <p:pic>
        <p:nvPicPr>
          <p:cNvPr id="10" name="Picture 9" descr="mari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4" y="2395728"/>
            <a:ext cx="1481328" cy="1481328"/>
          </a:xfrm>
          <a:prstGeom prst="ellipse">
            <a:avLst/>
          </a:prstGeom>
          <a:ln w="19050">
            <a:solidFill>
              <a:srgbClr val="2A324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944367" y="4096512"/>
            <a:ext cx="20848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E8EDF4"/>
                </a:solidFill>
                <a:latin typeface="Helvetica Neue"/>
              </a:rPr>
              <a:t>Mariam Abdelkader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7" y="464515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8A94A6"/>
                </a:solidFill>
                <a:latin typeface="Helvetica Neue"/>
              </a:rPr>
              <a:t>Associate Solution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7" y="52486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RENOSYSTEMS</a:t>
            </a:r>
          </a:p>
        </p:txBody>
      </p:sp>
      <p:pic>
        <p:nvPicPr>
          <p:cNvPr id="14" name="Picture 13" descr="habib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5" y="2395728"/>
            <a:ext cx="1481328" cy="1481328"/>
          </a:xfrm>
          <a:prstGeom prst="ellipse">
            <a:avLst/>
          </a:prstGeom>
          <a:ln w="19050">
            <a:solidFill>
              <a:srgbClr val="2A3242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198" y="4096512"/>
            <a:ext cx="20848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E8EDF4"/>
                </a:solidFill>
                <a:latin typeface="Helvetica Neue"/>
              </a:rPr>
              <a:t>Habiba Megahed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8" y="464515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8A94A6"/>
                </a:solidFill>
                <a:latin typeface="Helvetica Neue"/>
              </a:rPr>
              <a:t>Junior DevOps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198" y="52486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DIGILIANS ALUM</a:t>
            </a:r>
          </a:p>
        </p:txBody>
      </p:sp>
      <p:pic>
        <p:nvPicPr>
          <p:cNvPr id="18" name="Picture 17" descr="ree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56" y="2395728"/>
            <a:ext cx="1481328" cy="1481328"/>
          </a:xfrm>
          <a:prstGeom prst="ellipse">
            <a:avLst/>
          </a:prstGeom>
          <a:ln w="19050">
            <a:solidFill>
              <a:srgbClr val="2A3242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7114029" y="4096512"/>
            <a:ext cx="20848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E8EDF4"/>
                </a:solidFill>
                <a:latin typeface="Helvetica Neue"/>
              </a:rPr>
              <a:t>Reem Shkeep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29" y="464515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8A94A6"/>
                </a:solidFill>
                <a:latin typeface="Helvetica Neue"/>
              </a:rPr>
              <a:t>Junior Testing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29" y="52486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DIGILIANS ALUM</a:t>
            </a:r>
          </a:p>
        </p:txBody>
      </p:sp>
      <p:pic>
        <p:nvPicPr>
          <p:cNvPr id="22" name="Picture 21" descr="ay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87" y="2395728"/>
            <a:ext cx="1481328" cy="1481328"/>
          </a:xfrm>
          <a:prstGeom prst="ellipse">
            <a:avLst/>
          </a:prstGeom>
          <a:ln w="19050">
            <a:solidFill>
              <a:srgbClr val="2A3242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9198860" y="4096512"/>
            <a:ext cx="20848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E8EDF4"/>
                </a:solidFill>
                <a:latin typeface="Helvetica Neue"/>
              </a:rPr>
              <a:t>Aya Ebrahim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0" y="464515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8A94A6"/>
                </a:solidFill>
                <a:latin typeface="Helvetica Neue"/>
              </a:rPr>
              <a:t>Junior Testing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0" y="52486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DIGILIANS ALUM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618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Three of us trained together at Digilians — this is the first thing we have built as one team.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>
                <a:solidFill>
                  <a:srgbClr val="E8EDF4"/>
                </a:solidFill>
                <a:latin typeface="Helvetica Neue"/>
              </a:rPr>
              <a:t>AI writes code faster than anyone</a:t>
            </a:r>
          </a:p>
          <a:p>
            <a:pPr algn="l">
              <a:lnSpc>
                <a:spcPct val="106000"/>
              </a:lnSpc>
            </a:pPr>
            <a:r>
              <a:rPr sz="3600" b="1">
                <a:solidFill>
                  <a:srgbClr val="E8EDF4"/>
                </a:solidFill>
                <a:latin typeface="Helvetica Neue"/>
              </a:rPr>
              <a:t>can review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487168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Teams are already letting AI agents open pull requests.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6732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Review is the bottleneck — so the temptation is to trust and merge.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25696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We built that unchecked pipeline first, on purpose, to see what happens.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6B6B"/>
                </a:solidFill>
                <a:latin typeface="Helvetica Neue"/>
              </a:rPr>
              <a:t>10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925312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changes carrying hardcoded cloud credentials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were merged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E8EDF4"/>
                </a:solidFill>
                <a:latin typeface="Helvetica Neue"/>
              </a:rPr>
              <a:t>And nobody noticed.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880360"/>
            <a:ext cx="182880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0">
                <a:solidFill>
                  <a:srgbClr val="E8EDF4"/>
                </a:solidFill>
                <a:latin typeface="Helvetica Neue"/>
              </a:rPr>
              <a:t>Every job passed. Every dashboard was green.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605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0">
                <a:solidFill>
                  <a:srgbClr val="E8EDF4"/>
                </a:solidFill>
                <a:latin typeface="Helvetica Neue"/>
              </a:rPr>
              <a:t>The credential reached the main branch and the pipeline reported success.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292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0">
                <a:solidFill>
                  <a:srgbClr val="E8EDF4"/>
                </a:solidFill>
                <a:latin typeface="Helvetica Neue"/>
              </a:rPr>
              <a:t>A check that never ran looks exactly like a check that passed.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So we gave the agents an organisation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8A94A6"/>
                </a:solidFill>
                <a:latin typeface="Helvetica Neue"/>
              </a:rPr>
              <a:t>A ticket walks the same path it would in a real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880360"/>
            <a:ext cx="1783080" cy="896112"/>
          </a:xfrm>
          <a:prstGeom prst="rect">
            <a:avLst/>
          </a:prstGeom>
          <a:solidFill>
            <a:srgbClr val="1C2230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D1C5"/>
                </a:solidFill>
                <a:latin typeface="Helvetica Neue"/>
              </a:rPr>
              <a:t>PLAN</a:t>
            </a:r>
          </a:p>
          <a:p>
            <a:pPr algn="ctr"/>
            <a:r>
              <a:rPr sz="1100">
                <a:solidFill>
                  <a:srgbClr val="8A94A6"/>
                </a:solidFill>
                <a:latin typeface="Menlo"/>
              </a:rPr>
              <a:t>planner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0671" y="2880360"/>
            <a:ext cx="1783080" cy="896112"/>
          </a:xfrm>
          <a:prstGeom prst="rect">
            <a:avLst/>
          </a:prstGeom>
          <a:solidFill>
            <a:srgbClr val="1C2230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D1C5"/>
                </a:solidFill>
                <a:latin typeface="Helvetica Neue"/>
              </a:rPr>
              <a:t>BUILD</a:t>
            </a:r>
          </a:p>
          <a:p>
            <a:pPr algn="ctr"/>
            <a:r>
              <a:rPr sz="1100">
                <a:solidFill>
                  <a:srgbClr val="8A94A6"/>
                </a:solidFill>
                <a:latin typeface="Menlo"/>
              </a:rPr>
              <a:t>developer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75502" y="2880360"/>
            <a:ext cx="1783080" cy="896112"/>
          </a:xfrm>
          <a:prstGeom prst="rect">
            <a:avLst/>
          </a:prstGeom>
          <a:solidFill>
            <a:srgbClr val="1C2230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D1C5"/>
                </a:solidFill>
                <a:latin typeface="Helvetica Neue"/>
              </a:rPr>
              <a:t>REVIEW</a:t>
            </a:r>
          </a:p>
          <a:p>
            <a:pPr algn="ctr"/>
            <a:r>
              <a:rPr sz="1100">
                <a:solidFill>
                  <a:srgbClr val="8A94A6"/>
                </a:solidFill>
                <a:latin typeface="Menlo"/>
              </a:rPr>
              <a:t>reviewer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0333" y="2880360"/>
            <a:ext cx="1783080" cy="896112"/>
          </a:xfrm>
          <a:prstGeom prst="rect">
            <a:avLst/>
          </a:prstGeom>
          <a:solidFill>
            <a:srgbClr val="1C2230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D1C5"/>
                </a:solidFill>
                <a:latin typeface="Helvetica Neue"/>
              </a:rPr>
              <a:t>SCAN</a:t>
            </a:r>
          </a:p>
          <a:p>
            <a:pPr algn="ctr"/>
            <a:r>
              <a:rPr sz="1100">
                <a:solidFill>
                  <a:srgbClr val="8A94A6"/>
                </a:solidFill>
                <a:latin typeface="Menlo"/>
              </a:rPr>
              <a:t>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45164" y="2880360"/>
            <a:ext cx="1783080" cy="896112"/>
          </a:xfrm>
          <a:prstGeom prst="rect">
            <a:avLst/>
          </a:prstGeom>
          <a:solidFill>
            <a:srgbClr val="1C2230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D1C5"/>
                </a:solidFill>
                <a:latin typeface="Helvetica Neue"/>
              </a:rPr>
              <a:t>RELEASE</a:t>
            </a:r>
          </a:p>
          <a:p>
            <a:pPr algn="ctr"/>
            <a:r>
              <a:rPr sz="1100">
                <a:solidFill>
                  <a:srgbClr val="8A94A6"/>
                </a:solidFill>
                <a:latin typeface="Menlo"/>
              </a:rPr>
              <a:t>sre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7" y="38770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▲ human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38770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▲ human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3" y="38770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▲ human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Five specialist agents: they plan, write, critique, scan and sign off.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663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Three points where a named human must approve before anything moves.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064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And a safety check that is ordinary arithmetic, not judgement.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The safety check cannot be persuaded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Real scanners read the change and report what they find.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A fixed severity threshold decides: at or above it, the change stops.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776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That decision is arithmetic. There is nothing in it to convince.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3776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4FD1C5"/>
                </a:solidFill>
                <a:latin typeface="Helvetica Neue"/>
              </a:rPr>
              <a:t>We tried talking it out of a block. The reply insisted the change was safe and the scanners were wrong — and the change stayed blocked, because those words were never part of the decision.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What runs 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84831"/>
            <a:ext cx="3200400" cy="3877056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2A324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1984247"/>
            <a:ext cx="585216" cy="20116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1956815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8A94A6"/>
                </a:solidFill>
                <a:latin typeface="Helvetica Neue"/>
              </a:rPr>
              <a:t>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7008" y="2395727"/>
            <a:ext cx="2798064" cy="566928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587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l"/>
            <a:r>
              <a:rPr sz="1200" b="1">
                <a:solidFill>
                  <a:srgbClr val="E8EDF4"/>
                </a:solidFill>
                <a:latin typeface="Helvetica Neue"/>
              </a:rPr>
              <a:t>auth-service</a:t>
            </a:r>
          </a:p>
          <a:p>
            <a:pPr algn="l"/>
            <a:r>
              <a:rPr sz="900">
                <a:solidFill>
                  <a:srgbClr val="8A94A6"/>
                </a:solidFill>
                <a:latin typeface="Helvetica Neue"/>
              </a:rPr>
              <a:t>the target repo · a ticket is opened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7008" y="3072383"/>
            <a:ext cx="2798064" cy="566928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l"/>
            <a:r>
              <a:rPr sz="1200" b="1">
                <a:solidFill>
                  <a:srgbClr val="4FD1C5"/>
                </a:solidFill>
                <a:latin typeface="Helvetica Neue"/>
              </a:rPr>
              <a:t>TheAgentOrg</a:t>
            </a:r>
          </a:p>
          <a:p>
            <a:pPr algn="l"/>
            <a:r>
              <a:rPr sz="900">
                <a:solidFill>
                  <a:srgbClr val="8A94A6"/>
                </a:solidFill>
                <a:latin typeface="Helvetica Neue"/>
              </a:rPr>
              <a:t>the pipeline · seven 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8" y="3895343"/>
            <a:ext cx="2798064" cy="42062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5875">
            <a:solidFill>
              <a:srgbClr val="F0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l"/>
            <a:r>
              <a:rPr sz="1100" b="1">
                <a:solidFill>
                  <a:srgbClr val="F0A93B"/>
                </a:solidFill>
                <a:latin typeface="Menlo"/>
              </a:rPr>
              <a:t>▲  GATE 1 · plan approved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008" y="4498847"/>
            <a:ext cx="2798064" cy="42062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5875">
            <a:solidFill>
              <a:srgbClr val="F0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l"/>
            <a:r>
              <a:rPr sz="1100" b="1">
                <a:solidFill>
                  <a:srgbClr val="F0A93B"/>
                </a:solidFill>
                <a:latin typeface="Menlo"/>
              </a:rPr>
              <a:t>▲  GATE 2 · change approved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8" y="5102351"/>
            <a:ext cx="2798064" cy="42062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5875">
            <a:solidFill>
              <a:srgbClr val="F0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l"/>
            <a:r>
              <a:rPr sz="1100" b="1">
                <a:solidFill>
                  <a:srgbClr val="F0A93B"/>
                </a:solidFill>
                <a:latin typeface="Menlo"/>
              </a:rPr>
              <a:t>▲  GATE 3 · release approved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79" y="2084831"/>
            <a:ext cx="2834640" cy="2487168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2A324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48071" y="1984247"/>
            <a:ext cx="420624" cy="20116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7" y="1956815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8A94A6"/>
                </a:solidFill>
                <a:latin typeface="Helvetica Neue"/>
              </a:rPr>
              <a:t>AWS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4647" y="2395727"/>
            <a:ext cx="2432304" cy="566928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587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l"/>
            <a:r>
              <a:rPr sz="1200" b="1">
                <a:solidFill>
                  <a:srgbClr val="E8EDF4"/>
                </a:solidFill>
                <a:latin typeface="Helvetica Neue"/>
              </a:rPr>
              <a:t>Lambda</a:t>
            </a:r>
          </a:p>
          <a:p>
            <a:pPr algn="l"/>
            <a:r>
              <a:rPr sz="900">
                <a:solidFill>
                  <a:srgbClr val="8A94A6"/>
                </a:solidFill>
                <a:latin typeface="Helvetica Neue"/>
              </a:rPr>
              <a:t>verifies the signature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84647" y="3090671"/>
            <a:ext cx="2432304" cy="566928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587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l"/>
            <a:r>
              <a:rPr sz="1200" b="1">
                <a:solidFill>
                  <a:srgbClr val="E8EDF4"/>
                </a:solidFill>
                <a:latin typeface="Helvetica Neue"/>
              </a:rPr>
              <a:t>EventBridge</a:t>
            </a:r>
          </a:p>
          <a:p>
            <a:pPr algn="l"/>
            <a:r>
              <a:rPr sz="900">
                <a:solidFill>
                  <a:srgbClr val="8A94A6"/>
                </a:solidFill>
                <a:latin typeface="Helvetica Neue"/>
              </a:rPr>
              <a:t>routes it · dead-letter queue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84647" y="3785615"/>
            <a:ext cx="2432304" cy="566928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587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l"/>
            <a:r>
              <a:rPr sz="1200" b="1">
                <a:solidFill>
                  <a:srgbClr val="E8EDF4"/>
                </a:solidFill>
                <a:latin typeface="Helvetica Neue"/>
              </a:rPr>
              <a:t>Bedrock</a:t>
            </a:r>
          </a:p>
          <a:p>
            <a:pPr algn="l"/>
            <a:r>
              <a:rPr sz="900">
                <a:solidFill>
                  <a:srgbClr val="8A94A6"/>
                </a:solidFill>
                <a:latin typeface="Helvetica Neue"/>
              </a:rPr>
              <a:t>the model the agents 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084831"/>
            <a:ext cx="2697480" cy="3877056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2A324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85632" y="1984247"/>
            <a:ext cx="1463040" cy="20116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1956815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8A94A6"/>
                </a:solidFill>
                <a:latin typeface="Helvetica Neue"/>
              </a:rPr>
              <a:t>AGENTCORE · 5 RUNTIMES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2395727"/>
            <a:ext cx="2331720" cy="42062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587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l"/>
            <a:r>
              <a:rPr sz="1100" b="1">
                <a:solidFill>
                  <a:srgbClr val="E8EDF4"/>
                </a:solidFill>
                <a:latin typeface="Menlo"/>
              </a:rPr>
              <a:t>planner</a:t>
            </a:r>
          </a:p>
          <a:p>
            <a:pPr algn="l"/>
            <a:r>
              <a:rPr sz="900">
                <a:solidFill>
                  <a:srgbClr val="8A94A6"/>
                </a:solidFill>
                <a:latin typeface="Helvetica Neue"/>
              </a:rPr>
              <a:t>breaks the ticket down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035807"/>
            <a:ext cx="2331720" cy="42062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587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l"/>
            <a:r>
              <a:rPr sz="1100" b="1">
                <a:solidFill>
                  <a:srgbClr val="E8EDF4"/>
                </a:solidFill>
                <a:latin typeface="Menlo"/>
              </a:rPr>
              <a:t>developer</a:t>
            </a:r>
          </a:p>
          <a:p>
            <a:pPr algn="l"/>
            <a:r>
              <a:rPr sz="900">
                <a:solidFill>
                  <a:srgbClr val="8A94A6"/>
                </a:solidFill>
                <a:latin typeface="Helvetica Neue"/>
              </a:rPr>
              <a:t>writes the change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3675887"/>
            <a:ext cx="2331720" cy="42062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587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l"/>
            <a:r>
              <a:rPr sz="1100" b="1">
                <a:solidFill>
                  <a:srgbClr val="E8EDF4"/>
                </a:solidFill>
                <a:latin typeface="Menlo"/>
              </a:rPr>
              <a:t>reviewer</a:t>
            </a:r>
          </a:p>
          <a:p>
            <a:pPr algn="l"/>
            <a:r>
              <a:rPr sz="900">
                <a:solidFill>
                  <a:srgbClr val="8A94A6"/>
                </a:solidFill>
                <a:latin typeface="Helvetica Neue"/>
              </a:rPr>
              <a:t>critiques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4315966"/>
            <a:ext cx="2331720" cy="42062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l"/>
            <a:r>
              <a:rPr sz="1100" b="1">
                <a:solidFill>
                  <a:srgbClr val="4FD1C5"/>
                </a:solidFill>
                <a:latin typeface="Menlo"/>
              </a:rPr>
              <a:t>security</a:t>
            </a:r>
          </a:p>
          <a:p>
            <a:pPr algn="l"/>
            <a:r>
              <a:rPr sz="900">
                <a:solidFill>
                  <a:srgbClr val="8A94A6"/>
                </a:solidFill>
                <a:latin typeface="Helvetica Neue"/>
              </a:rPr>
              <a:t>three real scanners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4956046"/>
            <a:ext cx="2331720" cy="42062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587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27432" bIns="27432"/>
          <a:lstStyle/>
          <a:p>
            <a:pPr algn="l"/>
            <a:r>
              <a:rPr sz="1100" b="1">
                <a:solidFill>
                  <a:srgbClr val="E8EDF4"/>
                </a:solidFill>
                <a:latin typeface="Menlo"/>
              </a:rPr>
              <a:t>sre</a:t>
            </a:r>
          </a:p>
          <a:p>
            <a:pPr algn="l"/>
            <a:r>
              <a:rPr sz="900">
                <a:solidFill>
                  <a:srgbClr val="8A94A6"/>
                </a:solidFill>
                <a:latin typeface="Helvetica Neue"/>
              </a:rPr>
              <a:t>release readiness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614415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94A6"/>
                </a:solidFill>
                <a:latin typeface="Helvetica Neue"/>
              </a:rPr>
              <a:t>one image · five tags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94A6"/>
                </a:solidFill>
                <a:latin typeface="Helvetica Neue"/>
              </a:rPr>
              <a:t>differing only by 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48716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4FD1C5"/>
                </a:solidFill>
                <a:latin typeface="Helvetica Neue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0792" y="2871215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A94A6"/>
                </a:solidFill>
                <a:latin typeface="Menlo"/>
              </a:rPr>
              <a:t>webhook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3163823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4FD1C5"/>
                </a:solidFill>
                <a:latin typeface="Helvetica Neue"/>
              </a:rPr>
              <a:t>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0792" y="3547871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A94A6"/>
                </a:solidFill>
                <a:latin typeface="Menlo"/>
              </a:rPr>
              <a:t>dispatch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8" y="3163823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4FD1C5"/>
                </a:solidFill>
                <a:latin typeface="Helvetica Neue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3547871"/>
            <a:ext cx="603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A94A6"/>
                </a:solidFill>
                <a:latin typeface="Menlo"/>
              </a:rPr>
              <a:t>invoke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61996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FD1C5"/>
                </a:solidFill>
                <a:latin typeface="Helvetica Neue"/>
              </a:rPr>
              <a:t>No laptop anywhere in that path   ·   no long-lived cloud credentials   ·   the three gates are GitHub's, not ours to bypass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Cloud-native, start to finish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4FD1C5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86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DF4"/>
                </a:solidFill>
                <a:latin typeface="Helvetica Neue"/>
              </a:rPr>
              <a:t>A ticket is opened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286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a GitHub issue — the only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99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4FD1C5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9992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DF4"/>
                </a:solidFill>
                <a:latin typeface="Helvetica Neue"/>
              </a:rPr>
              <a:t>Signed and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99923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authenticated before anything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124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4FD1C5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1246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DF4"/>
                </a:solidFill>
                <a:latin typeface="Helvetica Neue"/>
              </a:rPr>
              <a:t>Routed to the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71246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an event bus, with a dead-letter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256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4FD1C5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42569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DF4"/>
                </a:solidFill>
                <a:latin typeface="Helvetica Neue"/>
              </a:rPr>
              <a:t>Five agents, five runtimes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42569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each isolated, all from one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38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4FD1C5"/>
                </a:solidFill>
                <a:latin typeface="Helvetica Ne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1389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DF4"/>
                </a:solidFill>
                <a:latin typeface="Helvetica Neue"/>
              </a:rPr>
              <a:t>Three approval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51389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the run pauses until a human clicks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9893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FD1C5"/>
                </a:solidFill>
                <a:latin typeface="Helvetica Neue"/>
              </a:rPr>
              <a:t>36 infrastructure resources, all defined as code   ·   no long-lived cloud credentials anywhere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The humans are not a formality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Each gate is a platform-level approval, not a step the pipeline can skip.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28416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Until someone clicks, the next stage does not exist — it is never queued.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9651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Refusing is recorded on the ticket: who refused, and when.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4FD1C5"/>
                </a:solidFill>
                <a:latin typeface="Helvetica Neue"/>
              </a:rPr>
              <a:t>When the safety check stops a change, the stages after it are never created. There is no branch to take and no flag to flip — the refusal is structural.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Working today,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The full pipeline runs in the cloud on every ticket.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62656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Three real scanners run inside the agents' own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39312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Both outcomes verified this week against the live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15967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Every run leaves a readable record on the ticket it came from.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2860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E8EDF4"/>
                </a:solidFill>
                <a:latin typeface="Helvetica Neue"/>
              </a:rPr>
              <a:t>2143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09067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automated tests passing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across 90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1148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E8EDF4"/>
                </a:solidFill>
                <a:latin typeface="Helvetica Neue"/>
              </a:rPr>
              <a:t>~5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91947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from ticket opened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to change merged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From a pipeline to a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8A94A6"/>
                </a:solidFill>
                <a:latin typeface="Helvetica Neue"/>
              </a:rPr>
              <a:t>The pre-final demo was one pipeline on one repository.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Runs queue, and a pause survives a restart.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47288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Many customers on one deployment, with a suite that tries to breach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0565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One severity table for three scanners, plus an audit row per finding.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64024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Every run reports what it cost, at the published 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42239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The same pipeline runs on your own hardware.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GitHub is one adapter, not the foundation.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47288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A machine API to submit, watch and cancel — it cannot open a gate.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05656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Tests written from the ticket, never from the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64024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Agents read past decisions; that text cannot reach the verdict.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42239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A hosted web app: sign in, watch a run live, approve or refuse.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61996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FD1C5"/>
                </a:solidFill>
                <a:latin typeface="Helvetica Neue"/>
              </a:rPr>
              <a:t>22,694 lines of pipeline and 10,669 of application, under 2143 tests and 204 more for the web.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The same request, twice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8A94A6"/>
                </a:solidFill>
                <a:latin typeface="Helvetica Neue"/>
              </a:rPr>
              <a:t>One ticket is clean. One carries a hardcoded credential. Nothing else differs.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4ADE80"/>
                </a:solidFill>
                <a:latin typeface="Helvetica Neue"/>
              </a:rPr>
              <a:t>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Planned, written, reviewed, scanned,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approved three times, merged.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The ticket closed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17520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6B6B"/>
                </a:solidFill>
                <a:latin typeface="Helvetica Neue"/>
              </a:rPr>
              <a:t>REFUSED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Two credentials found in the change.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Stopped before anyone could approve it,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and the ticket says why.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8A94A6"/>
                </a:solidFill>
                <a:latin typeface="Helvetica Neue"/>
              </a:rPr>
              <a:t>About 3 minutes to refuse. Nothing merged, and the reason is on the ticket in plain English.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What this is worth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Review capacity stops being the limit on how fast a team can 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1071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The checks that matter run on every change, not when someone remembers.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15384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A refusal is auditable: what was found, who approved, and when.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20056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It bolts onto the tools a team already uses — issues, branches, approvals.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What it costs to check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8A94A6"/>
                </a:solidFill>
                <a:latin typeface="Helvetica Neue"/>
              </a:rPr>
              <a:t>Measured over three runs of one ticket, priced from the published rate card on the day it was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4ADE80"/>
                </a:solidFill>
                <a:latin typeface="Helvetica Neue"/>
              </a:rPr>
              <a:t>1.3–1.7¢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3075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per change, on the cloud —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every check, every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92608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E8EDF4"/>
                </a:solidFill>
                <a:latin typeface="Helvetica Neue"/>
              </a:rPr>
              <a:t>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73075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of that is infrastructure.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The rest is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92608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E8EDF4"/>
                </a:solidFill>
                <a:latin typeface="Helvetica Neue"/>
              </a:rPr>
              <a:t>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73075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on your own hardware —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slower, same verdict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FD1C5"/>
                </a:solidFill>
                <a:latin typeface="Helvetica Neue"/>
              </a:rPr>
              <a:t>We do not put a figure on the third comparison — a developer's hour. That number is not ours to invent, and it would be the one everybody remembered.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What does not work yet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Sign-in has never completed — the tenant lookup is circular under our own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2724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A run does not yet record its own cost, though the meter 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85616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The queue that would replace our CI is tested and not yet switched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43984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The browser tests are written and no browser has run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10235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Any of our three approvals can be bypassed by a repository administrator.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623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E8EDF4"/>
                </a:solidFill>
                <a:latin typeface="Helvetica Neue"/>
              </a:rPr>
              <a:t>Seventeen limitations are written down, each with what removing it would take. Two were closed by another engineer within hours of being recorded — which is what writing them down is for.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WHAT IS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Roadmap to the final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FINISH SWITCHING ON — the queue in production, and cost recorded on every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64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CACHE THE CONTEXT — the agents re-read the same code five times and pay for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52544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WIDEN THE CHECKS — dependency and licence scanning, per-project thresholds.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40096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PROVE IT AT VOLUME — ten times the sample behind every number in this deck.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4FD1C5"/>
                </a:solidFill>
                <a:latin typeface="Helvetica Neue"/>
              </a:rPr>
              <a:t>Every item is a gap we have already written down and costed. We would rather show you a known limitation than discover one on stage.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E8EDF4"/>
                </a:solidFill>
                <a:latin typeface="Helvetica Neue"/>
              </a:rPr>
              <a:t>Let us show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00400"/>
            <a:ext cx="182880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8A94A6"/>
                </a:solidFill>
                <a:latin typeface="Helvetica Neue"/>
              </a:rPr>
              <a:t>Two tickets. The same feature request.</a:t>
            </a:r>
          </a:p>
          <a:p>
            <a:pPr algn="l">
              <a:lnSpc>
                <a:spcPct val="120000"/>
              </a:lnSpc>
            </a:pPr>
            <a:r>
              <a:rPr sz="2600" b="0">
                <a:solidFill>
                  <a:srgbClr val="8A94A6"/>
                </a:solidFill>
                <a:latin typeface="Helvetica Neue"/>
              </a:rPr>
              <a:t>One ships itself. One is refused.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1">
                <a:solidFill>
                  <a:srgbClr val="E8EDF4"/>
                </a:solidFill>
                <a:latin typeface="Helvetica Neue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2700" b="0">
                <a:solidFill>
                  <a:srgbClr val="E8EDF4"/>
                </a:solidFill>
                <a:latin typeface="Helvetica Neue"/>
              </a:rPr>
              <a:t>Agents did the work.</a:t>
            </a:r>
          </a:p>
          <a:p>
            <a:pPr algn="l">
              <a:lnSpc>
                <a:spcPct val="155000"/>
              </a:lnSpc>
            </a:pPr>
            <a:r>
              <a:rPr sz="2700" b="0">
                <a:solidFill>
                  <a:srgbClr val="E8EDF4"/>
                </a:solidFill>
                <a:latin typeface="Helvetica Neue"/>
              </a:rPr>
              <a:t>Humans stayed in control of what shipped.</a:t>
            </a:r>
          </a:p>
          <a:p>
            <a:pPr algn="l">
              <a:lnSpc>
                <a:spcPct val="155000"/>
              </a:lnSpc>
            </a:pPr>
            <a:r>
              <a:rPr sz="2700" b="0">
                <a:solidFill>
                  <a:srgbClr val="E8EDF4"/>
                </a:solidFill>
                <a:latin typeface="Helvetica Neue"/>
              </a:rPr>
              <a:t>And the change that should not have shipped, did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RosettaTeam   ·   questions welcome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