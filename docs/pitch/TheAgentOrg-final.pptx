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574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E8EDF4"/>
                </a:solidFill>
                <a:latin typeface="Helvetica Neue"/>
              </a:rPr>
              <a:t>THE AGENT ORG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127248"/>
            <a:ext cx="23774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93008"/>
            <a:ext cx="9509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8A94A6"/>
                </a:solidFill>
                <a:latin typeface="Helvetica Neue"/>
              </a:rPr>
              <a:t>AI agents that ship code the way an engineering team does —</a:t>
            </a:r>
          </a:p>
          <a:p>
            <a:pPr algn="l">
              <a:lnSpc>
                <a:spcPct val="120000"/>
              </a:lnSpc>
            </a:pPr>
            <a:r>
              <a:rPr sz="2400" b="0">
                <a:solidFill>
                  <a:srgbClr val="8A94A6"/>
                </a:solidFill>
                <a:latin typeface="Helvetica Neue"/>
              </a:rPr>
              <a:t>with a safety check they cannot argue with.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2578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RosettaTeam   ·   DevOps Hackathon, final evaluation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28 August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Twenty minutes, five parts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3774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The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377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who built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27248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12724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The problem, and our 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12724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why an AI pipeline needs a gate it cannot argue with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877056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877056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877056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how a ticket becomes a merged 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2686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2686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Progress to 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626864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what runs today, what it costs, and what does not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37667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376672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Roadmap, then a live 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537667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two tickets: one ships, one is refused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MEET 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RosettaTeam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orou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863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59536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Mohamed Sorour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Senior DevOps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VEZEETA</a:t>
            </a:r>
          </a:p>
        </p:txBody>
      </p:sp>
      <p:pic>
        <p:nvPicPr>
          <p:cNvPr id="10" name="Picture 9" descr="mari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2694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44367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Mariam Abdelkader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7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Associate Solution Engineer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4367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RENOSYSTEMS</a:t>
            </a:r>
          </a:p>
        </p:txBody>
      </p:sp>
      <p:pic>
        <p:nvPicPr>
          <p:cNvPr id="14" name="Picture 13" descr="habib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7525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029198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Habiba Megahed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198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Junior DevOps Engineer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198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DIGILIANS ALUM</a:t>
            </a:r>
          </a:p>
        </p:txBody>
      </p:sp>
      <p:pic>
        <p:nvPicPr>
          <p:cNvPr id="18" name="Picture 17" descr="reem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56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114029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Reem Shkeep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29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Junior Testing Engineer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4029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DIGILIANS ALUM</a:t>
            </a:r>
          </a:p>
        </p:txBody>
      </p:sp>
      <p:pic>
        <p:nvPicPr>
          <p:cNvPr id="22" name="Picture 21" descr="ay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37187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198860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Aya Ebrahim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8860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Junior Testing 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0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DIGILIANS ALUM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618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Three of us trained together at Digilians — this is the first thing we have built as one team.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>
                <a:solidFill>
                  <a:srgbClr val="E8EDF4"/>
                </a:solidFill>
                <a:latin typeface="Helvetica Neue"/>
              </a:rPr>
              <a:t>AI writes code faster than anyone</a:t>
            </a:r>
          </a:p>
          <a:p>
            <a:pPr algn="l">
              <a:lnSpc>
                <a:spcPct val="106000"/>
              </a:lnSpc>
            </a:pPr>
            <a:r>
              <a:rPr sz="3600" b="1">
                <a:solidFill>
                  <a:srgbClr val="E8EDF4"/>
                </a:solidFill>
                <a:latin typeface="Helvetica Neue"/>
              </a:rPr>
              <a:t>can review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487168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10896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Teams are already letting AI agents open pull requests.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67328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Review is the bottleneck — so the temptation is to trust and merge.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42569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We built that unchecked pipeline first, on purpose, to see what happens.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120640"/>
            <a:ext cx="3657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F6B6B"/>
                </a:solidFill>
                <a:latin typeface="Helvetica Neue"/>
              </a:rPr>
              <a:t>10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925312"/>
            <a:ext cx="3657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changes carrying hardcoded cloud credentials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were merged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E8EDF4"/>
                </a:solidFill>
                <a:latin typeface="Helvetica Neue"/>
              </a:rPr>
              <a:t>And nobody noticed.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880360"/>
            <a:ext cx="1828800" cy="381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0">
                <a:solidFill>
                  <a:srgbClr val="E8EDF4"/>
                </a:solidFill>
                <a:latin typeface="Helvetica Neue"/>
              </a:rPr>
              <a:t>Every job passed. Every dashboard was green.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605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0">
                <a:solidFill>
                  <a:srgbClr val="E8EDF4"/>
                </a:solidFill>
                <a:latin typeface="Helvetica Neue"/>
              </a:rPr>
              <a:t>The credential reached the main branch and the pipeline reported success.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0292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0">
                <a:solidFill>
                  <a:srgbClr val="E8EDF4"/>
                </a:solidFill>
                <a:latin typeface="Helvetica Neue"/>
              </a:rPr>
              <a:t>A check that never ran looks exactly like a check that passed.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So we gave the agents an organisation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8A94A6"/>
                </a:solidFill>
                <a:latin typeface="Helvetica Neue"/>
              </a:rPr>
              <a:t>A ticket walks the same path it would in a real team.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PLAN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planner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0671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BUILD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developer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175502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REVIEW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reviewer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60333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SCAN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45164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RELEASE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sre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7" y="38770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▲ human approval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4032" y="38770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▲ human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98863" y="38770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▲ human approval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52628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Five specialist agents: they plan, write, critique, scan and sign off.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6636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Three points where a named human must approve before anything moves.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8064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And a safety check that is ordinary arithmetic, not judgement.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The safety check cannot be persuaded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146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Real scanners read the change and report what they find.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461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A fixed severity threshold decides: at or above it, the change stops.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9776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That decision is arithmetic. There is nothing in it to convince.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37760"/>
            <a:ext cx="9784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4FD1C5"/>
                </a:solidFill>
                <a:latin typeface="Helvetica Neue"/>
              </a:rPr>
              <a:t>We tried talking it out of a block. The reply insisted the change was safe and the scanners were wrong — and the change stayed blocked, because those words were never part of the decision.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What runs 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" y="2084831"/>
            <a:ext cx="3200400" cy="3877056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2A324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432" y="1984247"/>
            <a:ext cx="585216" cy="201168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1956815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A94A6"/>
                </a:solidFill>
                <a:latin typeface="Helvetica Neue"/>
              </a:rPr>
              <a:t>GITHUB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07008" y="2395727"/>
            <a:ext cx="2798064" cy="566928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200" b="1">
                <a:solidFill>
                  <a:srgbClr val="E8EDF4"/>
                </a:solidFill>
                <a:latin typeface="Helvetica Neue"/>
              </a:rPr>
              <a:t>auth-service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the target repo · a ticket is opened here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07008" y="3072383"/>
            <a:ext cx="2798064" cy="566928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200" b="1">
                <a:solidFill>
                  <a:srgbClr val="4FD1C5"/>
                </a:solidFill>
                <a:latin typeface="Helvetica Neue"/>
              </a:rPr>
              <a:t>TheAgentOrg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the pipeline · seven jobs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07008" y="3895343"/>
            <a:ext cx="2798064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F0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F0A93B"/>
                </a:solidFill>
                <a:latin typeface="Menlo"/>
              </a:rPr>
              <a:t>▲  GATE 1 · plan approved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07008" y="4498847"/>
            <a:ext cx="2798064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F0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F0A93B"/>
                </a:solidFill>
                <a:latin typeface="Menlo"/>
              </a:rPr>
              <a:t>▲  GATE 2 · change approved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8" y="5102351"/>
            <a:ext cx="2798064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F0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F0A93B"/>
                </a:solidFill>
                <a:latin typeface="Menlo"/>
              </a:rPr>
              <a:t>▲  GATE 3 · release approved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79" y="2084831"/>
            <a:ext cx="2834640" cy="2487168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2A324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8071" y="1984247"/>
            <a:ext cx="420624" cy="201168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7" y="1956815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A94A6"/>
                </a:solidFill>
                <a:latin typeface="Helvetica Neue"/>
              </a:rPr>
              <a:t>AWS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84647" y="2395727"/>
            <a:ext cx="2432304" cy="566928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200" b="1">
                <a:solidFill>
                  <a:srgbClr val="E8EDF4"/>
                </a:solidFill>
                <a:latin typeface="Helvetica Neue"/>
              </a:rPr>
              <a:t>Lambda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verifies the signature first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84647" y="3090671"/>
            <a:ext cx="2432304" cy="566928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200" b="1">
                <a:solidFill>
                  <a:srgbClr val="E8EDF4"/>
                </a:solidFill>
                <a:latin typeface="Helvetica Neue"/>
              </a:rPr>
              <a:t>EventBridge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routes it · dead-letter queue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84647" y="3785615"/>
            <a:ext cx="2432304" cy="566928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200" b="1">
                <a:solidFill>
                  <a:srgbClr val="E8EDF4"/>
                </a:solidFill>
                <a:latin typeface="Helvetica Neue"/>
              </a:rPr>
              <a:t>Bedrock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the model the agents call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2084831"/>
            <a:ext cx="2697480" cy="3877056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2A324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85632" y="1984247"/>
            <a:ext cx="1463040" cy="201168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22208" y="1956815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A94A6"/>
                </a:solidFill>
                <a:latin typeface="Helvetica Neue"/>
              </a:rPr>
              <a:t>AGENTCORE · 5 RUNTIMES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03920" y="2395727"/>
            <a:ext cx="2331720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E8EDF4"/>
                </a:solidFill>
                <a:latin typeface="Menlo"/>
              </a:rPr>
              <a:t>planner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breaks the ticket down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03920" y="3035807"/>
            <a:ext cx="2331720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E8EDF4"/>
                </a:solidFill>
                <a:latin typeface="Menlo"/>
              </a:rPr>
              <a:t>developer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writes the change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03920" y="3675887"/>
            <a:ext cx="2331720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E8EDF4"/>
                </a:solidFill>
                <a:latin typeface="Menlo"/>
              </a:rPr>
              <a:t>reviewer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critiques 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03920" y="4315966"/>
            <a:ext cx="2331720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4FD1C5"/>
                </a:solidFill>
                <a:latin typeface="Menlo"/>
              </a:rPr>
              <a:t>security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three real scanners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03920" y="4956046"/>
            <a:ext cx="2331720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E8EDF4"/>
                </a:solidFill>
                <a:latin typeface="Menlo"/>
              </a:rPr>
              <a:t>sre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release readiness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5614415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A94A6"/>
                </a:solidFill>
                <a:latin typeface="Helvetica Neue"/>
              </a:rPr>
              <a:t>one image · five tags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8A94A6"/>
                </a:solidFill>
                <a:latin typeface="Helvetica Neue"/>
              </a:rPr>
              <a:t>differing only by role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2487167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4FD1C5"/>
                </a:solidFill>
                <a:latin typeface="Helvetica Neue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50792" y="2871215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A94A6"/>
                </a:solidFill>
                <a:latin typeface="Menlo"/>
              </a:rPr>
              <a:t>webhook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9392" y="3163823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4FD1C5"/>
                </a:solidFill>
                <a:latin typeface="Helvetica Neue"/>
              </a:rPr>
              <a:t>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50792" y="3547871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A94A6"/>
                </a:solidFill>
                <a:latin typeface="Menlo"/>
              </a:rPr>
              <a:t>dispatch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90688" y="3163823"/>
            <a:ext cx="603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4FD1C5"/>
                </a:solidFill>
                <a:latin typeface="Helvetica Neue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90688" y="3547871"/>
            <a:ext cx="6035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A94A6"/>
                </a:solidFill>
                <a:latin typeface="Menlo"/>
              </a:rPr>
              <a:t>invoke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6199632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FD1C5"/>
                </a:solidFill>
                <a:latin typeface="Helvetica Neue"/>
              </a:rPr>
              <a:t>No laptop anywhere in that path   ·   no long-lived cloud credentials   ·   the three gates are GitHub's, not ours to bypass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Cloud-native, start to finish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2860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A ticket is opened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22860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a GitHub issue — the only trigger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992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99923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Signed and 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2999232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authenticated before anything runs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71246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712464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Routed to the 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712464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an event bus, with a dead-letter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2569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425696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Five agents, five runtimes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4425696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each isolated, all from one 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1389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5138928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Three approval gates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5138928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the run pauses until a human 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98932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4FD1C5"/>
                </a:solidFill>
                <a:latin typeface="Helvetica Neue"/>
              </a:rPr>
              <a:t>20 infrastructure resources, all defined as code   ·   no long-lived cloud credentials anywhere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The humans are not a formality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603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Each gate is a platform-level approval, not a step the pipeline can skip.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32841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Until someone clicks, the next stage does not exist — it is never queued.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09651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Refusing is recorded on the ticket: who refused, and when.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029200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4FD1C5"/>
                </a:solidFill>
                <a:latin typeface="Helvetica Neue"/>
              </a:rPr>
              <a:t>When the safety check stops a change, the stages after it are never created. There is no branch to take and no flag to flip — the refusal is structural.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Working today, end to 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The full pipeline runs in the cloud on every ticket.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62656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Three real scanners run inside the agents' own environment.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639312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Both outcomes verified this week against the live 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315967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Every run leaves a readable record on the ticket it came from.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286000"/>
            <a:ext cx="3108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E8EDF4"/>
                </a:solidFill>
                <a:latin typeface="Helvetica Neue"/>
              </a:rPr>
              <a:t>1853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090672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automated tests passing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across 73 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4114800"/>
            <a:ext cx="3108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E8EDF4"/>
                </a:solidFill>
                <a:latin typeface="Helvetica Neue"/>
              </a:rPr>
              <a:t>~5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4919472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from ticket opened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to change merged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From a pipeline to a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8A94A6"/>
                </a:solidFill>
                <a:latin typeface="Helvetica Neue"/>
              </a:rPr>
              <a:t>The pre-final demo was one pipeline on one repository.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Runs queue, and a pause survives a restart.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47288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Many customers on one deployment, with a suite that tries to breach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05656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One severity table for three scanners, plus an audit row per finding.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764024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Every run reports what it cost, at the published rate.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422392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The same pipeline runs on your own hardware.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889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GitHub is one adapter, not the foundation.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447288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A machine API to submit, watch and cancel — it cannot open a gate.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105656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Tests written from the ticket, never from the change.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764024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Agents read past decisions; that text cannot reach the verdict.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422392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A web app: watch a run live, approve or refuse.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6199632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4FD1C5"/>
                </a:solidFill>
                <a:latin typeface="Helvetica Neue"/>
              </a:rPr>
              <a:t>20,475 lines of pipeline and 8,769 of application, under 1853 tests and 166 more for the web.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The same request, twice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8A94A6"/>
                </a:solidFill>
                <a:latin typeface="Helvetica Neue"/>
              </a:rPr>
              <a:t>One ticket is clean. One carries a hardcoded credential. Nothing else differs.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17520"/>
            <a:ext cx="4572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4ADE80"/>
                </a:solidFill>
                <a:latin typeface="Helvetica Neue"/>
              </a:rPr>
              <a:t>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65760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Planned, written, reviewed, scanned,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approved three times, merged.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The ticket closed itself.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017520"/>
            <a:ext cx="4480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FF6B6B"/>
                </a:solidFill>
                <a:latin typeface="Helvetica Neue"/>
              </a:rPr>
              <a:t>REFUSED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657600"/>
            <a:ext cx="4480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Two credentials found in the change.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Stopped before anyone could approve it,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and the ticket says why.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806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8A94A6"/>
                </a:solidFill>
                <a:latin typeface="Helvetica Neue"/>
              </a:rPr>
              <a:t>About 3 minutes to refuse. Nothing merged, and the reason is on the ticket in plain English.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What this is worth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Review capacity stops being the limit on how fast a team can ship.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1071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The checks that matter run on every change, not when someone remembers.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15384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A refusal is auditable: what was found, who approved, and when.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02005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It bolts onto the tools a team already uses — issues, branches, approvals.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What it costs to check everything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8A94A6"/>
                </a:solidFill>
                <a:latin typeface="Helvetica Neue"/>
              </a:rPr>
              <a:t>Measured over three runs of one ticket, priced from the published rate card on the day it was read.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2608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4ADE80"/>
                </a:solidFill>
                <a:latin typeface="Helvetica Neue"/>
              </a:rPr>
              <a:t>1.3–1.7¢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30752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per change, on the cloud —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every check, every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92608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E8EDF4"/>
                </a:solidFill>
                <a:latin typeface="Helvetica Neue"/>
              </a:rPr>
              <a:t>0.1%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730752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of that is infrastructure.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The rest is the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92608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E8EDF4"/>
                </a:solidFill>
                <a:latin typeface="Helvetica Neue"/>
              </a:rPr>
              <a:t>zero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3730752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on your own hardware —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slower, same verdict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4FD1C5"/>
                </a:solidFill>
                <a:latin typeface="Helvetica Neue"/>
              </a:rPr>
              <a:t>We do not put a figure on the third comparison — a developer's hour. That number is not ours to invent, and it would be the one everybody remembered.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F0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What does not work yet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6888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Sign-in has never completed — it needs a database nobody has started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27248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A run does not yet record its own cost, though the meter works.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78561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The queue that would replace our CI is tested and not yet switched 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443984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The browser tests are written and no browser has run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10235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Any of our three approvals can be bypassed by a repository administrator.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6235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Sixteen limitations are written down, each with what removing it would take. Every one is something unexecuted rather than something broken — and telling those two apart is the whole point of this project.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WHAT IS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Roadmap to the final phase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TURN ON WHAT IS BUILT — the queue, the database, and cost on every 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364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CACHE THE CONTEXT — the agents re-read the same code five times and pay for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352544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WIDEN THE CHECKS — dependency and licence scanning, per-project thresholds.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34009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PROVE IT AT VOLUME — ten times the sample behind every number in this deck.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4FD1C5"/>
                </a:solidFill>
                <a:latin typeface="Helvetica Neue"/>
              </a:rPr>
              <a:t>Every item is a gap we have already written down and costed. We would rather show you a known limitation than discover one on stage.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17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488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E8EDF4"/>
                </a:solidFill>
                <a:latin typeface="Helvetica Neue"/>
              </a:rPr>
              <a:t>Let us show you.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200400"/>
            <a:ext cx="182880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566160"/>
            <a:ext cx="9509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A94A6"/>
                </a:solidFill>
                <a:latin typeface="Helvetica Neue"/>
              </a:rPr>
              <a:t>Two tickets. The same feature request.</a:t>
            </a:r>
          </a:p>
          <a:p>
            <a:pPr algn="l">
              <a:lnSpc>
                <a:spcPct val="120000"/>
              </a:lnSpc>
            </a:pPr>
            <a:r>
              <a:rPr sz="2600" b="0">
                <a:solidFill>
                  <a:srgbClr val="8A94A6"/>
                </a:solidFill>
                <a:latin typeface="Helvetica Neue"/>
              </a:rPr>
              <a:t>One ships itself. One is refused.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400" b="1">
                <a:solidFill>
                  <a:srgbClr val="E8EDF4"/>
                </a:solidFill>
                <a:latin typeface="Helvetica Neue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5000"/>
              </a:lnSpc>
            </a:pPr>
            <a:r>
              <a:rPr sz="2700" b="0">
                <a:solidFill>
                  <a:srgbClr val="E8EDF4"/>
                </a:solidFill>
                <a:latin typeface="Helvetica Neue"/>
              </a:rPr>
              <a:t>Agents did the work.</a:t>
            </a:r>
          </a:p>
          <a:p>
            <a:pPr algn="l">
              <a:lnSpc>
                <a:spcPct val="155000"/>
              </a:lnSpc>
            </a:pPr>
            <a:r>
              <a:rPr sz="2700" b="0">
                <a:solidFill>
                  <a:srgbClr val="E8EDF4"/>
                </a:solidFill>
                <a:latin typeface="Helvetica Neue"/>
              </a:rPr>
              <a:t>Humans stayed in control of what shipped.</a:t>
            </a:r>
          </a:p>
          <a:p>
            <a:pPr algn="l">
              <a:lnSpc>
                <a:spcPct val="155000"/>
              </a:lnSpc>
            </a:pPr>
            <a:r>
              <a:rPr sz="2700" b="0">
                <a:solidFill>
                  <a:srgbClr val="E8EDF4"/>
                </a:solidFill>
                <a:latin typeface="Helvetica Neue"/>
              </a:rPr>
              <a:t>And the change that should not have shipped, did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RosettaTeam   ·   questions welcome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19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