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574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E8EDF4"/>
                </a:solidFill>
                <a:latin typeface="Helvetica Neue"/>
              </a:rPr>
              <a:t>THE AGENT ORG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127248"/>
            <a:ext cx="23774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93008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AI agents that ship code the way an engineering team does —</a:t>
            </a:r>
          </a:p>
          <a:p>
            <a:pPr algn="l">
              <a:lnSpc>
                <a:spcPct val="120000"/>
              </a:lnSpc>
            </a:pPr>
            <a:r>
              <a:rPr sz="2400" b="0">
                <a:solidFill>
                  <a:srgbClr val="8A94A6"/>
                </a:solidFill>
                <a:latin typeface="Helvetica Neue"/>
              </a:rPr>
              <a:t>with a safety check they cannot argue with.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257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RosettaTeam   ·   DevOps Hackathon, final evaluation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28 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Twenty minutes, five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774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who built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127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The problem, and our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12724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why an AI pipeline needs a gate it cannot argue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77056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8770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Architecture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38770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how a ticket becomes a merged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26864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2686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Progress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62686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what runs today, what it costs, and what does not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76672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4FD1C5"/>
                </a:solidFill>
                <a:latin typeface="Menlo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7667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E8EDF4"/>
                </a:solidFill>
                <a:latin typeface="Helvetica Neue"/>
              </a:rPr>
              <a:t>Roadmap, then a live demo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53766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two tickets: one ships, one is refused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MEET 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RosettaTeam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orou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7863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59536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Mohamed Sorour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Senior DevOps Engineer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VEZEETA</a:t>
            </a:r>
          </a:p>
        </p:txBody>
      </p:sp>
      <p:pic>
        <p:nvPicPr>
          <p:cNvPr id="10" name="Picture 9" descr="mari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694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44367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Mariam Abdelkader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Associate Solution Engineer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7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RENOSYSTEMS</a:t>
            </a:r>
          </a:p>
        </p:txBody>
      </p:sp>
      <p:pic>
        <p:nvPicPr>
          <p:cNvPr id="14" name="Picture 13" descr="habib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525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5029198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Habiba Megahed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DevOps 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198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18" name="Picture 17" descr="reem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56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114029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Reem Shkeep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29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29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pic>
        <p:nvPicPr>
          <p:cNvPr id="22" name="Picture 21" descr="aya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7187" y="2395728"/>
            <a:ext cx="1481328" cy="1481328"/>
          </a:xfrm>
          <a:prstGeom prst="ellipse">
            <a:avLst/>
          </a:prstGeom>
          <a:ln w="19050">
            <a:solidFill>
              <a:srgbClr val="2A3242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198860" y="4096512"/>
            <a:ext cx="2084831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E8EDF4"/>
                </a:solidFill>
                <a:latin typeface="Helvetica Neue"/>
              </a:rPr>
              <a:t>Aya Ebrahim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98860" y="4645152"/>
            <a:ext cx="2084831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8A94A6"/>
                </a:solidFill>
                <a:latin typeface="Helvetica Neue"/>
              </a:rPr>
              <a:t>Junior Testing 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0" y="52486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DIGILIANS ALUM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61888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8A94A6"/>
                </a:solidFill>
                <a:latin typeface="Helvetica Neue"/>
              </a:rPr>
              <a:t>Three of us trained together at Digilians — this is the first thing we have built as one team.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AI writes code faster than anyone</a:t>
            </a:r>
          </a:p>
          <a:p>
            <a:pPr algn="l">
              <a:lnSpc>
                <a:spcPct val="106000"/>
              </a:lnSpc>
            </a:pPr>
            <a:r>
              <a:rPr sz="3600" b="1">
                <a:solidFill>
                  <a:srgbClr val="E8EDF4"/>
                </a:solidFill>
                <a:latin typeface="Helvetica Neue"/>
              </a:rPr>
              <a:t>can review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487168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Teams are already letting AI agents open pull requests.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6732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is the bottleneck — so the temptation is to trust and merge.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256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We built that unchecked pipeline first, on purpose, to see what happens.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20640"/>
            <a:ext cx="3657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6B6B"/>
                </a:solidFill>
                <a:latin typeface="Helvetica Neue"/>
              </a:rPr>
              <a:t>10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25312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changes carrying hardcoded cloud credentials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were merged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And nobody noticed.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2880360"/>
            <a:ext cx="1828800" cy="3810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Every job passed. Every dashboard was green.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605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The credential reached the main branch and the pipeline reported success.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0292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0">
                <a:solidFill>
                  <a:srgbClr val="E8EDF4"/>
                </a:solidFill>
                <a:latin typeface="Helvetica Neue"/>
              </a:rPr>
              <a:t>A check that never ran looks exactly like a check that passed.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So we gave the agents an organisation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A ticket walks the same path it would in a real team.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PLAN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planner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090671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BUILD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developer</a:t>
            </a:r>
          </a:p>
        </p:txBody>
      </p:sp>
      <p:sp>
        <p:nvSpPr>
          <p:cNvPr id="9" name="Rectangle 8"/>
          <p:cNvSpPr/>
          <p:nvPr/>
        </p:nvSpPr>
        <p:spPr>
          <a:xfrm>
            <a:off x="5175502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REVIEW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reviewer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0333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SCAN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4" y="2880360"/>
            <a:ext cx="1783080" cy="896112"/>
          </a:xfrm>
          <a:prstGeom prst="rect">
            <a:avLst/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FD1C5"/>
                </a:solidFill>
                <a:latin typeface="Helvetica Neue"/>
              </a:rPr>
              <a:t>RELEASE</a:t>
            </a:r>
          </a:p>
          <a:p>
            <a:pPr algn="ctr"/>
            <a:r>
              <a:rPr sz="1100">
                <a:solidFill>
                  <a:srgbClr val="8A94A6"/>
                </a:solidFill>
                <a:latin typeface="Menlo"/>
              </a:rPr>
              <a:t>sre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4367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4032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8863" y="3877056"/>
            <a:ext cx="208483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4FD1C5"/>
                </a:solidFill>
                <a:latin typeface="Menlo"/>
              </a:rPr>
              <a:t>▲ human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Five specialist agents: they plan, write, critique, scan and sign off.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points where a named human must approve before anything moves.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806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And a safety check that is ordinary arithmetic, not judgement.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safety check cannot be persuaded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51460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Real scanners read the change and report what they find.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fixed severity threshold decides: at or above it, the change stops.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776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That decision is arithmetic. There is nothing in it to convince.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9784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We tried talking it out of a block. The reply insisted the change was safe and the scanners were wrong — and the change stayed blocked, because those words were never part of the decision.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runs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2084831"/>
            <a:ext cx="320040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0432" y="1984247"/>
            <a:ext cx="585216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GITHUB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8" y="2395727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auth-service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target repo · a ticket is opened 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7008" y="3072383"/>
            <a:ext cx="279806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4FD1C5"/>
                </a:solidFill>
                <a:latin typeface="Helvetica Neue"/>
              </a:rPr>
              <a:t>TheAgentOrg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pipeline · seven jobs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8" y="3895343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1 · plan approved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07008" y="4498847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2 · change approved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8" y="5102351"/>
            <a:ext cx="2798064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F0A93B"/>
                </a:solidFill>
                <a:latin typeface="Menlo"/>
              </a:rPr>
              <a:t>▲  GATE 3 · release approved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79" y="2084831"/>
            <a:ext cx="2834640" cy="24871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48071" y="1984247"/>
            <a:ext cx="420624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84647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7" y="2395727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Lambda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verifies the signature first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84647" y="3090671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EventBridge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routes it · dead-letter queue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84647" y="3785615"/>
            <a:ext cx="2432304" cy="566928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200" b="1">
                <a:solidFill>
                  <a:srgbClr val="E8EDF4"/>
                </a:solidFill>
                <a:latin typeface="Helvetica Neue"/>
              </a:rPr>
              <a:t>Bedrock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the model the agents call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2084831"/>
            <a:ext cx="2697480" cy="3877056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A3242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85632" y="1984247"/>
            <a:ext cx="1463040" cy="201168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1956815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A94A6"/>
                </a:solidFill>
                <a:latin typeface="Helvetica Neue"/>
              </a:rPr>
              <a:t>AGENTCORE · 5 RUNTIMES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239572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planner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breaks the ticket down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0" y="303580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developer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writes the change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3675887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reviewer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critiques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431596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4FD1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4FD1C5"/>
                </a:solidFill>
                <a:latin typeface="Menlo"/>
              </a:rPr>
              <a:t>security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three real scanners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956046"/>
            <a:ext cx="2331720" cy="420624"/>
          </a:xfrm>
          <a:prstGeom prst="roundRect">
            <a:avLst>
              <a:gd name="adj" fmla="val 8000"/>
            </a:avLst>
          </a:prstGeom>
          <a:solidFill>
            <a:srgbClr val="1C2230"/>
          </a:solidFill>
          <a:ln w="1587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82296" tIns="27432" bIns="27432"/>
          <a:lstStyle/>
          <a:p>
            <a:pPr algn="l"/>
            <a:r>
              <a:rPr sz="1100" b="1">
                <a:solidFill>
                  <a:srgbClr val="E8EDF4"/>
                </a:solidFill>
                <a:latin typeface="Menlo"/>
              </a:rPr>
              <a:t>sre</a:t>
            </a:r>
          </a:p>
          <a:p>
            <a:pPr algn="l"/>
            <a:r>
              <a:rPr sz="900">
                <a:solidFill>
                  <a:srgbClr val="8A94A6"/>
                </a:solidFill>
                <a:latin typeface="Helvetica Neue"/>
              </a:rPr>
              <a:t>release readiness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614415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one image · five tags</a:t>
            </a:r>
          </a:p>
          <a:p>
            <a:pPr algn="l">
              <a:lnSpc>
                <a:spcPct val="120000"/>
              </a:lnSpc>
            </a:pPr>
            <a:r>
              <a:rPr sz="1000" b="0">
                <a:solidFill>
                  <a:srgbClr val="8A94A6"/>
                </a:solidFill>
                <a:latin typeface="Helvetica Neue"/>
              </a:rPr>
              <a:t>differing only by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2487167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50792" y="2871215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webhook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9392" y="3163823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50792" y="354787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dispatch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0688" y="3163823"/>
            <a:ext cx="6035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3547871"/>
            <a:ext cx="603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8A94A6"/>
                </a:solidFill>
                <a:latin typeface="Menlo"/>
              </a:rPr>
              <a:t>invoke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61996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D1C5"/>
                </a:solidFill>
                <a:latin typeface="Helvetica Neue"/>
              </a:rPr>
              <a:t>No laptop anywhere in that path   ·   no long-lived cloud credentials   ·   the three gates are GitHub's, not ours to bypass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Cloud-native, start to finish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286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A ticket is opened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228600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 GitHub issue — the only trigger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99923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Signed and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299923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authenticated before anything runs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12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1246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Routed to the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7124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an event bus, with a dead-letter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42569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425696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Five agents, five runtimes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4425696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each isolated, all from one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3892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4FD1C5"/>
                </a:solidFill>
                <a:latin typeface="Helvetica Ne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138928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E8EDF4"/>
                </a:solidFill>
                <a:latin typeface="Helvetica Neue"/>
              </a:rPr>
              <a:t>Three approval gates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5138928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the run pauses until a human 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9893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4FD1C5"/>
                </a:solidFill>
                <a:latin typeface="Helvetica Neue"/>
              </a:rPr>
              <a:t>20 infrastructure resources, all defined as code   ·   no long-lived cloud credentials anywhere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humans are not a formality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Each gate is a platform-level approval, not a step the pipeline can skip.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284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Until someone clicks, the next stage does not exist — it is never queued.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0965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Refusing is recorded on the ticket: who refused, and when.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9784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4FD1C5"/>
                </a:solidFill>
                <a:latin typeface="Helvetica Neue"/>
              </a:rPr>
              <a:t>When the safety check stops a change, the stages after it are never created. There is no branch to take and no flag to flip — the refusal is structural.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Working today,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The full pipeline runs in the cloud on every ticket.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62656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Three real scanners run inside the agents' own environment.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39312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Both outcomes verified this week against the live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315967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E8EDF4"/>
                </a:solidFill>
                <a:latin typeface="Helvetica Neue"/>
              </a:rPr>
              <a:t>Every run leaves a readable record on the ticket it came from.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1853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0906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automated tests passing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across 73 files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3108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~5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919472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from ticket opened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to change merged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From a pipeline to a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The pre-final demo was one pipeline on one repository.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Runs queue, and a pause survives a restart.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47288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Many customers on one deployment, with a suite that tries to breach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05656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One severity table for three scanners, plus an audit row per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764024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Every run reports what it cost, at the published 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422392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The same pipeline runs on your own hardware.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78892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GitHub is one adapter, not the foundation.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447288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machine API to submit, watch and cancel — it cannot open a gate.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105656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Tests written from the ticket, never from the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764024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Agents read past decisions; that text cannot reach the verdict.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22392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A web app: watch a run live, approve or refuse.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6199632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4FD1C5"/>
                </a:solidFill>
                <a:latin typeface="Helvetica Neue"/>
              </a:rPr>
              <a:t>20,475 lines of pipeline and 8,769 of application, under 1853 tests and 166 more for the web.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The same request, twice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8A94A6"/>
                </a:solidFill>
                <a:latin typeface="Helvetica Neue"/>
              </a:rPr>
              <a:t>One ticket is clean. One carries a hardcoded credential. Nothing else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17520"/>
            <a:ext cx="4572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4ADE80"/>
                </a:solidFill>
                <a:latin typeface="Helvetica Neue"/>
              </a:rPr>
              <a:t>SHIPPED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657600"/>
            <a:ext cx="45720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Planned, written, reviewed, scanned,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approved three times, merged.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The ticket closed itself.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17520"/>
            <a:ext cx="4480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FF6B6B"/>
                </a:solidFill>
                <a:latin typeface="Helvetica Neue"/>
              </a:rPr>
              <a:t>REFUSED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Two credentials found in the change.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Stopped before anyone could approve it,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E8EDF4"/>
                </a:solidFill>
                <a:latin typeface="Helvetica Neue"/>
              </a:rPr>
              <a:t>and the ticket says why.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064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About 3 minutes to refuse. Nothing merged, and the reason is on the ticket in plain English.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000" b="1">
                <a:solidFill>
                  <a:srgbClr val="E8EDF4"/>
                </a:solidFill>
                <a:latin typeface="Helvetica Neue"/>
              </a:rPr>
              <a:t>What this is worth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Review capacity stops being the limit on how fast a team can ship.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1071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The checks that matter run on every change, not when someone remembers.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153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A refusal is auditable: what was found, who approved, and when.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02005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>
                <a:solidFill>
                  <a:srgbClr val="E8EDF4"/>
                </a:solidFill>
                <a:latin typeface="Helvetica Neue"/>
              </a:rPr>
              <a:t>It bolts onto the tools a team already uses — issues, branches, approvals.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it costs to check everything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8A94A6"/>
                </a:solidFill>
                <a:latin typeface="Helvetica Neue"/>
              </a:rPr>
              <a:t>Measured over three runs of one ticket, priced from the published rate card on the day it was read.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4ADE80"/>
                </a:solidFill>
                <a:latin typeface="Helvetica Neue"/>
              </a:rPr>
              <a:t>1.3–1.7¢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per change, on the cloud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every check, every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0.1%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of that is infrastructure.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The rest is the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926080"/>
            <a:ext cx="3200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E8EDF4"/>
                </a:solidFill>
                <a:latin typeface="Helvetica Neue"/>
              </a:rPr>
              <a:t>zero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30752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on your own hardware —</a:t>
            </a:r>
          </a:p>
          <a:p>
            <a:pPr algn="l">
              <a:lnSpc>
                <a:spcPct val="125000"/>
              </a:lnSpc>
            </a:pPr>
            <a:r>
              <a:rPr sz="1500" b="0">
                <a:solidFill>
                  <a:srgbClr val="8A94A6"/>
                </a:solidFill>
                <a:latin typeface="Helvetica Neue"/>
              </a:rPr>
              <a:t>slower, same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029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4FD1C5"/>
                </a:solidFill>
                <a:latin typeface="Helvetica Neue"/>
              </a:rPr>
              <a:t>We do not put a figure on the third comparison — a developer's hour. That number is not ours to invent, and it would be the one everybody remembered.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0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What does not work yet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Sign-in has never completed — the tenant lookup is circular under our own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 run does not yet record its own cost, though the meter works.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8561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queue that would replace our CI is tested and not yet switched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44398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The browser tests are written and no browser has run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10235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Any of our three approvals can be bypassed by a repository administrator.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6235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E8EDF4"/>
                </a:solidFill>
                <a:latin typeface="Helvetica Neue"/>
              </a:rPr>
              <a:t>Sixteen limitations are written down, each with what removing it would take. Two were closed by another engineer within hours of being recorded — which is what writing them down is for.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6583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FD1C5"/>
                </a:solidFill>
                <a:latin typeface="Helvetica Neue"/>
              </a:rPr>
              <a:t>WHAT IS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E8EDF4"/>
                </a:solidFill>
                <a:latin typeface="Helvetica Neue"/>
              </a:rPr>
              <a:t>Roadmap to the final phase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FINISH SWITCHING ON — the queue in production, and cost recorded on every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364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CACHE THE CONTEXT — the agents re-read the same code five times and pay for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352544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WIDEN THE CHECKS — dependency and licence scanning, per-project thresholds.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340096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E8EDF4"/>
                </a:solidFill>
                <a:latin typeface="Helvetica Neue"/>
              </a:rPr>
              <a:t>PROVE IT AT VOLUME — ten times the sample behind every number in this deck.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4FD1C5"/>
                </a:solidFill>
                <a:latin typeface="Helvetica Neue"/>
              </a:rPr>
              <a:t>Every item is a gap we have already written down and costed. We would rather show you a known limitation than discover one on stage.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  <p:transition spd="med">
    <p:wipe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48840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E8EDF4"/>
                </a:solidFill>
                <a:latin typeface="Helvetica Neue"/>
              </a:rPr>
              <a:t>Let us show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200400"/>
            <a:ext cx="182880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566160"/>
            <a:ext cx="9509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Two tickets. The same feature request.</a:t>
            </a:r>
          </a:p>
          <a:p>
            <a:pPr algn="l">
              <a:lnSpc>
                <a:spcPct val="120000"/>
              </a:lnSpc>
            </a:pPr>
            <a:r>
              <a:rPr sz="2600" b="0">
                <a:solidFill>
                  <a:srgbClr val="8A94A6"/>
                </a:solidFill>
                <a:latin typeface="Helvetica Neue"/>
              </a:rPr>
              <a:t>One ships itself. One is refused.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078992"/>
            <a:ext cx="10149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6000"/>
              </a:lnSpc>
            </a:pPr>
            <a:r>
              <a:rPr sz="4400" b="1">
                <a:solidFill>
                  <a:srgbClr val="E8EDF4"/>
                </a:solidFill>
                <a:latin typeface="Helvetica Neue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20239"/>
            <a:ext cx="1463040" cy="38100"/>
          </a:xfrm>
          <a:prstGeom prst="rect">
            <a:avLst/>
          </a:prstGeom>
          <a:solidFill>
            <a:srgbClr val="4FD1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Agents did the work.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Humans stayed in control of what shipped.</a:t>
            </a:r>
          </a:p>
          <a:p>
            <a:pPr algn="l">
              <a:lnSpc>
                <a:spcPct val="155000"/>
              </a:lnSpc>
            </a:pPr>
            <a:r>
              <a:rPr sz="2700" b="0">
                <a:solidFill>
                  <a:srgbClr val="E8EDF4"/>
                </a:solidFill>
                <a:latin typeface="Helvetica Neue"/>
              </a:rPr>
              <a:t>And the change that should not have shipped, did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A94A6"/>
                </a:solidFill>
                <a:latin typeface="Helvetica Neue"/>
              </a:rPr>
              <a:t>RosettaTeam   ·   questions welcome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272784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8A94A6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